
<file path=[Content_Types].xml><?xml version="1.0" encoding="utf-8"?>
<Types xmlns="http://schemas.openxmlformats.org/package/2006/content-types">
  <Default ContentType="application/vnd.openxmlformats-officedocument.oleObject" Extension="bin"/>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Lst>
  <p:sldSz cx="18288000" cy="10287000"/>
  <p:notesSz cx="6858000" cy="9144000"/>
  <p:embeddedFontLst>
    <p:embeddedFont>
      <p:font typeface="Hagrid Ultra-Bold" charset="1" panose="00000800000000000000"/>
      <p:regular r:id="rId21"/>
    </p:embeddedFont>
    <p:embeddedFont>
      <p:font typeface="Hagrid" charset="1" panose="00000500000000000000"/>
      <p:regular r:id="rId22"/>
    </p:embeddedFont>
    <p:embeddedFont>
      <p:font typeface="Gotham" charset="1" panose="00000000000000000000"/>
      <p:regular r:id="rId23"/>
    </p:embeddedFont>
    <p:embeddedFont>
      <p:font typeface="Gotham Bold" charset="1" panose="00000000000000000000"/>
      <p:regular r:id="rId24"/>
    </p:embeddedFont>
    <p:embeddedFont>
      <p:font typeface="Gotham Italics" charset="1" panose="00000000000000000000"/>
      <p:regular r:id="rId2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fonts/font21.fntdata" Type="http://schemas.openxmlformats.org/officeDocument/2006/relationships/font"/><Relationship Id="rId22" Target="fonts/font22.fntdata" Type="http://schemas.openxmlformats.org/officeDocument/2006/relationships/font"/><Relationship Id="rId23" Target="fonts/font23.fntdata" Type="http://schemas.openxmlformats.org/officeDocument/2006/relationships/font"/><Relationship Id="rId24" Target="fonts/font24.fntdata" Type="http://schemas.openxmlformats.org/officeDocument/2006/relationships/font"/><Relationship Id="rId25" Target="fonts/font25.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jpe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png" Type="http://schemas.openxmlformats.org/officeDocument/2006/relationships/image"/><Relationship Id="rId3" Target="../media/image6.svg" Type="http://schemas.openxmlformats.org/officeDocument/2006/relationships/image"/><Relationship Id="rId4" Target="../media/image3.pn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png" Type="http://schemas.openxmlformats.org/officeDocument/2006/relationships/image"/><Relationship Id="rId3" Target="../media/image6.svg" Type="http://schemas.openxmlformats.org/officeDocument/2006/relationships/image"/><Relationship Id="rId4" Target="../media/image3.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png" Type="http://schemas.openxmlformats.org/officeDocument/2006/relationships/image"/><Relationship Id="rId3" Target="../media/image6.svg" Type="http://schemas.openxmlformats.org/officeDocument/2006/relationships/image"/><Relationship Id="rId4" Target="../media/image3.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png" Type="http://schemas.openxmlformats.org/officeDocument/2006/relationships/image"/><Relationship Id="rId3" Target="../media/image6.svg" Type="http://schemas.openxmlformats.org/officeDocument/2006/relationships/image"/><Relationship Id="rId4" Target="../media/image3.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png" Type="http://schemas.openxmlformats.org/officeDocument/2006/relationships/image"/><Relationship Id="rId3" Target="../media/image6.svg" Type="http://schemas.openxmlformats.org/officeDocument/2006/relationships/image"/><Relationship Id="rId4" Target="../media/image3.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png" Type="http://schemas.openxmlformats.org/officeDocument/2006/relationships/image"/><Relationship Id="rId3" Target="../media/image6.svg" Type="http://schemas.openxmlformats.org/officeDocument/2006/relationships/image"/><Relationship Id="rId4" Target="../media/image3.png" Type="http://schemas.openxmlformats.org/officeDocument/2006/relationships/image"/><Relationship Id="rId5" Target="../media/image7.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png" Type="http://schemas.openxmlformats.org/officeDocument/2006/relationships/image"/><Relationship Id="rId3" Target="../media/image6.svg" Type="http://schemas.openxmlformats.org/officeDocument/2006/relationships/image"/><Relationship Id="rId4" Target="../media/image3.png" Type="http://schemas.openxmlformats.org/officeDocument/2006/relationships/image"/><Relationship Id="rId5" Target="../media/image8.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png" Type="http://schemas.openxmlformats.org/officeDocument/2006/relationships/image"/><Relationship Id="rId3" Target="../media/image6.svg" Type="http://schemas.openxmlformats.org/officeDocument/2006/relationships/image"/><Relationship Id="rId4" Target="../media/image3.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png" Type="http://schemas.openxmlformats.org/officeDocument/2006/relationships/image"/><Relationship Id="rId3" Target="../media/image6.svg" Type="http://schemas.openxmlformats.org/officeDocument/2006/relationships/image"/><Relationship Id="rId4" Target="../media/image3.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png" Type="http://schemas.openxmlformats.org/officeDocument/2006/relationships/image"/><Relationship Id="rId3" Target="../media/image6.svg" Type="http://schemas.openxmlformats.org/officeDocument/2006/relationships/image"/><Relationship Id="rId4" Target="../media/image3.png" Type="http://schemas.openxmlformats.org/officeDocument/2006/relationships/image"/><Relationship Id="rId5" Target="../media/image9.png" Type="http://schemas.openxmlformats.org/officeDocument/2006/relationships/image"/><Relationship Id="rId6" Target="../embeddings/oleObject1.bin" Type="http://schemas.openxmlformats.org/officeDocument/2006/relationships/oleObject"/></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10.png" Type="http://schemas.openxmlformats.org/officeDocument/2006/relationships/image"/><Relationship Id="rId4" Target="../embeddings/oleObject2.bin" Type="http://schemas.openxmlformats.org/officeDocument/2006/relationships/oleObject"/><Relationship Id="rId5" Target="../media/image11.png" Type="http://schemas.openxmlformats.org/officeDocument/2006/relationships/image"/><Relationship Id="rId6" Target="../media/image12.pn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png" Type="http://schemas.openxmlformats.org/officeDocument/2006/relationships/image"/><Relationship Id="rId3" Target="../media/image6.svg" Type="http://schemas.openxmlformats.org/officeDocument/2006/relationships/image"/><Relationship Id="rId4" Target="../media/image3.png" Type="http://schemas.openxmlformats.org/officeDocument/2006/relationships/image"/><Relationship Id="rId5" Target="../media/image13.png" Type="http://schemas.openxmlformats.org/officeDocument/2006/relationships/image"/><Relationship Id="rId6" Target="../media/image14.png" Type="http://schemas.openxmlformats.org/officeDocument/2006/relationships/image"/><Relationship Id="rId7" Target="../media/image15.png" Type="http://schemas.openxmlformats.org/officeDocument/2006/relationships/image"/><Relationship Id="rId8" Target="../media/image16.pn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png" Type="http://schemas.openxmlformats.org/officeDocument/2006/relationships/image"/><Relationship Id="rId3" Target="../media/image6.svg" Type="http://schemas.openxmlformats.org/officeDocument/2006/relationships/image"/><Relationship Id="rId4" Target="../media/image3.pn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7.png" Type="http://schemas.openxmlformats.org/officeDocument/2006/relationships/image"/><Relationship Id="rId3" Target="../media/image18.svg" Type="http://schemas.openxmlformats.org/officeDocument/2006/relationships/image"/><Relationship Id="rId4" Target="../media/image3.pn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D0A175"/>
        </a:solidFill>
      </p:bgPr>
    </p:bg>
    <p:spTree>
      <p:nvGrpSpPr>
        <p:cNvPr id="1" name=""/>
        <p:cNvGrpSpPr/>
        <p:nvPr/>
      </p:nvGrpSpPr>
      <p:grpSpPr>
        <a:xfrm>
          <a:off x="0" y="0"/>
          <a:ext cx="0" cy="0"/>
          <a:chOff x="0" y="0"/>
          <a:chExt cx="0" cy="0"/>
        </a:xfrm>
      </p:grpSpPr>
      <p:sp>
        <p:nvSpPr>
          <p:cNvPr name="TextBox 2" id="2"/>
          <p:cNvSpPr txBox="true"/>
          <p:nvPr/>
        </p:nvSpPr>
        <p:spPr>
          <a:xfrm rot="0">
            <a:off x="1159367" y="2068792"/>
            <a:ext cx="15969266" cy="3716408"/>
          </a:xfrm>
          <a:prstGeom prst="rect">
            <a:avLst/>
          </a:prstGeom>
        </p:spPr>
        <p:txBody>
          <a:bodyPr anchor="t" rtlCol="false" tIns="0" lIns="0" bIns="0" rIns="0">
            <a:spAutoFit/>
          </a:bodyPr>
          <a:lstStyle/>
          <a:p>
            <a:pPr algn="ctr" marL="0" indent="0" lvl="1">
              <a:lnSpc>
                <a:spcPts val="7153"/>
              </a:lnSpc>
            </a:pPr>
            <a:r>
              <a:rPr lang="en-US" b="true" sz="5109" spc="-102">
                <a:solidFill>
                  <a:srgbClr val="000000"/>
                </a:solidFill>
                <a:latin typeface="Hagrid Ultra-Bold"/>
                <a:ea typeface="Hagrid Ultra-Bold"/>
                <a:cs typeface="Hagrid Ultra-Bold"/>
                <a:sym typeface="Hagrid Ultra-Bold"/>
              </a:rPr>
              <a:t>RANCANG BANGUN APLIKASI POINT OF SALE DENGAN FITUR PREDIKSI PENJUALAN HARIAN MENGGUNAKAN METODE LONG SHORT-TERM MEMORY (LSTM)</a:t>
            </a:r>
          </a:p>
        </p:txBody>
      </p:sp>
      <p:sp>
        <p:nvSpPr>
          <p:cNvPr name="TextBox 3" id="3"/>
          <p:cNvSpPr txBox="true"/>
          <p:nvPr/>
        </p:nvSpPr>
        <p:spPr>
          <a:xfrm rot="0">
            <a:off x="6661731" y="5936120"/>
            <a:ext cx="4964539" cy="504986"/>
          </a:xfrm>
          <a:prstGeom prst="rect">
            <a:avLst/>
          </a:prstGeom>
        </p:spPr>
        <p:txBody>
          <a:bodyPr anchor="t" rtlCol="false" tIns="0" lIns="0" bIns="0" rIns="0">
            <a:spAutoFit/>
          </a:bodyPr>
          <a:lstStyle/>
          <a:p>
            <a:pPr algn="ctr" marL="0" indent="0" lvl="1">
              <a:lnSpc>
                <a:spcPts val="4191"/>
              </a:lnSpc>
            </a:pPr>
            <a:r>
              <a:rPr lang="en-US" sz="2993" spc="-59">
                <a:solidFill>
                  <a:srgbClr val="000000"/>
                </a:solidFill>
                <a:latin typeface="Hagrid"/>
                <a:ea typeface="Hagrid"/>
                <a:cs typeface="Hagrid"/>
                <a:sym typeface="Hagrid"/>
              </a:rPr>
              <a:t>MUHAMMAD KHOLIS</a:t>
            </a:r>
          </a:p>
        </p:txBody>
      </p:sp>
      <p:sp>
        <p:nvSpPr>
          <p:cNvPr name="TextBox 4" id="4"/>
          <p:cNvSpPr txBox="true"/>
          <p:nvPr/>
        </p:nvSpPr>
        <p:spPr>
          <a:xfrm rot="0">
            <a:off x="6661731" y="6479066"/>
            <a:ext cx="4964539" cy="504986"/>
          </a:xfrm>
          <a:prstGeom prst="rect">
            <a:avLst/>
          </a:prstGeom>
        </p:spPr>
        <p:txBody>
          <a:bodyPr anchor="t" rtlCol="false" tIns="0" lIns="0" bIns="0" rIns="0">
            <a:spAutoFit/>
          </a:bodyPr>
          <a:lstStyle/>
          <a:p>
            <a:pPr algn="ctr" marL="0" indent="0" lvl="1">
              <a:lnSpc>
                <a:spcPts val="4191"/>
              </a:lnSpc>
            </a:pPr>
            <a:r>
              <a:rPr lang="en-US" sz="2993" spc="-59">
                <a:solidFill>
                  <a:srgbClr val="000000"/>
                </a:solidFill>
                <a:latin typeface="Hagrid"/>
                <a:ea typeface="Hagrid"/>
                <a:cs typeface="Hagrid"/>
                <a:sym typeface="Hagrid"/>
              </a:rPr>
              <a:t>2022573010098</a:t>
            </a:r>
          </a:p>
        </p:txBody>
      </p:sp>
      <p:sp>
        <p:nvSpPr>
          <p:cNvPr name="TextBox 5" id="5"/>
          <p:cNvSpPr txBox="true"/>
          <p:nvPr/>
        </p:nvSpPr>
        <p:spPr>
          <a:xfrm rot="0">
            <a:off x="5577495" y="1599149"/>
            <a:ext cx="7133009" cy="366349"/>
          </a:xfrm>
          <a:prstGeom prst="rect">
            <a:avLst/>
          </a:prstGeom>
        </p:spPr>
        <p:txBody>
          <a:bodyPr anchor="t" rtlCol="false" tIns="0" lIns="0" bIns="0" rIns="0">
            <a:spAutoFit/>
          </a:bodyPr>
          <a:lstStyle/>
          <a:p>
            <a:pPr algn="ctr" marL="0" indent="0" lvl="1">
              <a:lnSpc>
                <a:spcPts val="2752"/>
              </a:lnSpc>
            </a:pPr>
            <a:r>
              <a:rPr lang="en-US" sz="2752" spc="-55">
                <a:solidFill>
                  <a:srgbClr val="000000"/>
                </a:solidFill>
                <a:latin typeface="Hagrid"/>
                <a:ea typeface="Hagrid"/>
                <a:cs typeface="Hagrid"/>
                <a:sym typeface="Hagrid"/>
              </a:rPr>
              <a:t>SIDANG SKRIPSI</a:t>
            </a:r>
          </a:p>
        </p:txBody>
      </p:sp>
      <p:sp>
        <p:nvSpPr>
          <p:cNvPr name="AutoShape 6" id="6"/>
          <p:cNvSpPr/>
          <p:nvPr/>
        </p:nvSpPr>
        <p:spPr>
          <a:xfrm flipV="true">
            <a:off x="1028700" y="1227674"/>
            <a:ext cx="15969266" cy="0"/>
          </a:xfrm>
          <a:prstGeom prst="line">
            <a:avLst/>
          </a:prstGeom>
          <a:ln cap="flat" w="19050">
            <a:solidFill>
              <a:srgbClr val="EEF1F1"/>
            </a:solidFill>
            <a:prstDash val="solid"/>
            <a:headEnd type="none" len="sm" w="sm"/>
            <a:tailEnd type="none" len="sm" w="sm"/>
          </a:ln>
        </p:spPr>
      </p:sp>
      <p:sp>
        <p:nvSpPr>
          <p:cNvPr name="AutoShape 7" id="7"/>
          <p:cNvSpPr/>
          <p:nvPr/>
        </p:nvSpPr>
        <p:spPr>
          <a:xfrm flipV="true">
            <a:off x="1028700" y="272125"/>
            <a:ext cx="15969266" cy="0"/>
          </a:xfrm>
          <a:prstGeom prst="line">
            <a:avLst/>
          </a:prstGeom>
          <a:ln cap="flat" w="19050">
            <a:solidFill>
              <a:srgbClr val="EEF1F1"/>
            </a:solidFill>
            <a:prstDash val="solid"/>
            <a:headEnd type="none" len="sm" w="sm"/>
            <a:tailEnd type="none" len="sm" w="sm"/>
          </a:ln>
        </p:spPr>
      </p:sp>
      <p:sp>
        <p:nvSpPr>
          <p:cNvPr name="AutoShape 8" id="8"/>
          <p:cNvSpPr/>
          <p:nvPr/>
        </p:nvSpPr>
        <p:spPr>
          <a:xfrm>
            <a:off x="1028700" y="7135711"/>
            <a:ext cx="16230600" cy="0"/>
          </a:xfrm>
          <a:prstGeom prst="line">
            <a:avLst/>
          </a:prstGeom>
          <a:ln cap="flat" w="19050">
            <a:solidFill>
              <a:srgbClr val="EEF1F1"/>
            </a:solidFill>
            <a:prstDash val="solid"/>
            <a:headEnd type="none" len="sm" w="sm"/>
            <a:tailEnd type="none" len="sm" w="sm"/>
          </a:ln>
        </p:spPr>
      </p:sp>
      <p:sp>
        <p:nvSpPr>
          <p:cNvPr name="Freeform 9" id="9"/>
          <p:cNvSpPr/>
          <p:nvPr/>
        </p:nvSpPr>
        <p:spPr>
          <a:xfrm flipH="false" flipV="false" rot="0">
            <a:off x="17259300" y="364124"/>
            <a:ext cx="771552" cy="771552"/>
          </a:xfrm>
          <a:custGeom>
            <a:avLst/>
            <a:gdLst/>
            <a:ahLst/>
            <a:cxnLst/>
            <a:rect r="r" b="b" t="t" l="l"/>
            <a:pathLst>
              <a:path h="771552" w="771552">
                <a:moveTo>
                  <a:pt x="0" y="0"/>
                </a:moveTo>
                <a:lnTo>
                  <a:pt x="771552" y="0"/>
                </a:lnTo>
                <a:lnTo>
                  <a:pt x="771552" y="771551"/>
                </a:lnTo>
                <a:lnTo>
                  <a:pt x="0" y="77155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a:ln cap="sq">
            <a:noFill/>
            <a:prstDash val="solid"/>
            <a:miter/>
          </a:ln>
        </p:spPr>
      </p:sp>
      <p:sp>
        <p:nvSpPr>
          <p:cNvPr name="Freeform 10" id="10"/>
          <p:cNvSpPr/>
          <p:nvPr/>
        </p:nvSpPr>
        <p:spPr>
          <a:xfrm flipH="false" flipV="false" rot="0">
            <a:off x="1028700" y="331292"/>
            <a:ext cx="863108" cy="837215"/>
          </a:xfrm>
          <a:custGeom>
            <a:avLst/>
            <a:gdLst/>
            <a:ahLst/>
            <a:cxnLst/>
            <a:rect r="r" b="b" t="t" l="l"/>
            <a:pathLst>
              <a:path h="837215" w="863108">
                <a:moveTo>
                  <a:pt x="0" y="0"/>
                </a:moveTo>
                <a:lnTo>
                  <a:pt x="863108" y="0"/>
                </a:lnTo>
                <a:lnTo>
                  <a:pt x="863108" y="837215"/>
                </a:lnTo>
                <a:lnTo>
                  <a:pt x="0" y="837215"/>
                </a:lnTo>
                <a:lnTo>
                  <a:pt x="0" y="0"/>
                </a:lnTo>
                <a:close/>
              </a:path>
            </a:pathLst>
          </a:custGeom>
          <a:blipFill>
            <a:blip r:embed="rId4"/>
            <a:stretch>
              <a:fillRect l="0" t="0" r="0" b="0"/>
            </a:stretch>
          </a:blipFill>
        </p:spPr>
      </p:sp>
      <p:sp>
        <p:nvSpPr>
          <p:cNvPr name="Freeform 11" id="11"/>
          <p:cNvSpPr/>
          <p:nvPr/>
        </p:nvSpPr>
        <p:spPr>
          <a:xfrm flipH="false" flipV="false" rot="0">
            <a:off x="2016259" y="331292"/>
            <a:ext cx="837215" cy="837215"/>
          </a:xfrm>
          <a:custGeom>
            <a:avLst/>
            <a:gdLst/>
            <a:ahLst/>
            <a:cxnLst/>
            <a:rect r="r" b="b" t="t" l="l"/>
            <a:pathLst>
              <a:path h="837215" w="837215">
                <a:moveTo>
                  <a:pt x="0" y="0"/>
                </a:moveTo>
                <a:lnTo>
                  <a:pt x="837215" y="0"/>
                </a:lnTo>
                <a:lnTo>
                  <a:pt x="837215" y="837215"/>
                </a:lnTo>
                <a:lnTo>
                  <a:pt x="0" y="837215"/>
                </a:lnTo>
                <a:lnTo>
                  <a:pt x="0" y="0"/>
                </a:lnTo>
                <a:close/>
              </a:path>
            </a:pathLst>
          </a:custGeom>
          <a:blipFill>
            <a:blip r:embed="rId5"/>
            <a:stretch>
              <a:fillRect l="0" t="0" r="0" b="0"/>
            </a:stretch>
          </a:blipFill>
        </p:spPr>
      </p:sp>
      <p:sp>
        <p:nvSpPr>
          <p:cNvPr name="TextBox 12" id="12"/>
          <p:cNvSpPr txBox="true"/>
          <p:nvPr/>
        </p:nvSpPr>
        <p:spPr>
          <a:xfrm rot="0">
            <a:off x="3299238" y="582463"/>
            <a:ext cx="6296341" cy="325349"/>
          </a:xfrm>
          <a:prstGeom prst="rect">
            <a:avLst/>
          </a:prstGeom>
        </p:spPr>
        <p:txBody>
          <a:bodyPr anchor="t" rtlCol="false" tIns="0" lIns="0" bIns="0" rIns="0">
            <a:spAutoFit/>
          </a:bodyPr>
          <a:lstStyle/>
          <a:p>
            <a:pPr algn="l" marL="0" indent="0" lvl="0">
              <a:lnSpc>
                <a:spcPts val="2487"/>
              </a:lnSpc>
            </a:pPr>
            <a:r>
              <a:rPr lang="en-US" sz="2072">
                <a:solidFill>
                  <a:srgbClr val="000000"/>
                </a:solidFill>
                <a:latin typeface="Gotham"/>
                <a:ea typeface="Gotham"/>
                <a:cs typeface="Gotham"/>
                <a:sym typeface="Gotham"/>
              </a:rPr>
              <a:t>POLITEKNIK NEGERI LHOKSEUMAWE</a:t>
            </a:r>
          </a:p>
        </p:txBody>
      </p:sp>
      <p:sp>
        <p:nvSpPr>
          <p:cNvPr name="TextBox 13" id="13"/>
          <p:cNvSpPr txBox="true"/>
          <p:nvPr/>
        </p:nvSpPr>
        <p:spPr>
          <a:xfrm rot="0">
            <a:off x="1028700" y="7286112"/>
            <a:ext cx="3126669" cy="361950"/>
          </a:xfrm>
          <a:prstGeom prst="rect">
            <a:avLst/>
          </a:prstGeom>
        </p:spPr>
        <p:txBody>
          <a:bodyPr anchor="t" rtlCol="false" tIns="0" lIns="0" bIns="0" rIns="0">
            <a:spAutoFit/>
          </a:bodyPr>
          <a:lstStyle/>
          <a:p>
            <a:pPr algn="l" marL="0" indent="0" lvl="0">
              <a:lnSpc>
                <a:spcPts val="2879"/>
              </a:lnSpc>
              <a:spcBef>
                <a:spcPct val="0"/>
              </a:spcBef>
            </a:pPr>
            <a:r>
              <a:rPr lang="en-US" sz="2399">
                <a:solidFill>
                  <a:srgbClr val="000000"/>
                </a:solidFill>
                <a:latin typeface="Gotham"/>
                <a:ea typeface="Gotham"/>
                <a:cs typeface="Gotham"/>
                <a:sym typeface="Gotham"/>
              </a:rPr>
              <a:t>PEMBIMBING 1</a:t>
            </a:r>
          </a:p>
        </p:txBody>
      </p:sp>
      <p:sp>
        <p:nvSpPr>
          <p:cNvPr name="TextBox 14" id="14"/>
          <p:cNvSpPr txBox="true"/>
          <p:nvPr/>
        </p:nvSpPr>
        <p:spPr>
          <a:xfrm rot="0">
            <a:off x="1028700" y="8729150"/>
            <a:ext cx="3126669" cy="361950"/>
          </a:xfrm>
          <a:prstGeom prst="rect">
            <a:avLst/>
          </a:prstGeom>
        </p:spPr>
        <p:txBody>
          <a:bodyPr anchor="t" rtlCol="false" tIns="0" lIns="0" bIns="0" rIns="0">
            <a:spAutoFit/>
          </a:bodyPr>
          <a:lstStyle/>
          <a:p>
            <a:pPr algn="l" marL="0" indent="0" lvl="0">
              <a:lnSpc>
                <a:spcPts val="2879"/>
              </a:lnSpc>
              <a:spcBef>
                <a:spcPct val="0"/>
              </a:spcBef>
            </a:pPr>
            <a:r>
              <a:rPr lang="en-US" sz="2399">
                <a:solidFill>
                  <a:srgbClr val="000000"/>
                </a:solidFill>
                <a:latin typeface="Gotham"/>
                <a:ea typeface="Gotham"/>
                <a:cs typeface="Gotham"/>
                <a:sym typeface="Gotham"/>
              </a:rPr>
              <a:t>PENGUJI 1</a:t>
            </a:r>
          </a:p>
        </p:txBody>
      </p:sp>
      <p:sp>
        <p:nvSpPr>
          <p:cNvPr name="TextBox 15" id="15"/>
          <p:cNvSpPr txBox="true"/>
          <p:nvPr/>
        </p:nvSpPr>
        <p:spPr>
          <a:xfrm rot="0">
            <a:off x="14132631" y="7286112"/>
            <a:ext cx="3126669" cy="361950"/>
          </a:xfrm>
          <a:prstGeom prst="rect">
            <a:avLst/>
          </a:prstGeom>
        </p:spPr>
        <p:txBody>
          <a:bodyPr anchor="t" rtlCol="false" tIns="0" lIns="0" bIns="0" rIns="0">
            <a:spAutoFit/>
          </a:bodyPr>
          <a:lstStyle/>
          <a:p>
            <a:pPr algn="r" marL="0" indent="0" lvl="0">
              <a:lnSpc>
                <a:spcPts val="2879"/>
              </a:lnSpc>
              <a:spcBef>
                <a:spcPct val="0"/>
              </a:spcBef>
            </a:pPr>
            <a:r>
              <a:rPr lang="en-US" sz="2399">
                <a:solidFill>
                  <a:srgbClr val="000000"/>
                </a:solidFill>
                <a:latin typeface="Gotham"/>
                <a:ea typeface="Gotham"/>
                <a:cs typeface="Gotham"/>
                <a:sym typeface="Gotham"/>
              </a:rPr>
              <a:t>PEMBIMBING 2</a:t>
            </a:r>
          </a:p>
        </p:txBody>
      </p:sp>
      <p:sp>
        <p:nvSpPr>
          <p:cNvPr name="TextBox 16" id="16"/>
          <p:cNvSpPr txBox="true"/>
          <p:nvPr/>
        </p:nvSpPr>
        <p:spPr>
          <a:xfrm rot="0">
            <a:off x="8289461" y="8714862"/>
            <a:ext cx="1709078" cy="361950"/>
          </a:xfrm>
          <a:prstGeom prst="rect">
            <a:avLst/>
          </a:prstGeom>
        </p:spPr>
        <p:txBody>
          <a:bodyPr anchor="t" rtlCol="false" tIns="0" lIns="0" bIns="0" rIns="0">
            <a:spAutoFit/>
          </a:bodyPr>
          <a:lstStyle/>
          <a:p>
            <a:pPr algn="l" marL="0" indent="0" lvl="0">
              <a:lnSpc>
                <a:spcPts val="2879"/>
              </a:lnSpc>
              <a:spcBef>
                <a:spcPct val="0"/>
              </a:spcBef>
            </a:pPr>
            <a:r>
              <a:rPr lang="en-US" sz="2399">
                <a:solidFill>
                  <a:srgbClr val="000000"/>
                </a:solidFill>
                <a:latin typeface="Gotham"/>
                <a:ea typeface="Gotham"/>
                <a:cs typeface="Gotham"/>
                <a:sym typeface="Gotham"/>
              </a:rPr>
              <a:t>PENGUJI 2</a:t>
            </a:r>
          </a:p>
        </p:txBody>
      </p:sp>
      <p:sp>
        <p:nvSpPr>
          <p:cNvPr name="TextBox 17" id="17"/>
          <p:cNvSpPr txBox="true"/>
          <p:nvPr/>
        </p:nvSpPr>
        <p:spPr>
          <a:xfrm rot="0">
            <a:off x="1028700" y="7667112"/>
            <a:ext cx="7093398" cy="405765"/>
          </a:xfrm>
          <a:prstGeom prst="rect">
            <a:avLst/>
          </a:prstGeom>
        </p:spPr>
        <p:txBody>
          <a:bodyPr anchor="t" rtlCol="false" tIns="0" lIns="0" bIns="0" rIns="0">
            <a:spAutoFit/>
          </a:bodyPr>
          <a:lstStyle/>
          <a:p>
            <a:pPr algn="just">
              <a:lnSpc>
                <a:spcPts val="3360"/>
              </a:lnSpc>
            </a:pPr>
            <a:r>
              <a:rPr lang="en-US" b="true" sz="2400">
                <a:solidFill>
                  <a:srgbClr val="000000"/>
                </a:solidFill>
                <a:latin typeface="Gotham Bold"/>
                <a:ea typeface="Gotham Bold"/>
                <a:cs typeface="Gotham Bold"/>
                <a:sym typeface="Gotham Bold"/>
              </a:rPr>
              <a:t>Z</a:t>
            </a:r>
            <a:r>
              <a:rPr lang="en-US" b="true" sz="2400">
                <a:solidFill>
                  <a:srgbClr val="000000"/>
                </a:solidFill>
                <a:latin typeface="Gotham Bold"/>
                <a:ea typeface="Gotham Bold"/>
                <a:cs typeface="Gotham Bold"/>
                <a:sym typeface="Gotham Bold"/>
              </a:rPr>
              <a:t>ulfan Khairil Simbolon, S.T., M.Eng.</a:t>
            </a:r>
          </a:p>
        </p:txBody>
      </p:sp>
      <p:sp>
        <p:nvSpPr>
          <p:cNvPr name="TextBox 18" id="18"/>
          <p:cNvSpPr txBox="true"/>
          <p:nvPr/>
        </p:nvSpPr>
        <p:spPr>
          <a:xfrm rot="0">
            <a:off x="1028700" y="9233975"/>
            <a:ext cx="7093398" cy="405765"/>
          </a:xfrm>
          <a:prstGeom prst="rect">
            <a:avLst/>
          </a:prstGeom>
        </p:spPr>
        <p:txBody>
          <a:bodyPr anchor="t" rtlCol="false" tIns="0" lIns="0" bIns="0" rIns="0">
            <a:spAutoFit/>
          </a:bodyPr>
          <a:lstStyle/>
          <a:p>
            <a:pPr algn="just">
              <a:lnSpc>
                <a:spcPts val="3360"/>
              </a:lnSpc>
            </a:pPr>
            <a:r>
              <a:rPr lang="en-US" b="true" sz="2400">
                <a:solidFill>
                  <a:srgbClr val="000000"/>
                </a:solidFill>
                <a:latin typeface="Gotham Bold"/>
                <a:ea typeface="Gotham Bold"/>
                <a:cs typeface="Gotham Bold"/>
                <a:sym typeface="Gotham Bold"/>
              </a:rPr>
              <a:t>Mu</a:t>
            </a:r>
            <a:r>
              <a:rPr lang="en-US" b="true" sz="2400">
                <a:solidFill>
                  <a:srgbClr val="000000"/>
                </a:solidFill>
                <a:latin typeface="Gotham Bold"/>
                <a:ea typeface="Gotham Bold"/>
                <a:cs typeface="Gotham Bold"/>
                <a:sym typeface="Gotham Bold"/>
              </a:rPr>
              <a:t>hammad Arhami, S.Si., M.Kom.</a:t>
            </a:r>
          </a:p>
        </p:txBody>
      </p:sp>
      <p:sp>
        <p:nvSpPr>
          <p:cNvPr name="TextBox 19" id="19"/>
          <p:cNvSpPr txBox="true"/>
          <p:nvPr/>
        </p:nvSpPr>
        <p:spPr>
          <a:xfrm rot="0">
            <a:off x="13336736" y="7667112"/>
            <a:ext cx="3922564" cy="405765"/>
          </a:xfrm>
          <a:prstGeom prst="rect">
            <a:avLst/>
          </a:prstGeom>
        </p:spPr>
        <p:txBody>
          <a:bodyPr anchor="t" rtlCol="false" tIns="0" lIns="0" bIns="0" rIns="0">
            <a:spAutoFit/>
          </a:bodyPr>
          <a:lstStyle/>
          <a:p>
            <a:pPr algn="r">
              <a:lnSpc>
                <a:spcPts val="3360"/>
              </a:lnSpc>
            </a:pPr>
            <a:r>
              <a:rPr lang="en-US" b="true" sz="2400">
                <a:solidFill>
                  <a:srgbClr val="000000"/>
                </a:solidFill>
                <a:latin typeface="Gotham Bold"/>
                <a:ea typeface="Gotham Bold"/>
                <a:cs typeface="Gotham Bold"/>
                <a:sym typeface="Gotham Bold"/>
              </a:rPr>
              <a:t>Az</a:t>
            </a:r>
            <a:r>
              <a:rPr lang="en-US" b="true" sz="2400">
                <a:solidFill>
                  <a:srgbClr val="000000"/>
                </a:solidFill>
                <a:latin typeface="Gotham Bold"/>
                <a:ea typeface="Gotham Bold"/>
                <a:cs typeface="Gotham Bold"/>
                <a:sym typeface="Gotham Bold"/>
              </a:rPr>
              <a:t>har, S.T., M.T.</a:t>
            </a:r>
          </a:p>
        </p:txBody>
      </p:sp>
      <p:sp>
        <p:nvSpPr>
          <p:cNvPr name="TextBox 20" id="20"/>
          <p:cNvSpPr txBox="true"/>
          <p:nvPr/>
        </p:nvSpPr>
        <p:spPr>
          <a:xfrm rot="0">
            <a:off x="8289461" y="9253025"/>
            <a:ext cx="3434481" cy="405765"/>
          </a:xfrm>
          <a:prstGeom prst="rect">
            <a:avLst/>
          </a:prstGeom>
        </p:spPr>
        <p:txBody>
          <a:bodyPr anchor="t" rtlCol="false" tIns="0" lIns="0" bIns="0" rIns="0">
            <a:spAutoFit/>
          </a:bodyPr>
          <a:lstStyle/>
          <a:p>
            <a:pPr algn="just">
              <a:lnSpc>
                <a:spcPts val="3360"/>
              </a:lnSpc>
            </a:pPr>
            <a:r>
              <a:rPr lang="en-US" b="true" sz="2400">
                <a:solidFill>
                  <a:srgbClr val="000000"/>
                </a:solidFill>
                <a:latin typeface="Gotham Bold"/>
                <a:ea typeface="Gotham Bold"/>
                <a:cs typeface="Gotham Bold"/>
                <a:sym typeface="Gotham Bold"/>
              </a:rPr>
              <a:t>Mahdi</a:t>
            </a:r>
            <a:r>
              <a:rPr lang="en-US" b="true" sz="2400">
                <a:solidFill>
                  <a:srgbClr val="000000"/>
                </a:solidFill>
                <a:latin typeface="Gotham Bold"/>
                <a:ea typeface="Gotham Bold"/>
                <a:cs typeface="Gotham Bold"/>
                <a:sym typeface="Gotham Bold"/>
              </a:rPr>
              <a:t>, S.T., M.Cs. </a:t>
            </a:r>
          </a:p>
        </p:txBody>
      </p:sp>
      <p:sp>
        <p:nvSpPr>
          <p:cNvPr name="AutoShape 21" id="21"/>
          <p:cNvSpPr/>
          <p:nvPr/>
        </p:nvSpPr>
        <p:spPr>
          <a:xfrm>
            <a:off x="1028700" y="8324337"/>
            <a:ext cx="16230600" cy="0"/>
          </a:xfrm>
          <a:prstGeom prst="line">
            <a:avLst/>
          </a:prstGeom>
          <a:ln cap="flat" w="19050">
            <a:solidFill>
              <a:srgbClr val="EEF1F1"/>
            </a:solidFill>
            <a:prstDash val="solid"/>
            <a:headEnd type="none" len="sm" w="sm"/>
            <a:tailEnd type="none" len="sm" w="sm"/>
          </a:ln>
        </p:spPr>
      </p:sp>
      <p:sp>
        <p:nvSpPr>
          <p:cNvPr name="TextBox 22" id="22"/>
          <p:cNvSpPr txBox="true"/>
          <p:nvPr/>
        </p:nvSpPr>
        <p:spPr>
          <a:xfrm rot="0">
            <a:off x="15550222" y="8729150"/>
            <a:ext cx="1709078" cy="361950"/>
          </a:xfrm>
          <a:prstGeom prst="rect">
            <a:avLst/>
          </a:prstGeom>
        </p:spPr>
        <p:txBody>
          <a:bodyPr anchor="t" rtlCol="false" tIns="0" lIns="0" bIns="0" rIns="0">
            <a:spAutoFit/>
          </a:bodyPr>
          <a:lstStyle/>
          <a:p>
            <a:pPr algn="l" marL="0" indent="0" lvl="0">
              <a:lnSpc>
                <a:spcPts val="2879"/>
              </a:lnSpc>
              <a:spcBef>
                <a:spcPct val="0"/>
              </a:spcBef>
            </a:pPr>
            <a:r>
              <a:rPr lang="en-US" sz="2399">
                <a:solidFill>
                  <a:srgbClr val="000000"/>
                </a:solidFill>
                <a:latin typeface="Gotham"/>
                <a:ea typeface="Gotham"/>
                <a:cs typeface="Gotham"/>
                <a:sym typeface="Gotham"/>
              </a:rPr>
              <a:t>PENGUJI 3</a:t>
            </a:r>
          </a:p>
        </p:txBody>
      </p:sp>
      <p:sp>
        <p:nvSpPr>
          <p:cNvPr name="TextBox 23" id="23"/>
          <p:cNvSpPr txBox="true"/>
          <p:nvPr/>
        </p:nvSpPr>
        <p:spPr>
          <a:xfrm rot="0">
            <a:off x="13824819" y="9233975"/>
            <a:ext cx="3434481" cy="405765"/>
          </a:xfrm>
          <a:prstGeom prst="rect">
            <a:avLst/>
          </a:prstGeom>
        </p:spPr>
        <p:txBody>
          <a:bodyPr anchor="t" rtlCol="false" tIns="0" lIns="0" bIns="0" rIns="0">
            <a:spAutoFit/>
          </a:bodyPr>
          <a:lstStyle/>
          <a:p>
            <a:pPr algn="just">
              <a:lnSpc>
                <a:spcPts val="3360"/>
              </a:lnSpc>
            </a:pPr>
            <a:r>
              <a:rPr lang="en-US" b="true" sz="2400">
                <a:solidFill>
                  <a:srgbClr val="000000"/>
                </a:solidFill>
                <a:latin typeface="Gotham Bold"/>
                <a:ea typeface="Gotham Bold"/>
                <a:cs typeface="Gotham Bold"/>
                <a:sym typeface="Gotham Bold"/>
              </a:rPr>
              <a:t>Hendrawati, S.T., M.T</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EEF1F1"/>
        </a:solidFill>
      </p:bgPr>
    </p:bg>
    <p:spTree>
      <p:nvGrpSpPr>
        <p:cNvPr id="1" name=""/>
        <p:cNvGrpSpPr/>
        <p:nvPr/>
      </p:nvGrpSpPr>
      <p:grpSpPr>
        <a:xfrm>
          <a:off x="0" y="0"/>
          <a:ext cx="0" cy="0"/>
          <a:chOff x="0" y="0"/>
          <a:chExt cx="0" cy="0"/>
        </a:xfrm>
      </p:grpSpPr>
      <p:sp>
        <p:nvSpPr>
          <p:cNvPr name="AutoShape 2" id="2"/>
          <p:cNvSpPr/>
          <p:nvPr/>
        </p:nvSpPr>
        <p:spPr>
          <a:xfrm>
            <a:off x="372042" y="1028700"/>
            <a:ext cx="17297742" cy="0"/>
          </a:xfrm>
          <a:prstGeom prst="line">
            <a:avLst/>
          </a:prstGeom>
          <a:ln cap="flat" w="19050">
            <a:solidFill>
              <a:srgbClr val="2E2C2B"/>
            </a:solidFill>
            <a:prstDash val="solid"/>
            <a:headEnd type="none" len="sm" w="sm"/>
            <a:tailEnd type="none" len="sm" w="sm"/>
          </a:ln>
        </p:spPr>
      </p:sp>
      <p:sp>
        <p:nvSpPr>
          <p:cNvPr name="TextBox 3" id="3"/>
          <p:cNvSpPr txBox="true"/>
          <p:nvPr/>
        </p:nvSpPr>
        <p:spPr>
          <a:xfrm rot="0">
            <a:off x="16332192" y="25115"/>
            <a:ext cx="1144270" cy="789385"/>
          </a:xfrm>
          <a:prstGeom prst="rect">
            <a:avLst/>
          </a:prstGeom>
        </p:spPr>
        <p:txBody>
          <a:bodyPr anchor="t" rtlCol="false" tIns="0" lIns="0" bIns="0" rIns="0">
            <a:spAutoFit/>
          </a:bodyPr>
          <a:lstStyle/>
          <a:p>
            <a:pPr algn="r">
              <a:lnSpc>
                <a:spcPts val="6299"/>
              </a:lnSpc>
            </a:pPr>
            <a:r>
              <a:rPr lang="en-US" b="true" sz="4499">
                <a:solidFill>
                  <a:srgbClr val="D0A175"/>
                </a:solidFill>
                <a:latin typeface="Hagrid Ultra-Bold"/>
                <a:ea typeface="Hagrid Ultra-Bold"/>
                <a:cs typeface="Hagrid Ultra-Bold"/>
                <a:sym typeface="Hagrid Ultra-Bold"/>
              </a:rPr>
              <a:t>02</a:t>
            </a:r>
          </a:p>
        </p:txBody>
      </p:sp>
      <p:sp>
        <p:nvSpPr>
          <p:cNvPr name="TextBox 4" id="4"/>
          <p:cNvSpPr txBox="true"/>
          <p:nvPr/>
        </p:nvSpPr>
        <p:spPr>
          <a:xfrm rot="0">
            <a:off x="9723795" y="258200"/>
            <a:ext cx="4912124" cy="456565"/>
          </a:xfrm>
          <a:prstGeom prst="rect">
            <a:avLst/>
          </a:prstGeom>
        </p:spPr>
        <p:txBody>
          <a:bodyPr anchor="t" rtlCol="false" tIns="0" lIns="0" bIns="0" rIns="0">
            <a:spAutoFit/>
          </a:bodyPr>
          <a:lstStyle/>
          <a:p>
            <a:pPr algn="ctr" marL="0" indent="0" lvl="1">
              <a:lnSpc>
                <a:spcPts val="3200"/>
              </a:lnSpc>
            </a:pPr>
            <a:r>
              <a:rPr lang="en-US" b="true" sz="3200" spc="-64">
                <a:solidFill>
                  <a:srgbClr val="2E2C2B"/>
                </a:solidFill>
                <a:latin typeface="Hagrid Ultra-Bold"/>
                <a:ea typeface="Hagrid Ultra-Bold"/>
                <a:cs typeface="Hagrid Ultra-Bold"/>
                <a:sym typeface="Hagrid Ultra-Bold"/>
              </a:rPr>
              <a:t>LATAR BELAKANG</a:t>
            </a:r>
          </a:p>
        </p:txBody>
      </p:sp>
      <p:sp>
        <p:nvSpPr>
          <p:cNvPr name="TextBox 5" id="5"/>
          <p:cNvSpPr txBox="true"/>
          <p:nvPr/>
        </p:nvSpPr>
        <p:spPr>
          <a:xfrm rot="0">
            <a:off x="2144041" y="276932"/>
            <a:ext cx="7234755" cy="361950"/>
          </a:xfrm>
          <a:prstGeom prst="rect">
            <a:avLst/>
          </a:prstGeom>
        </p:spPr>
        <p:txBody>
          <a:bodyPr anchor="t" rtlCol="false" tIns="0" lIns="0" bIns="0" rIns="0">
            <a:spAutoFit/>
          </a:bodyPr>
          <a:lstStyle/>
          <a:p>
            <a:pPr algn="l" marL="0" indent="0" lvl="0">
              <a:lnSpc>
                <a:spcPts val="2847"/>
              </a:lnSpc>
              <a:spcBef>
                <a:spcPct val="0"/>
              </a:spcBef>
            </a:pPr>
            <a:r>
              <a:rPr lang="en-US" sz="2372">
                <a:solidFill>
                  <a:srgbClr val="2E2C2B"/>
                </a:solidFill>
                <a:latin typeface="Gotham"/>
                <a:ea typeface="Gotham"/>
                <a:cs typeface="Gotham"/>
                <a:sym typeface="Gotham"/>
              </a:rPr>
              <a:t>POLITEK</a:t>
            </a:r>
            <a:r>
              <a:rPr lang="en-US" sz="2372" strike="noStrike" u="none">
                <a:solidFill>
                  <a:srgbClr val="2E2C2B"/>
                </a:solidFill>
                <a:latin typeface="Gotham"/>
                <a:ea typeface="Gotham"/>
                <a:cs typeface="Gotham"/>
                <a:sym typeface="Gotham"/>
              </a:rPr>
              <a:t>NIK NEGERI LHOKSEUMAWE</a:t>
            </a:r>
          </a:p>
        </p:txBody>
      </p:sp>
      <p:sp>
        <p:nvSpPr>
          <p:cNvPr name="Freeform 6" id="6"/>
          <p:cNvSpPr/>
          <p:nvPr/>
        </p:nvSpPr>
        <p:spPr>
          <a:xfrm flipH="false" flipV="true" rot="0">
            <a:off x="17259300" y="9258300"/>
            <a:ext cx="820968" cy="820968"/>
          </a:xfrm>
          <a:custGeom>
            <a:avLst/>
            <a:gdLst/>
            <a:ahLst/>
            <a:cxnLst/>
            <a:rect r="r" b="b" t="t" l="l"/>
            <a:pathLst>
              <a:path h="820968" w="820968">
                <a:moveTo>
                  <a:pt x="0" y="820968"/>
                </a:moveTo>
                <a:lnTo>
                  <a:pt x="820968" y="820968"/>
                </a:lnTo>
                <a:lnTo>
                  <a:pt x="820968" y="0"/>
                </a:lnTo>
                <a:lnTo>
                  <a:pt x="0" y="0"/>
                </a:lnTo>
                <a:lnTo>
                  <a:pt x="0" y="820968"/>
                </a:lnTo>
                <a:close/>
              </a:path>
            </a:pathLst>
          </a:custGeom>
          <a:blipFill>
            <a:blip r:embed="rId2">
              <a:extLst>
                <a:ext uri="{96DAC541-7B7A-43D3-8B79-37D633B846F1}">
                  <asvg:svgBlip xmlns:asvg="http://schemas.microsoft.com/office/drawing/2016/SVG/main" r:embed="rId3"/>
                </a:ext>
              </a:extLst>
            </a:blip>
            <a:stretch>
              <a:fillRect l="0" t="0" r="0" b="0"/>
            </a:stretch>
          </a:blipFill>
          <a:ln cap="sq">
            <a:noFill/>
            <a:prstDash val="solid"/>
            <a:miter/>
          </a:ln>
        </p:spPr>
      </p:sp>
      <p:sp>
        <p:nvSpPr>
          <p:cNvPr name="Freeform 7" id="7"/>
          <p:cNvSpPr/>
          <p:nvPr/>
        </p:nvSpPr>
        <p:spPr>
          <a:xfrm flipH="false" flipV="false" rot="0">
            <a:off x="1028700" y="44062"/>
            <a:ext cx="863108" cy="837215"/>
          </a:xfrm>
          <a:custGeom>
            <a:avLst/>
            <a:gdLst/>
            <a:ahLst/>
            <a:cxnLst/>
            <a:rect r="r" b="b" t="t" l="l"/>
            <a:pathLst>
              <a:path h="837215" w="863108">
                <a:moveTo>
                  <a:pt x="0" y="0"/>
                </a:moveTo>
                <a:lnTo>
                  <a:pt x="863108" y="0"/>
                </a:lnTo>
                <a:lnTo>
                  <a:pt x="863108" y="837215"/>
                </a:lnTo>
                <a:lnTo>
                  <a:pt x="0" y="837215"/>
                </a:lnTo>
                <a:lnTo>
                  <a:pt x="0" y="0"/>
                </a:lnTo>
                <a:close/>
              </a:path>
            </a:pathLst>
          </a:custGeom>
          <a:blipFill>
            <a:blip r:embed="rId4"/>
            <a:stretch>
              <a:fillRect l="0" t="0" r="0" b="0"/>
            </a:stretch>
          </a:blipFill>
        </p:spPr>
      </p:sp>
      <p:sp>
        <p:nvSpPr>
          <p:cNvPr name="TextBox 8" id="8"/>
          <p:cNvSpPr txBox="true"/>
          <p:nvPr/>
        </p:nvSpPr>
        <p:spPr>
          <a:xfrm rot="0">
            <a:off x="372042" y="1466850"/>
            <a:ext cx="3853079" cy="452755"/>
          </a:xfrm>
          <a:prstGeom prst="rect">
            <a:avLst/>
          </a:prstGeom>
        </p:spPr>
        <p:txBody>
          <a:bodyPr anchor="t" rtlCol="false" tIns="0" lIns="0" bIns="0" rIns="0">
            <a:spAutoFit/>
          </a:bodyPr>
          <a:lstStyle/>
          <a:p>
            <a:pPr algn="ctr" marL="0" indent="0" lvl="1">
              <a:lnSpc>
                <a:spcPts val="3200"/>
              </a:lnSpc>
            </a:pPr>
            <a:r>
              <a:rPr lang="en-US" b="true" sz="3200" spc="-64">
                <a:solidFill>
                  <a:srgbClr val="2E2C2B"/>
                </a:solidFill>
                <a:latin typeface="Hagrid Ultra-Bold"/>
                <a:ea typeface="Hagrid Ultra-Bold"/>
                <a:cs typeface="Hagrid Ultra-Bold"/>
                <a:sym typeface="Hagrid Ultra-Bold"/>
              </a:rPr>
              <a:t>MASALAH UTAMA</a:t>
            </a:r>
          </a:p>
        </p:txBody>
      </p:sp>
      <p:sp>
        <p:nvSpPr>
          <p:cNvPr name="TextBox 9" id="9"/>
          <p:cNvSpPr txBox="true"/>
          <p:nvPr/>
        </p:nvSpPr>
        <p:spPr>
          <a:xfrm rot="0">
            <a:off x="9723795" y="1466850"/>
            <a:ext cx="2015377" cy="452755"/>
          </a:xfrm>
          <a:prstGeom prst="rect">
            <a:avLst/>
          </a:prstGeom>
        </p:spPr>
        <p:txBody>
          <a:bodyPr anchor="t" rtlCol="false" tIns="0" lIns="0" bIns="0" rIns="0">
            <a:spAutoFit/>
          </a:bodyPr>
          <a:lstStyle/>
          <a:p>
            <a:pPr algn="ctr" marL="0" indent="0" lvl="1">
              <a:lnSpc>
                <a:spcPts val="3200"/>
              </a:lnSpc>
            </a:pPr>
            <a:r>
              <a:rPr lang="en-US" b="true" sz="3200" spc="-64">
                <a:solidFill>
                  <a:srgbClr val="2E2C2B"/>
                </a:solidFill>
                <a:latin typeface="Hagrid Ultra-Bold"/>
                <a:ea typeface="Hagrid Ultra-Bold"/>
                <a:cs typeface="Hagrid Ultra-Bold"/>
                <a:sym typeface="Hagrid Ultra-Bold"/>
              </a:rPr>
              <a:t>DAMPAK</a:t>
            </a:r>
          </a:p>
        </p:txBody>
      </p:sp>
      <p:sp>
        <p:nvSpPr>
          <p:cNvPr name="TextBox 10" id="10"/>
          <p:cNvSpPr txBox="true"/>
          <p:nvPr/>
        </p:nvSpPr>
        <p:spPr>
          <a:xfrm rot="0">
            <a:off x="372042" y="6039369"/>
            <a:ext cx="1614757" cy="452755"/>
          </a:xfrm>
          <a:prstGeom prst="rect">
            <a:avLst/>
          </a:prstGeom>
        </p:spPr>
        <p:txBody>
          <a:bodyPr anchor="t" rtlCol="false" tIns="0" lIns="0" bIns="0" rIns="0">
            <a:spAutoFit/>
          </a:bodyPr>
          <a:lstStyle/>
          <a:p>
            <a:pPr algn="ctr" marL="0" indent="0" lvl="1">
              <a:lnSpc>
                <a:spcPts val="3200"/>
              </a:lnSpc>
            </a:pPr>
            <a:r>
              <a:rPr lang="en-US" b="true" sz="3200" spc="-64">
                <a:solidFill>
                  <a:srgbClr val="2E2C2B"/>
                </a:solidFill>
                <a:latin typeface="Hagrid Ultra-Bold"/>
                <a:ea typeface="Hagrid Ultra-Bold"/>
                <a:cs typeface="Hagrid Ultra-Bold"/>
                <a:sym typeface="Hagrid Ultra-Bold"/>
              </a:rPr>
              <a:t>SOLUSI </a:t>
            </a:r>
          </a:p>
        </p:txBody>
      </p:sp>
      <p:sp>
        <p:nvSpPr>
          <p:cNvPr name="TextBox 11" id="11"/>
          <p:cNvSpPr txBox="true"/>
          <p:nvPr/>
        </p:nvSpPr>
        <p:spPr>
          <a:xfrm rot="0">
            <a:off x="372042" y="2021089"/>
            <a:ext cx="9058904" cy="3589655"/>
          </a:xfrm>
          <a:prstGeom prst="rect">
            <a:avLst/>
          </a:prstGeom>
        </p:spPr>
        <p:txBody>
          <a:bodyPr anchor="t" rtlCol="false" tIns="0" lIns="0" bIns="0" rIns="0">
            <a:spAutoFit/>
          </a:bodyPr>
          <a:lstStyle/>
          <a:p>
            <a:pPr algn="just">
              <a:lnSpc>
                <a:spcPts val="3220"/>
              </a:lnSpc>
            </a:pPr>
            <a:r>
              <a:rPr lang="en-US" sz="2300">
                <a:solidFill>
                  <a:srgbClr val="000000"/>
                </a:solidFill>
                <a:latin typeface="Gotham"/>
                <a:ea typeface="Gotham"/>
                <a:cs typeface="Gotham"/>
                <a:sym typeface="Gotham"/>
              </a:rPr>
              <a:t>A</a:t>
            </a:r>
            <a:r>
              <a:rPr lang="en-US" sz="2300">
                <a:solidFill>
                  <a:srgbClr val="000000"/>
                </a:solidFill>
                <a:latin typeface="Gotham"/>
                <a:ea typeface="Gotham"/>
                <a:cs typeface="Gotham"/>
                <a:sym typeface="Gotham"/>
              </a:rPr>
              <a:t>plikasi POS pada usaha kecil seperti kantin institusi umumnya hanya mencatat transaksi; data harian yang terkumpul diposisikan sebatas arsip pelaporan, belum menjadi basis keputusan prediktif. Penentuan produksi, bahan baku, dan tenaga kerja masih bertumpu pada intuisi. Penelitian LSTM yang akurat pada literatur umumnya bertumpu pada data bertahun-tahun atau variabel eksogen yang tidak selalu tersedia, jarang diuji terhadap baseline sederhana, dan belum menyatu ke aplikasi POS yang benar-benar dipakai</a:t>
            </a:r>
          </a:p>
        </p:txBody>
      </p:sp>
      <p:sp>
        <p:nvSpPr>
          <p:cNvPr name="TextBox 12" id="12"/>
          <p:cNvSpPr txBox="true"/>
          <p:nvPr/>
        </p:nvSpPr>
        <p:spPr>
          <a:xfrm rot="0">
            <a:off x="9723795" y="2021089"/>
            <a:ext cx="8294423" cy="3189605"/>
          </a:xfrm>
          <a:prstGeom prst="rect">
            <a:avLst/>
          </a:prstGeom>
        </p:spPr>
        <p:txBody>
          <a:bodyPr anchor="t" rtlCol="false" tIns="0" lIns="0" bIns="0" rIns="0">
            <a:spAutoFit/>
          </a:bodyPr>
          <a:lstStyle/>
          <a:p>
            <a:pPr algn="just">
              <a:lnSpc>
                <a:spcPts val="3220"/>
              </a:lnSpc>
            </a:pPr>
            <a:r>
              <a:rPr lang="en-US" sz="2300">
                <a:solidFill>
                  <a:srgbClr val="000000"/>
                </a:solidFill>
                <a:latin typeface="Gotham"/>
                <a:ea typeface="Gotham"/>
                <a:cs typeface="Gotham"/>
                <a:sym typeface="Gotham"/>
              </a:rPr>
              <a:t>Ketidakp</a:t>
            </a:r>
            <a:r>
              <a:rPr lang="en-US" sz="2300">
                <a:solidFill>
                  <a:srgbClr val="000000"/>
                </a:solidFill>
                <a:latin typeface="Gotham"/>
                <a:ea typeface="Gotham"/>
                <a:cs typeface="Gotham"/>
                <a:sym typeface="Gotham"/>
              </a:rPr>
              <a:t>astian estimasi penjualan memicu ketidakseimbangan stok dan permintaan: produksi terlalu sedikit menimbulkan stockout, terlalu banyak menimbulkan overstock dan kerugian bahan baku. Klaim keunggulan deep learning tanpa kontrol baseline berisiko menyesatkan, dan jarak antara riset akademik dengan penerapan praktis pada aplikasi POS nyata masih lebar.</a:t>
            </a:r>
          </a:p>
        </p:txBody>
      </p:sp>
      <p:sp>
        <p:nvSpPr>
          <p:cNvPr name="TextBox 13" id="13"/>
          <p:cNvSpPr txBox="true"/>
          <p:nvPr/>
        </p:nvSpPr>
        <p:spPr>
          <a:xfrm rot="0">
            <a:off x="1028700" y="6503944"/>
            <a:ext cx="15875626" cy="3189605"/>
          </a:xfrm>
          <a:prstGeom prst="rect">
            <a:avLst/>
          </a:prstGeom>
        </p:spPr>
        <p:txBody>
          <a:bodyPr anchor="t" rtlCol="false" tIns="0" lIns="0" bIns="0" rIns="0">
            <a:spAutoFit/>
          </a:bodyPr>
          <a:lstStyle/>
          <a:p>
            <a:pPr algn="just">
              <a:lnSpc>
                <a:spcPts val="3220"/>
              </a:lnSpc>
            </a:pPr>
            <a:r>
              <a:rPr lang="en-US" sz="2300">
                <a:solidFill>
                  <a:srgbClr val="000000"/>
                </a:solidFill>
                <a:latin typeface="Gotham"/>
                <a:ea typeface="Gotham"/>
                <a:cs typeface="Gotham"/>
                <a:sym typeface="Gotham"/>
              </a:rPr>
              <a:t>Mer</a:t>
            </a:r>
            <a:r>
              <a:rPr lang="en-US" sz="2300">
                <a:solidFill>
                  <a:srgbClr val="000000"/>
                </a:solidFill>
                <a:latin typeface="Gotham"/>
                <a:ea typeface="Gotham"/>
                <a:cs typeface="Gotham"/>
                <a:sym typeface="Gotham"/>
              </a:rPr>
              <a:t>ancang dan membangun aplikasi Point of Sale berbasis mobile yang mengintegrasikan fitur prediksi penjualan harian menggunakan LSTM ke dalam alur kerja transaksi.</a:t>
            </a:r>
          </a:p>
          <a:p>
            <a:pPr algn="just">
              <a:lnSpc>
                <a:spcPts val="3220"/>
              </a:lnSpc>
            </a:pPr>
          </a:p>
          <a:p>
            <a:pPr algn="just">
              <a:lnSpc>
                <a:spcPts val="3220"/>
              </a:lnSpc>
            </a:pPr>
            <a:r>
              <a:rPr lang="en-US" sz="2300">
                <a:solidFill>
                  <a:srgbClr val="000000"/>
                </a:solidFill>
                <a:latin typeface="Gotham"/>
                <a:ea typeface="Gotham"/>
                <a:cs typeface="Gotham"/>
                <a:sym typeface="Gotham"/>
              </a:rPr>
              <a:t>Mengevaluasi secara empiris pengaruh augmentasi data sintetis TimeGAN terhadap performa LSTM pada dataset penjualan berskala kecil.</a:t>
            </a:r>
          </a:p>
          <a:p>
            <a:pPr algn="just">
              <a:lnSpc>
                <a:spcPts val="3220"/>
              </a:lnSpc>
            </a:pPr>
          </a:p>
          <a:p>
            <a:pPr algn="just">
              <a:lnSpc>
                <a:spcPts val="3220"/>
              </a:lnSpc>
            </a:pPr>
            <a:r>
              <a:rPr lang="en-US" sz="2300">
                <a:solidFill>
                  <a:srgbClr val="000000"/>
                </a:solidFill>
                <a:latin typeface="Gotham"/>
                <a:ea typeface="Gotham"/>
                <a:cs typeface="Gotham"/>
                <a:sym typeface="Gotham"/>
              </a:rPr>
              <a:t>Membandingkan model terhadap baseline seasonal-naive pada beberapa horizon peramalan sebagai kontrol metodologis — studi kasus EatsTEDI, DTEDI, Universitas Gadjah Mada.</a:t>
            </a:r>
          </a:p>
        </p:txBody>
      </p:sp>
      <p:sp>
        <p:nvSpPr>
          <p:cNvPr name="TextBox 14" id="14"/>
          <p:cNvSpPr txBox="true"/>
          <p:nvPr/>
        </p:nvSpPr>
        <p:spPr>
          <a:xfrm rot="0">
            <a:off x="400617" y="6577849"/>
            <a:ext cx="243654" cy="546735"/>
          </a:xfrm>
          <a:prstGeom prst="rect">
            <a:avLst/>
          </a:prstGeom>
        </p:spPr>
        <p:txBody>
          <a:bodyPr anchor="t" rtlCol="false" tIns="0" lIns="0" bIns="0" rIns="0">
            <a:spAutoFit/>
          </a:bodyPr>
          <a:lstStyle/>
          <a:p>
            <a:pPr algn="r">
              <a:lnSpc>
                <a:spcPts val="4200"/>
              </a:lnSpc>
            </a:pPr>
            <a:r>
              <a:rPr lang="en-US" sz="3000" b="true">
                <a:solidFill>
                  <a:srgbClr val="BC1823"/>
                </a:solidFill>
                <a:latin typeface="Hagrid Ultra-Bold"/>
                <a:ea typeface="Hagrid Ultra-Bold"/>
                <a:cs typeface="Hagrid Ultra-Bold"/>
                <a:sym typeface="Hagrid Ultra-Bold"/>
              </a:rPr>
              <a:t>1</a:t>
            </a:r>
          </a:p>
        </p:txBody>
      </p:sp>
      <p:sp>
        <p:nvSpPr>
          <p:cNvPr name="TextBox 15" id="15"/>
          <p:cNvSpPr txBox="true"/>
          <p:nvPr/>
        </p:nvSpPr>
        <p:spPr>
          <a:xfrm rot="0">
            <a:off x="400617" y="7815854"/>
            <a:ext cx="243654" cy="546735"/>
          </a:xfrm>
          <a:prstGeom prst="rect">
            <a:avLst/>
          </a:prstGeom>
        </p:spPr>
        <p:txBody>
          <a:bodyPr anchor="t" rtlCol="false" tIns="0" lIns="0" bIns="0" rIns="0">
            <a:spAutoFit/>
          </a:bodyPr>
          <a:lstStyle/>
          <a:p>
            <a:pPr algn="r">
              <a:lnSpc>
                <a:spcPts val="4200"/>
              </a:lnSpc>
            </a:pPr>
            <a:r>
              <a:rPr lang="en-US" sz="3000" b="true">
                <a:solidFill>
                  <a:srgbClr val="BC1823"/>
                </a:solidFill>
                <a:latin typeface="Hagrid Ultra-Bold"/>
                <a:ea typeface="Hagrid Ultra-Bold"/>
                <a:cs typeface="Hagrid Ultra-Bold"/>
                <a:sym typeface="Hagrid Ultra-Bold"/>
              </a:rPr>
              <a:t>2</a:t>
            </a:r>
          </a:p>
        </p:txBody>
      </p:sp>
      <p:sp>
        <p:nvSpPr>
          <p:cNvPr name="TextBox 16" id="16"/>
          <p:cNvSpPr txBox="true"/>
          <p:nvPr/>
        </p:nvSpPr>
        <p:spPr>
          <a:xfrm rot="0">
            <a:off x="400617" y="8953500"/>
            <a:ext cx="243654" cy="542925"/>
          </a:xfrm>
          <a:prstGeom prst="rect">
            <a:avLst/>
          </a:prstGeom>
        </p:spPr>
        <p:txBody>
          <a:bodyPr anchor="t" rtlCol="false" tIns="0" lIns="0" bIns="0" rIns="0">
            <a:spAutoFit/>
          </a:bodyPr>
          <a:lstStyle/>
          <a:p>
            <a:pPr algn="r">
              <a:lnSpc>
                <a:spcPts val="4200"/>
              </a:lnSpc>
            </a:pPr>
            <a:r>
              <a:rPr lang="en-US" sz="3000" b="true">
                <a:solidFill>
                  <a:srgbClr val="BC1823"/>
                </a:solidFill>
                <a:latin typeface="Hagrid Ultra-Bold"/>
                <a:ea typeface="Hagrid Ultra-Bold"/>
                <a:cs typeface="Hagrid Ultra-Bold"/>
                <a:sym typeface="Hagrid Ultra-Bold"/>
              </a:rPr>
              <a:t>3</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EEF1F1"/>
        </a:solidFill>
      </p:bgPr>
    </p:bg>
    <p:spTree>
      <p:nvGrpSpPr>
        <p:cNvPr id="1" name=""/>
        <p:cNvGrpSpPr/>
        <p:nvPr/>
      </p:nvGrpSpPr>
      <p:grpSpPr>
        <a:xfrm>
          <a:off x="0" y="0"/>
          <a:ext cx="0" cy="0"/>
          <a:chOff x="0" y="0"/>
          <a:chExt cx="0" cy="0"/>
        </a:xfrm>
      </p:grpSpPr>
      <p:sp>
        <p:nvSpPr>
          <p:cNvPr name="AutoShape 2" id="2"/>
          <p:cNvSpPr/>
          <p:nvPr/>
        </p:nvSpPr>
        <p:spPr>
          <a:xfrm>
            <a:off x="1028700" y="1019175"/>
            <a:ext cx="16230600" cy="0"/>
          </a:xfrm>
          <a:prstGeom prst="line">
            <a:avLst/>
          </a:prstGeom>
          <a:ln cap="flat" w="19050">
            <a:solidFill>
              <a:srgbClr val="2E2C2B"/>
            </a:solidFill>
            <a:prstDash val="solid"/>
            <a:headEnd type="none" len="sm" w="sm"/>
            <a:tailEnd type="none" len="sm" w="sm"/>
          </a:ln>
        </p:spPr>
      </p:sp>
      <p:sp>
        <p:nvSpPr>
          <p:cNvPr name="TextBox 3" id="3"/>
          <p:cNvSpPr txBox="true"/>
          <p:nvPr/>
        </p:nvSpPr>
        <p:spPr>
          <a:xfrm rot="0">
            <a:off x="16332192" y="25115"/>
            <a:ext cx="1144270" cy="792481"/>
          </a:xfrm>
          <a:prstGeom prst="rect">
            <a:avLst/>
          </a:prstGeom>
        </p:spPr>
        <p:txBody>
          <a:bodyPr anchor="t" rtlCol="false" tIns="0" lIns="0" bIns="0" rIns="0">
            <a:spAutoFit/>
          </a:bodyPr>
          <a:lstStyle/>
          <a:p>
            <a:pPr algn="r">
              <a:lnSpc>
                <a:spcPts val="6299"/>
              </a:lnSpc>
            </a:pPr>
            <a:r>
              <a:rPr lang="en-US" b="true" sz="4499">
                <a:solidFill>
                  <a:srgbClr val="D0A175"/>
                </a:solidFill>
                <a:latin typeface="Hagrid Ultra-Bold"/>
                <a:ea typeface="Hagrid Ultra-Bold"/>
                <a:cs typeface="Hagrid Ultra-Bold"/>
                <a:sym typeface="Hagrid Ultra-Bold"/>
              </a:rPr>
              <a:t>03</a:t>
            </a:r>
          </a:p>
        </p:txBody>
      </p:sp>
      <p:sp>
        <p:nvSpPr>
          <p:cNvPr name="TextBox 4" id="4"/>
          <p:cNvSpPr txBox="true"/>
          <p:nvPr/>
        </p:nvSpPr>
        <p:spPr>
          <a:xfrm rot="0">
            <a:off x="2711073" y="1681162"/>
            <a:ext cx="12865854" cy="700405"/>
          </a:xfrm>
          <a:prstGeom prst="rect">
            <a:avLst/>
          </a:prstGeom>
        </p:spPr>
        <p:txBody>
          <a:bodyPr anchor="t" rtlCol="false" tIns="0" lIns="0" bIns="0" rIns="0">
            <a:spAutoFit/>
          </a:bodyPr>
          <a:lstStyle/>
          <a:p>
            <a:pPr algn="ctr" marL="0" indent="0" lvl="1">
              <a:lnSpc>
                <a:spcPts val="5000"/>
              </a:lnSpc>
            </a:pPr>
            <a:r>
              <a:rPr lang="en-US" b="true" sz="5000" spc="-100">
                <a:solidFill>
                  <a:srgbClr val="2E2C2B"/>
                </a:solidFill>
                <a:latin typeface="Hagrid Ultra-Bold"/>
                <a:ea typeface="Hagrid Ultra-Bold"/>
                <a:cs typeface="Hagrid Ultra-Bold"/>
                <a:sym typeface="Hagrid Ultra-Bold"/>
              </a:rPr>
              <a:t>RUMUSAN MASALAH</a:t>
            </a:r>
          </a:p>
        </p:txBody>
      </p:sp>
      <p:sp>
        <p:nvSpPr>
          <p:cNvPr name="TextBox 5" id="5"/>
          <p:cNvSpPr txBox="true"/>
          <p:nvPr/>
        </p:nvSpPr>
        <p:spPr>
          <a:xfrm rot="0">
            <a:off x="2144041" y="276932"/>
            <a:ext cx="7234755" cy="361950"/>
          </a:xfrm>
          <a:prstGeom prst="rect">
            <a:avLst/>
          </a:prstGeom>
        </p:spPr>
        <p:txBody>
          <a:bodyPr anchor="t" rtlCol="false" tIns="0" lIns="0" bIns="0" rIns="0">
            <a:spAutoFit/>
          </a:bodyPr>
          <a:lstStyle/>
          <a:p>
            <a:pPr algn="l" marL="0" indent="0" lvl="0">
              <a:lnSpc>
                <a:spcPts val="2847"/>
              </a:lnSpc>
              <a:spcBef>
                <a:spcPct val="0"/>
              </a:spcBef>
            </a:pPr>
            <a:r>
              <a:rPr lang="en-US" sz="2372">
                <a:solidFill>
                  <a:srgbClr val="2E2C2B"/>
                </a:solidFill>
                <a:latin typeface="Gotham"/>
                <a:ea typeface="Gotham"/>
                <a:cs typeface="Gotham"/>
                <a:sym typeface="Gotham"/>
              </a:rPr>
              <a:t>POLITEK</a:t>
            </a:r>
            <a:r>
              <a:rPr lang="en-US" sz="2372" strike="noStrike" u="none">
                <a:solidFill>
                  <a:srgbClr val="2E2C2B"/>
                </a:solidFill>
                <a:latin typeface="Gotham"/>
                <a:ea typeface="Gotham"/>
                <a:cs typeface="Gotham"/>
                <a:sym typeface="Gotham"/>
              </a:rPr>
              <a:t>NIK NEGERI LHOKSEUMAWE</a:t>
            </a:r>
          </a:p>
        </p:txBody>
      </p:sp>
      <p:sp>
        <p:nvSpPr>
          <p:cNvPr name="Freeform 6" id="6"/>
          <p:cNvSpPr/>
          <p:nvPr/>
        </p:nvSpPr>
        <p:spPr>
          <a:xfrm flipH="false" flipV="true" rot="0">
            <a:off x="17259300" y="9258300"/>
            <a:ext cx="820968" cy="820968"/>
          </a:xfrm>
          <a:custGeom>
            <a:avLst/>
            <a:gdLst/>
            <a:ahLst/>
            <a:cxnLst/>
            <a:rect r="r" b="b" t="t" l="l"/>
            <a:pathLst>
              <a:path h="820968" w="820968">
                <a:moveTo>
                  <a:pt x="0" y="820968"/>
                </a:moveTo>
                <a:lnTo>
                  <a:pt x="820968" y="820968"/>
                </a:lnTo>
                <a:lnTo>
                  <a:pt x="820968" y="0"/>
                </a:lnTo>
                <a:lnTo>
                  <a:pt x="0" y="0"/>
                </a:lnTo>
                <a:lnTo>
                  <a:pt x="0" y="820968"/>
                </a:lnTo>
                <a:close/>
              </a:path>
            </a:pathLst>
          </a:custGeom>
          <a:blipFill>
            <a:blip r:embed="rId2">
              <a:extLst>
                <a:ext uri="{96DAC541-7B7A-43D3-8B79-37D633B846F1}">
                  <asvg:svgBlip xmlns:asvg="http://schemas.microsoft.com/office/drawing/2016/SVG/main" r:embed="rId3"/>
                </a:ext>
              </a:extLst>
            </a:blip>
            <a:stretch>
              <a:fillRect l="0" t="0" r="0" b="0"/>
            </a:stretch>
          </a:blipFill>
          <a:ln cap="sq">
            <a:noFill/>
            <a:prstDash val="solid"/>
            <a:miter/>
          </a:ln>
        </p:spPr>
      </p:sp>
      <p:sp>
        <p:nvSpPr>
          <p:cNvPr name="Freeform 7" id="7"/>
          <p:cNvSpPr/>
          <p:nvPr/>
        </p:nvSpPr>
        <p:spPr>
          <a:xfrm flipH="false" flipV="false" rot="0">
            <a:off x="1028700" y="44062"/>
            <a:ext cx="863108" cy="837215"/>
          </a:xfrm>
          <a:custGeom>
            <a:avLst/>
            <a:gdLst/>
            <a:ahLst/>
            <a:cxnLst/>
            <a:rect r="r" b="b" t="t" l="l"/>
            <a:pathLst>
              <a:path h="837215" w="863108">
                <a:moveTo>
                  <a:pt x="0" y="0"/>
                </a:moveTo>
                <a:lnTo>
                  <a:pt x="863108" y="0"/>
                </a:lnTo>
                <a:lnTo>
                  <a:pt x="863108" y="837215"/>
                </a:lnTo>
                <a:lnTo>
                  <a:pt x="0" y="837215"/>
                </a:lnTo>
                <a:lnTo>
                  <a:pt x="0" y="0"/>
                </a:lnTo>
                <a:close/>
              </a:path>
            </a:pathLst>
          </a:custGeom>
          <a:blipFill>
            <a:blip r:embed="rId4"/>
            <a:stretch>
              <a:fillRect l="0" t="0" r="0" b="0"/>
            </a:stretch>
          </a:blipFill>
        </p:spPr>
      </p:sp>
      <p:sp>
        <p:nvSpPr>
          <p:cNvPr name="TextBox 8" id="8"/>
          <p:cNvSpPr txBox="true"/>
          <p:nvPr/>
        </p:nvSpPr>
        <p:spPr>
          <a:xfrm rot="0">
            <a:off x="1069172" y="3210243"/>
            <a:ext cx="1197290" cy="1076325"/>
          </a:xfrm>
          <a:prstGeom prst="rect">
            <a:avLst/>
          </a:prstGeom>
        </p:spPr>
        <p:txBody>
          <a:bodyPr anchor="t" rtlCol="false" tIns="0" lIns="0" bIns="0" rIns="0">
            <a:spAutoFit/>
          </a:bodyPr>
          <a:lstStyle/>
          <a:p>
            <a:pPr algn="r">
              <a:lnSpc>
                <a:spcPts val="8400"/>
              </a:lnSpc>
            </a:pPr>
            <a:r>
              <a:rPr lang="en-US" sz="6000" b="true">
                <a:solidFill>
                  <a:srgbClr val="BC1823"/>
                </a:solidFill>
                <a:latin typeface="Hagrid Ultra-Bold"/>
                <a:ea typeface="Hagrid Ultra-Bold"/>
                <a:cs typeface="Hagrid Ultra-Bold"/>
                <a:sym typeface="Hagrid Ultra-Bold"/>
              </a:rPr>
              <a:t>01.</a:t>
            </a:r>
          </a:p>
        </p:txBody>
      </p:sp>
      <p:sp>
        <p:nvSpPr>
          <p:cNvPr name="TextBox 9" id="9"/>
          <p:cNvSpPr txBox="true"/>
          <p:nvPr/>
        </p:nvSpPr>
        <p:spPr>
          <a:xfrm rot="0">
            <a:off x="743488" y="5186757"/>
            <a:ext cx="1522974" cy="1076325"/>
          </a:xfrm>
          <a:prstGeom prst="rect">
            <a:avLst/>
          </a:prstGeom>
        </p:spPr>
        <p:txBody>
          <a:bodyPr anchor="t" rtlCol="false" tIns="0" lIns="0" bIns="0" rIns="0">
            <a:spAutoFit/>
          </a:bodyPr>
          <a:lstStyle/>
          <a:p>
            <a:pPr algn="r">
              <a:lnSpc>
                <a:spcPts val="8400"/>
              </a:lnSpc>
            </a:pPr>
            <a:r>
              <a:rPr lang="en-US" sz="6000" b="true">
                <a:solidFill>
                  <a:srgbClr val="BC1823"/>
                </a:solidFill>
                <a:latin typeface="Hagrid Ultra-Bold"/>
                <a:ea typeface="Hagrid Ultra-Bold"/>
                <a:cs typeface="Hagrid Ultra-Bold"/>
                <a:sym typeface="Hagrid Ultra-Bold"/>
              </a:rPr>
              <a:t>02.</a:t>
            </a:r>
          </a:p>
        </p:txBody>
      </p:sp>
      <p:sp>
        <p:nvSpPr>
          <p:cNvPr name="TextBox 10" id="10"/>
          <p:cNvSpPr txBox="true"/>
          <p:nvPr/>
        </p:nvSpPr>
        <p:spPr>
          <a:xfrm rot="0">
            <a:off x="743488" y="7723023"/>
            <a:ext cx="1522974" cy="1076325"/>
          </a:xfrm>
          <a:prstGeom prst="rect">
            <a:avLst/>
          </a:prstGeom>
        </p:spPr>
        <p:txBody>
          <a:bodyPr anchor="t" rtlCol="false" tIns="0" lIns="0" bIns="0" rIns="0">
            <a:spAutoFit/>
          </a:bodyPr>
          <a:lstStyle/>
          <a:p>
            <a:pPr algn="r">
              <a:lnSpc>
                <a:spcPts val="8400"/>
              </a:lnSpc>
            </a:pPr>
            <a:r>
              <a:rPr lang="en-US" sz="6000" b="true">
                <a:solidFill>
                  <a:srgbClr val="BC1823"/>
                </a:solidFill>
                <a:latin typeface="Hagrid Ultra-Bold"/>
                <a:ea typeface="Hagrid Ultra-Bold"/>
                <a:cs typeface="Hagrid Ultra-Bold"/>
                <a:sym typeface="Hagrid Ultra-Bold"/>
              </a:rPr>
              <a:t>03.</a:t>
            </a:r>
          </a:p>
        </p:txBody>
      </p:sp>
      <p:sp>
        <p:nvSpPr>
          <p:cNvPr name="TextBox 11" id="11"/>
          <p:cNvSpPr txBox="true"/>
          <p:nvPr/>
        </p:nvSpPr>
        <p:spPr>
          <a:xfrm rot="0">
            <a:off x="2711073" y="3267393"/>
            <a:ext cx="14548227" cy="1481214"/>
          </a:xfrm>
          <a:prstGeom prst="rect">
            <a:avLst/>
          </a:prstGeom>
        </p:spPr>
        <p:txBody>
          <a:bodyPr anchor="t" rtlCol="false" tIns="0" lIns="0" bIns="0" rIns="0">
            <a:spAutoFit/>
          </a:bodyPr>
          <a:lstStyle/>
          <a:p>
            <a:pPr algn="just" marL="0" indent="0" lvl="0">
              <a:lnSpc>
                <a:spcPts val="3933"/>
              </a:lnSpc>
              <a:spcBef>
                <a:spcPct val="0"/>
              </a:spcBef>
            </a:pPr>
            <a:r>
              <a:rPr lang="en-US" sz="2809">
                <a:solidFill>
                  <a:srgbClr val="2E2C2B"/>
                </a:solidFill>
                <a:latin typeface="Gotham"/>
                <a:ea typeface="Gotham"/>
                <a:cs typeface="Gotham"/>
                <a:sym typeface="Gotham"/>
              </a:rPr>
              <a:t>Bag</a:t>
            </a:r>
            <a:r>
              <a:rPr lang="en-US" sz="2809" strike="noStrike" u="none">
                <a:solidFill>
                  <a:srgbClr val="2E2C2B"/>
                </a:solidFill>
                <a:latin typeface="Gotham"/>
                <a:ea typeface="Gotham"/>
                <a:cs typeface="Gotham"/>
                <a:sym typeface="Gotham"/>
              </a:rPr>
              <a:t>aimana merancang dan membangun aplikasi Point of Sale yang mengintegrasikan fitur prediksi penjualan harian ke dalam alur kerja transaksi, sehingga hasil peramalan dapat langsung dimanfaatkan oleh pengelola usaha?</a:t>
            </a:r>
          </a:p>
        </p:txBody>
      </p:sp>
      <p:sp>
        <p:nvSpPr>
          <p:cNvPr name="TextBox 12" id="12"/>
          <p:cNvSpPr txBox="true"/>
          <p:nvPr/>
        </p:nvSpPr>
        <p:spPr>
          <a:xfrm rot="0">
            <a:off x="2751106" y="5243907"/>
            <a:ext cx="14508194" cy="1976514"/>
          </a:xfrm>
          <a:prstGeom prst="rect">
            <a:avLst/>
          </a:prstGeom>
        </p:spPr>
        <p:txBody>
          <a:bodyPr anchor="t" rtlCol="false" tIns="0" lIns="0" bIns="0" rIns="0">
            <a:spAutoFit/>
          </a:bodyPr>
          <a:lstStyle/>
          <a:p>
            <a:pPr algn="just" marL="0" indent="0" lvl="0">
              <a:lnSpc>
                <a:spcPts val="3933"/>
              </a:lnSpc>
              <a:spcBef>
                <a:spcPct val="0"/>
              </a:spcBef>
            </a:pPr>
            <a:r>
              <a:rPr lang="en-US" sz="2809">
                <a:solidFill>
                  <a:srgbClr val="2E2C2B"/>
                </a:solidFill>
                <a:latin typeface="Gotham"/>
                <a:ea typeface="Gotham"/>
                <a:cs typeface="Gotham"/>
                <a:sym typeface="Gotham"/>
              </a:rPr>
              <a:t>Bagaimana menerap</a:t>
            </a:r>
            <a:r>
              <a:rPr lang="en-US" sz="2809" strike="noStrike" u="none">
                <a:solidFill>
                  <a:srgbClr val="2E2C2B"/>
                </a:solidFill>
                <a:latin typeface="Gotham"/>
                <a:ea typeface="Gotham"/>
                <a:cs typeface="Gotham"/>
                <a:sym typeface="Gotham"/>
              </a:rPr>
              <a:t>kan model Long Short-Term Memory untuk memprediksi penjualan harian pada dataset EatsTEDI yang berjumlah 313 titik pengamatan, serta bagaimana pengaruh augmentasi data sintetis TimeGAN terhadap akurasi model tersebut?</a:t>
            </a:r>
          </a:p>
        </p:txBody>
      </p:sp>
      <p:sp>
        <p:nvSpPr>
          <p:cNvPr name="TextBox 13" id="13"/>
          <p:cNvSpPr txBox="true"/>
          <p:nvPr/>
        </p:nvSpPr>
        <p:spPr>
          <a:xfrm rot="0">
            <a:off x="2751106" y="7780173"/>
            <a:ext cx="14508194" cy="1481214"/>
          </a:xfrm>
          <a:prstGeom prst="rect">
            <a:avLst/>
          </a:prstGeom>
        </p:spPr>
        <p:txBody>
          <a:bodyPr anchor="t" rtlCol="false" tIns="0" lIns="0" bIns="0" rIns="0">
            <a:spAutoFit/>
          </a:bodyPr>
          <a:lstStyle/>
          <a:p>
            <a:pPr algn="just" marL="0" indent="0" lvl="0">
              <a:lnSpc>
                <a:spcPts val="3933"/>
              </a:lnSpc>
              <a:spcBef>
                <a:spcPct val="0"/>
              </a:spcBef>
            </a:pPr>
            <a:r>
              <a:rPr lang="en-US" sz="2809">
                <a:solidFill>
                  <a:srgbClr val="2E2C2B"/>
                </a:solidFill>
                <a:latin typeface="Gotham"/>
                <a:ea typeface="Gotham"/>
                <a:cs typeface="Gotham"/>
                <a:sym typeface="Gotham"/>
              </a:rPr>
              <a:t>Bagaimana tingkat a</a:t>
            </a:r>
            <a:r>
              <a:rPr lang="en-US" sz="2809" strike="noStrike" u="none">
                <a:solidFill>
                  <a:srgbClr val="2E2C2B"/>
                </a:solidFill>
                <a:latin typeface="Gotham"/>
                <a:ea typeface="Gotham"/>
                <a:cs typeface="Gotham"/>
                <a:sym typeface="Gotham"/>
              </a:rPr>
              <a:t>kurasi model Long Short-Term Memory dibandingkan terhadap baseline seasonal-naive pada beberapa horizon peramalan?</a:t>
            </a:r>
          </a:p>
          <a:p>
            <a:pPr algn="just" marL="0" indent="0" lvl="0">
              <a:lnSpc>
                <a:spcPts val="3933"/>
              </a:lnSpc>
              <a:spcBef>
                <a:spcPct val="0"/>
              </a:spcBef>
            </a:pP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EEF1F1"/>
        </a:solidFill>
      </p:bgPr>
    </p:bg>
    <p:spTree>
      <p:nvGrpSpPr>
        <p:cNvPr id="1" name=""/>
        <p:cNvGrpSpPr/>
        <p:nvPr/>
      </p:nvGrpSpPr>
      <p:grpSpPr>
        <a:xfrm>
          <a:off x="0" y="0"/>
          <a:ext cx="0" cy="0"/>
          <a:chOff x="0" y="0"/>
          <a:chExt cx="0" cy="0"/>
        </a:xfrm>
      </p:grpSpPr>
      <p:sp>
        <p:nvSpPr>
          <p:cNvPr name="AutoShape 2" id="2"/>
          <p:cNvSpPr/>
          <p:nvPr/>
        </p:nvSpPr>
        <p:spPr>
          <a:xfrm>
            <a:off x="1028700" y="1019175"/>
            <a:ext cx="16230600" cy="0"/>
          </a:xfrm>
          <a:prstGeom prst="line">
            <a:avLst/>
          </a:prstGeom>
          <a:ln cap="flat" w="19050">
            <a:solidFill>
              <a:srgbClr val="2E2C2B"/>
            </a:solidFill>
            <a:prstDash val="solid"/>
            <a:headEnd type="none" len="sm" w="sm"/>
            <a:tailEnd type="none" len="sm" w="sm"/>
          </a:ln>
        </p:spPr>
      </p:sp>
      <p:sp>
        <p:nvSpPr>
          <p:cNvPr name="TextBox 3" id="3"/>
          <p:cNvSpPr txBox="true"/>
          <p:nvPr/>
        </p:nvSpPr>
        <p:spPr>
          <a:xfrm rot="0">
            <a:off x="16332192" y="25115"/>
            <a:ext cx="1144270" cy="792481"/>
          </a:xfrm>
          <a:prstGeom prst="rect">
            <a:avLst/>
          </a:prstGeom>
        </p:spPr>
        <p:txBody>
          <a:bodyPr anchor="t" rtlCol="false" tIns="0" lIns="0" bIns="0" rIns="0">
            <a:spAutoFit/>
          </a:bodyPr>
          <a:lstStyle/>
          <a:p>
            <a:pPr algn="r">
              <a:lnSpc>
                <a:spcPts val="6299"/>
              </a:lnSpc>
            </a:pPr>
            <a:r>
              <a:rPr lang="en-US" b="true" sz="4499">
                <a:solidFill>
                  <a:srgbClr val="D0A175"/>
                </a:solidFill>
                <a:latin typeface="Hagrid Ultra-Bold"/>
                <a:ea typeface="Hagrid Ultra-Bold"/>
                <a:cs typeface="Hagrid Ultra-Bold"/>
                <a:sym typeface="Hagrid Ultra-Bold"/>
              </a:rPr>
              <a:t>04</a:t>
            </a:r>
          </a:p>
        </p:txBody>
      </p:sp>
      <p:sp>
        <p:nvSpPr>
          <p:cNvPr name="TextBox 4" id="4"/>
          <p:cNvSpPr txBox="true"/>
          <p:nvPr/>
        </p:nvSpPr>
        <p:spPr>
          <a:xfrm rot="0">
            <a:off x="2711073" y="1681162"/>
            <a:ext cx="12865854" cy="700405"/>
          </a:xfrm>
          <a:prstGeom prst="rect">
            <a:avLst/>
          </a:prstGeom>
        </p:spPr>
        <p:txBody>
          <a:bodyPr anchor="t" rtlCol="false" tIns="0" lIns="0" bIns="0" rIns="0">
            <a:spAutoFit/>
          </a:bodyPr>
          <a:lstStyle/>
          <a:p>
            <a:pPr algn="ctr" marL="0" indent="0" lvl="1">
              <a:lnSpc>
                <a:spcPts val="5000"/>
              </a:lnSpc>
            </a:pPr>
            <a:r>
              <a:rPr lang="en-US" b="true" sz="5000" spc="-100">
                <a:solidFill>
                  <a:srgbClr val="2E2C2B"/>
                </a:solidFill>
                <a:latin typeface="Hagrid Ultra-Bold"/>
                <a:ea typeface="Hagrid Ultra-Bold"/>
                <a:cs typeface="Hagrid Ultra-Bold"/>
                <a:sym typeface="Hagrid Ultra-Bold"/>
              </a:rPr>
              <a:t>TUJUAN PENELITIAN</a:t>
            </a:r>
          </a:p>
        </p:txBody>
      </p:sp>
      <p:sp>
        <p:nvSpPr>
          <p:cNvPr name="TextBox 5" id="5"/>
          <p:cNvSpPr txBox="true"/>
          <p:nvPr/>
        </p:nvSpPr>
        <p:spPr>
          <a:xfrm rot="0">
            <a:off x="2144041" y="276932"/>
            <a:ext cx="7234755" cy="361950"/>
          </a:xfrm>
          <a:prstGeom prst="rect">
            <a:avLst/>
          </a:prstGeom>
        </p:spPr>
        <p:txBody>
          <a:bodyPr anchor="t" rtlCol="false" tIns="0" lIns="0" bIns="0" rIns="0">
            <a:spAutoFit/>
          </a:bodyPr>
          <a:lstStyle/>
          <a:p>
            <a:pPr algn="l" marL="0" indent="0" lvl="0">
              <a:lnSpc>
                <a:spcPts val="2847"/>
              </a:lnSpc>
              <a:spcBef>
                <a:spcPct val="0"/>
              </a:spcBef>
            </a:pPr>
            <a:r>
              <a:rPr lang="en-US" sz="2372">
                <a:solidFill>
                  <a:srgbClr val="2E2C2B"/>
                </a:solidFill>
                <a:latin typeface="Gotham"/>
                <a:ea typeface="Gotham"/>
                <a:cs typeface="Gotham"/>
                <a:sym typeface="Gotham"/>
              </a:rPr>
              <a:t>POLITEK</a:t>
            </a:r>
            <a:r>
              <a:rPr lang="en-US" sz="2372" strike="noStrike" u="none">
                <a:solidFill>
                  <a:srgbClr val="2E2C2B"/>
                </a:solidFill>
                <a:latin typeface="Gotham"/>
                <a:ea typeface="Gotham"/>
                <a:cs typeface="Gotham"/>
                <a:sym typeface="Gotham"/>
              </a:rPr>
              <a:t>NIK NEGERI LHOKSEUMAWE</a:t>
            </a:r>
          </a:p>
        </p:txBody>
      </p:sp>
      <p:sp>
        <p:nvSpPr>
          <p:cNvPr name="Freeform 6" id="6"/>
          <p:cNvSpPr/>
          <p:nvPr/>
        </p:nvSpPr>
        <p:spPr>
          <a:xfrm flipH="false" flipV="true" rot="0">
            <a:off x="17259300" y="9258300"/>
            <a:ext cx="820968" cy="820968"/>
          </a:xfrm>
          <a:custGeom>
            <a:avLst/>
            <a:gdLst/>
            <a:ahLst/>
            <a:cxnLst/>
            <a:rect r="r" b="b" t="t" l="l"/>
            <a:pathLst>
              <a:path h="820968" w="820968">
                <a:moveTo>
                  <a:pt x="0" y="820968"/>
                </a:moveTo>
                <a:lnTo>
                  <a:pt x="820968" y="820968"/>
                </a:lnTo>
                <a:lnTo>
                  <a:pt x="820968" y="0"/>
                </a:lnTo>
                <a:lnTo>
                  <a:pt x="0" y="0"/>
                </a:lnTo>
                <a:lnTo>
                  <a:pt x="0" y="820968"/>
                </a:lnTo>
                <a:close/>
              </a:path>
            </a:pathLst>
          </a:custGeom>
          <a:blipFill>
            <a:blip r:embed="rId2">
              <a:extLst>
                <a:ext uri="{96DAC541-7B7A-43D3-8B79-37D633B846F1}">
                  <asvg:svgBlip xmlns:asvg="http://schemas.microsoft.com/office/drawing/2016/SVG/main" r:embed="rId3"/>
                </a:ext>
              </a:extLst>
            </a:blip>
            <a:stretch>
              <a:fillRect l="0" t="0" r="0" b="0"/>
            </a:stretch>
          </a:blipFill>
          <a:ln cap="sq">
            <a:noFill/>
            <a:prstDash val="solid"/>
            <a:miter/>
          </a:ln>
        </p:spPr>
      </p:sp>
      <p:sp>
        <p:nvSpPr>
          <p:cNvPr name="Freeform 7" id="7"/>
          <p:cNvSpPr/>
          <p:nvPr/>
        </p:nvSpPr>
        <p:spPr>
          <a:xfrm flipH="false" flipV="false" rot="0">
            <a:off x="1028700" y="44062"/>
            <a:ext cx="863108" cy="837215"/>
          </a:xfrm>
          <a:custGeom>
            <a:avLst/>
            <a:gdLst/>
            <a:ahLst/>
            <a:cxnLst/>
            <a:rect r="r" b="b" t="t" l="l"/>
            <a:pathLst>
              <a:path h="837215" w="863108">
                <a:moveTo>
                  <a:pt x="0" y="0"/>
                </a:moveTo>
                <a:lnTo>
                  <a:pt x="863108" y="0"/>
                </a:lnTo>
                <a:lnTo>
                  <a:pt x="863108" y="837215"/>
                </a:lnTo>
                <a:lnTo>
                  <a:pt x="0" y="837215"/>
                </a:lnTo>
                <a:lnTo>
                  <a:pt x="0" y="0"/>
                </a:lnTo>
                <a:close/>
              </a:path>
            </a:pathLst>
          </a:custGeom>
          <a:blipFill>
            <a:blip r:embed="rId4"/>
            <a:stretch>
              <a:fillRect l="0" t="0" r="0" b="0"/>
            </a:stretch>
          </a:blipFill>
        </p:spPr>
      </p:sp>
      <p:sp>
        <p:nvSpPr>
          <p:cNvPr name="TextBox 8" id="8"/>
          <p:cNvSpPr txBox="true"/>
          <p:nvPr/>
        </p:nvSpPr>
        <p:spPr>
          <a:xfrm rot="0">
            <a:off x="1069172" y="3210243"/>
            <a:ext cx="1197290" cy="1076325"/>
          </a:xfrm>
          <a:prstGeom prst="rect">
            <a:avLst/>
          </a:prstGeom>
        </p:spPr>
        <p:txBody>
          <a:bodyPr anchor="t" rtlCol="false" tIns="0" lIns="0" bIns="0" rIns="0">
            <a:spAutoFit/>
          </a:bodyPr>
          <a:lstStyle/>
          <a:p>
            <a:pPr algn="r">
              <a:lnSpc>
                <a:spcPts val="8400"/>
              </a:lnSpc>
            </a:pPr>
            <a:r>
              <a:rPr lang="en-US" sz="6000" b="true">
                <a:solidFill>
                  <a:srgbClr val="BC1823"/>
                </a:solidFill>
                <a:latin typeface="Hagrid Ultra-Bold"/>
                <a:ea typeface="Hagrid Ultra-Bold"/>
                <a:cs typeface="Hagrid Ultra-Bold"/>
                <a:sym typeface="Hagrid Ultra-Bold"/>
              </a:rPr>
              <a:t>01.</a:t>
            </a:r>
          </a:p>
        </p:txBody>
      </p:sp>
      <p:sp>
        <p:nvSpPr>
          <p:cNvPr name="TextBox 9" id="9"/>
          <p:cNvSpPr txBox="true"/>
          <p:nvPr/>
        </p:nvSpPr>
        <p:spPr>
          <a:xfrm rot="0">
            <a:off x="1028700" y="5405832"/>
            <a:ext cx="1522974" cy="1076325"/>
          </a:xfrm>
          <a:prstGeom prst="rect">
            <a:avLst/>
          </a:prstGeom>
        </p:spPr>
        <p:txBody>
          <a:bodyPr anchor="t" rtlCol="false" tIns="0" lIns="0" bIns="0" rIns="0">
            <a:spAutoFit/>
          </a:bodyPr>
          <a:lstStyle/>
          <a:p>
            <a:pPr algn="r">
              <a:lnSpc>
                <a:spcPts val="8400"/>
              </a:lnSpc>
            </a:pPr>
            <a:r>
              <a:rPr lang="en-US" sz="6000" b="true">
                <a:solidFill>
                  <a:srgbClr val="BC1823"/>
                </a:solidFill>
                <a:latin typeface="Hagrid Ultra-Bold"/>
                <a:ea typeface="Hagrid Ultra-Bold"/>
                <a:cs typeface="Hagrid Ultra-Bold"/>
                <a:sym typeface="Hagrid Ultra-Bold"/>
              </a:rPr>
              <a:t>02.</a:t>
            </a:r>
          </a:p>
        </p:txBody>
      </p:sp>
      <p:sp>
        <p:nvSpPr>
          <p:cNvPr name="TextBox 10" id="10"/>
          <p:cNvSpPr txBox="true"/>
          <p:nvPr/>
        </p:nvSpPr>
        <p:spPr>
          <a:xfrm rot="0">
            <a:off x="2711073" y="3267393"/>
            <a:ext cx="14548227" cy="1481214"/>
          </a:xfrm>
          <a:prstGeom prst="rect">
            <a:avLst/>
          </a:prstGeom>
        </p:spPr>
        <p:txBody>
          <a:bodyPr anchor="t" rtlCol="false" tIns="0" lIns="0" bIns="0" rIns="0">
            <a:spAutoFit/>
          </a:bodyPr>
          <a:lstStyle/>
          <a:p>
            <a:pPr algn="just" marL="0" indent="0" lvl="0">
              <a:lnSpc>
                <a:spcPts val="3933"/>
              </a:lnSpc>
              <a:spcBef>
                <a:spcPct val="0"/>
              </a:spcBef>
            </a:pPr>
            <a:r>
              <a:rPr lang="en-US" sz="2809">
                <a:solidFill>
                  <a:srgbClr val="2E2C2B"/>
                </a:solidFill>
                <a:latin typeface="Gotham"/>
                <a:ea typeface="Gotham"/>
                <a:cs typeface="Gotham"/>
                <a:sym typeface="Gotham"/>
              </a:rPr>
              <a:t>M</a:t>
            </a:r>
            <a:r>
              <a:rPr lang="en-US" sz="2809" strike="noStrike" u="none">
                <a:solidFill>
                  <a:srgbClr val="2E2C2B"/>
                </a:solidFill>
                <a:latin typeface="Gotham"/>
                <a:ea typeface="Gotham"/>
                <a:cs typeface="Gotham"/>
                <a:sym typeface="Gotham"/>
              </a:rPr>
              <a:t>erancang dan membangun aplikasi Point of Sale berbasis mobile yang mengintegrasikan fitur prediksi penjualan harian ke dalam alur kerja transaksi, serta menguji fungsionalitasnya melalui pengujian sistem.</a:t>
            </a:r>
          </a:p>
        </p:txBody>
      </p:sp>
      <p:sp>
        <p:nvSpPr>
          <p:cNvPr name="TextBox 11" id="11"/>
          <p:cNvSpPr txBox="true"/>
          <p:nvPr/>
        </p:nvSpPr>
        <p:spPr>
          <a:xfrm rot="0">
            <a:off x="2751106" y="5462982"/>
            <a:ext cx="14508194" cy="1481214"/>
          </a:xfrm>
          <a:prstGeom prst="rect">
            <a:avLst/>
          </a:prstGeom>
        </p:spPr>
        <p:txBody>
          <a:bodyPr anchor="t" rtlCol="false" tIns="0" lIns="0" bIns="0" rIns="0">
            <a:spAutoFit/>
          </a:bodyPr>
          <a:lstStyle/>
          <a:p>
            <a:pPr algn="just" marL="0" indent="0" lvl="0">
              <a:lnSpc>
                <a:spcPts val="3933"/>
              </a:lnSpc>
              <a:spcBef>
                <a:spcPct val="0"/>
              </a:spcBef>
            </a:pPr>
            <a:r>
              <a:rPr lang="en-US" sz="2809">
                <a:solidFill>
                  <a:srgbClr val="2E2C2B"/>
                </a:solidFill>
                <a:latin typeface="Gotham"/>
                <a:ea typeface="Gotham"/>
                <a:cs typeface="Gotham"/>
                <a:sym typeface="Gotham"/>
              </a:rPr>
              <a:t>Menerap</a:t>
            </a:r>
            <a:r>
              <a:rPr lang="en-US" sz="2809" strike="noStrike" u="none">
                <a:solidFill>
                  <a:srgbClr val="2E2C2B"/>
                </a:solidFill>
                <a:latin typeface="Gotham"/>
                <a:ea typeface="Gotham"/>
                <a:cs typeface="Gotham"/>
                <a:sym typeface="Gotham"/>
              </a:rPr>
              <a:t>kan model Long Short-Term Memory untuk prediksi penjualan harian pada dataset EatsTEDI dan menganalisis pengaruh augmentasi data sintetis TimeGAN pada kondisi data pelatihan terbatas.</a:t>
            </a:r>
          </a:p>
        </p:txBody>
      </p:sp>
      <p:sp>
        <p:nvSpPr>
          <p:cNvPr name="TextBox 12" id="12"/>
          <p:cNvSpPr txBox="true"/>
          <p:nvPr/>
        </p:nvSpPr>
        <p:spPr>
          <a:xfrm rot="0">
            <a:off x="1028700" y="7606107"/>
            <a:ext cx="1522974" cy="1076325"/>
          </a:xfrm>
          <a:prstGeom prst="rect">
            <a:avLst/>
          </a:prstGeom>
        </p:spPr>
        <p:txBody>
          <a:bodyPr anchor="t" rtlCol="false" tIns="0" lIns="0" bIns="0" rIns="0">
            <a:spAutoFit/>
          </a:bodyPr>
          <a:lstStyle/>
          <a:p>
            <a:pPr algn="r">
              <a:lnSpc>
                <a:spcPts val="8400"/>
              </a:lnSpc>
            </a:pPr>
            <a:r>
              <a:rPr lang="en-US" sz="6000" b="true">
                <a:solidFill>
                  <a:srgbClr val="BC1823"/>
                </a:solidFill>
                <a:latin typeface="Hagrid Ultra-Bold"/>
                <a:ea typeface="Hagrid Ultra-Bold"/>
                <a:cs typeface="Hagrid Ultra-Bold"/>
                <a:sym typeface="Hagrid Ultra-Bold"/>
              </a:rPr>
              <a:t>03.</a:t>
            </a:r>
          </a:p>
        </p:txBody>
      </p:sp>
      <p:sp>
        <p:nvSpPr>
          <p:cNvPr name="TextBox 13" id="13"/>
          <p:cNvSpPr txBox="true"/>
          <p:nvPr/>
        </p:nvSpPr>
        <p:spPr>
          <a:xfrm rot="0">
            <a:off x="2711073" y="7777086"/>
            <a:ext cx="14508194" cy="1481214"/>
          </a:xfrm>
          <a:prstGeom prst="rect">
            <a:avLst/>
          </a:prstGeom>
        </p:spPr>
        <p:txBody>
          <a:bodyPr anchor="t" rtlCol="false" tIns="0" lIns="0" bIns="0" rIns="0">
            <a:spAutoFit/>
          </a:bodyPr>
          <a:lstStyle/>
          <a:p>
            <a:pPr algn="just" marL="0" indent="0" lvl="0">
              <a:lnSpc>
                <a:spcPts val="3933"/>
              </a:lnSpc>
              <a:spcBef>
                <a:spcPct val="0"/>
              </a:spcBef>
            </a:pPr>
            <a:r>
              <a:rPr lang="en-US" sz="2809">
                <a:solidFill>
                  <a:srgbClr val="2E2C2B"/>
                </a:solidFill>
                <a:latin typeface="Gotham"/>
                <a:ea typeface="Gotham"/>
                <a:cs typeface="Gotham"/>
                <a:sym typeface="Gotham"/>
              </a:rPr>
              <a:t>Mengukur a</a:t>
            </a:r>
            <a:r>
              <a:rPr lang="en-US" sz="2809" strike="noStrike" u="none">
                <a:solidFill>
                  <a:srgbClr val="2E2C2B"/>
                </a:solidFill>
                <a:latin typeface="Gotham"/>
                <a:ea typeface="Gotham"/>
                <a:cs typeface="Gotham"/>
                <a:sym typeface="Gotham"/>
              </a:rPr>
              <a:t>kurasi LSTM terhadap baseline seasonal-naive pada beberapa horizon peramalan, guna menghasilkan rekomendasi kelayakan penerapan deep learning pada usaha kuliner berskala kecil.</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EEF1F1"/>
        </a:solidFill>
      </p:bgPr>
    </p:bg>
    <p:spTree>
      <p:nvGrpSpPr>
        <p:cNvPr id="1" name=""/>
        <p:cNvGrpSpPr/>
        <p:nvPr/>
      </p:nvGrpSpPr>
      <p:grpSpPr>
        <a:xfrm>
          <a:off x="0" y="0"/>
          <a:ext cx="0" cy="0"/>
          <a:chOff x="0" y="0"/>
          <a:chExt cx="0" cy="0"/>
        </a:xfrm>
      </p:grpSpPr>
      <p:sp>
        <p:nvSpPr>
          <p:cNvPr name="AutoShape 2" id="2"/>
          <p:cNvSpPr/>
          <p:nvPr/>
        </p:nvSpPr>
        <p:spPr>
          <a:xfrm>
            <a:off x="1028700" y="1019175"/>
            <a:ext cx="16230600" cy="0"/>
          </a:xfrm>
          <a:prstGeom prst="line">
            <a:avLst/>
          </a:prstGeom>
          <a:ln cap="flat" w="19050">
            <a:solidFill>
              <a:srgbClr val="2E2C2B"/>
            </a:solidFill>
            <a:prstDash val="solid"/>
            <a:headEnd type="none" len="sm" w="sm"/>
            <a:tailEnd type="none" len="sm" w="sm"/>
          </a:ln>
        </p:spPr>
      </p:sp>
      <p:sp>
        <p:nvSpPr>
          <p:cNvPr name="TextBox 3" id="3"/>
          <p:cNvSpPr txBox="true"/>
          <p:nvPr/>
        </p:nvSpPr>
        <p:spPr>
          <a:xfrm rot="0">
            <a:off x="16332192" y="25115"/>
            <a:ext cx="1144270" cy="792481"/>
          </a:xfrm>
          <a:prstGeom prst="rect">
            <a:avLst/>
          </a:prstGeom>
        </p:spPr>
        <p:txBody>
          <a:bodyPr anchor="t" rtlCol="false" tIns="0" lIns="0" bIns="0" rIns="0">
            <a:spAutoFit/>
          </a:bodyPr>
          <a:lstStyle/>
          <a:p>
            <a:pPr algn="r">
              <a:lnSpc>
                <a:spcPts val="6299"/>
              </a:lnSpc>
            </a:pPr>
            <a:r>
              <a:rPr lang="en-US" b="true" sz="4499">
                <a:solidFill>
                  <a:srgbClr val="D0A175"/>
                </a:solidFill>
                <a:latin typeface="Hagrid Ultra-Bold"/>
                <a:ea typeface="Hagrid Ultra-Bold"/>
                <a:cs typeface="Hagrid Ultra-Bold"/>
                <a:sym typeface="Hagrid Ultra-Bold"/>
              </a:rPr>
              <a:t>05</a:t>
            </a:r>
          </a:p>
        </p:txBody>
      </p:sp>
      <p:sp>
        <p:nvSpPr>
          <p:cNvPr name="TextBox 4" id="4"/>
          <p:cNvSpPr txBox="true"/>
          <p:nvPr/>
        </p:nvSpPr>
        <p:spPr>
          <a:xfrm rot="0">
            <a:off x="2711073" y="1296249"/>
            <a:ext cx="12865854" cy="700405"/>
          </a:xfrm>
          <a:prstGeom prst="rect">
            <a:avLst/>
          </a:prstGeom>
        </p:spPr>
        <p:txBody>
          <a:bodyPr anchor="t" rtlCol="false" tIns="0" lIns="0" bIns="0" rIns="0">
            <a:spAutoFit/>
          </a:bodyPr>
          <a:lstStyle/>
          <a:p>
            <a:pPr algn="ctr" marL="0" indent="0" lvl="1">
              <a:lnSpc>
                <a:spcPts val="5000"/>
              </a:lnSpc>
            </a:pPr>
            <a:r>
              <a:rPr lang="en-US" b="true" sz="5000" spc="-100">
                <a:solidFill>
                  <a:srgbClr val="2E2C2B"/>
                </a:solidFill>
                <a:latin typeface="Hagrid Ultra-Bold"/>
                <a:ea typeface="Hagrid Ultra-Bold"/>
                <a:cs typeface="Hagrid Ultra-Bold"/>
                <a:sym typeface="Hagrid Ultra-Bold"/>
              </a:rPr>
              <a:t>BATASAN MASALAH</a:t>
            </a:r>
          </a:p>
        </p:txBody>
      </p:sp>
      <p:sp>
        <p:nvSpPr>
          <p:cNvPr name="TextBox 5" id="5"/>
          <p:cNvSpPr txBox="true"/>
          <p:nvPr/>
        </p:nvSpPr>
        <p:spPr>
          <a:xfrm rot="0">
            <a:off x="2144041" y="276932"/>
            <a:ext cx="7234755" cy="361950"/>
          </a:xfrm>
          <a:prstGeom prst="rect">
            <a:avLst/>
          </a:prstGeom>
        </p:spPr>
        <p:txBody>
          <a:bodyPr anchor="t" rtlCol="false" tIns="0" lIns="0" bIns="0" rIns="0">
            <a:spAutoFit/>
          </a:bodyPr>
          <a:lstStyle/>
          <a:p>
            <a:pPr algn="l" marL="0" indent="0" lvl="0">
              <a:lnSpc>
                <a:spcPts val="2847"/>
              </a:lnSpc>
              <a:spcBef>
                <a:spcPct val="0"/>
              </a:spcBef>
            </a:pPr>
            <a:r>
              <a:rPr lang="en-US" sz="2372">
                <a:solidFill>
                  <a:srgbClr val="2E2C2B"/>
                </a:solidFill>
                <a:latin typeface="Gotham"/>
                <a:ea typeface="Gotham"/>
                <a:cs typeface="Gotham"/>
                <a:sym typeface="Gotham"/>
              </a:rPr>
              <a:t>POLITEK</a:t>
            </a:r>
            <a:r>
              <a:rPr lang="en-US" sz="2372" strike="noStrike" u="none">
                <a:solidFill>
                  <a:srgbClr val="2E2C2B"/>
                </a:solidFill>
                <a:latin typeface="Gotham"/>
                <a:ea typeface="Gotham"/>
                <a:cs typeface="Gotham"/>
                <a:sym typeface="Gotham"/>
              </a:rPr>
              <a:t>NIK NEGERI LHOKSEUMAWE</a:t>
            </a:r>
          </a:p>
        </p:txBody>
      </p:sp>
      <p:sp>
        <p:nvSpPr>
          <p:cNvPr name="Freeform 6" id="6"/>
          <p:cNvSpPr/>
          <p:nvPr/>
        </p:nvSpPr>
        <p:spPr>
          <a:xfrm flipH="false" flipV="true" rot="0">
            <a:off x="17259300" y="9725025"/>
            <a:ext cx="820968" cy="820968"/>
          </a:xfrm>
          <a:custGeom>
            <a:avLst/>
            <a:gdLst/>
            <a:ahLst/>
            <a:cxnLst/>
            <a:rect r="r" b="b" t="t" l="l"/>
            <a:pathLst>
              <a:path h="820968" w="820968">
                <a:moveTo>
                  <a:pt x="0" y="820968"/>
                </a:moveTo>
                <a:lnTo>
                  <a:pt x="820968" y="820968"/>
                </a:lnTo>
                <a:lnTo>
                  <a:pt x="820968" y="0"/>
                </a:lnTo>
                <a:lnTo>
                  <a:pt x="0" y="0"/>
                </a:lnTo>
                <a:lnTo>
                  <a:pt x="0" y="820968"/>
                </a:lnTo>
                <a:close/>
              </a:path>
            </a:pathLst>
          </a:custGeom>
          <a:blipFill>
            <a:blip r:embed="rId2">
              <a:extLst>
                <a:ext uri="{96DAC541-7B7A-43D3-8B79-37D633B846F1}">
                  <asvg:svgBlip xmlns:asvg="http://schemas.microsoft.com/office/drawing/2016/SVG/main" r:embed="rId3"/>
                </a:ext>
              </a:extLst>
            </a:blip>
            <a:stretch>
              <a:fillRect l="0" t="0" r="0" b="0"/>
            </a:stretch>
          </a:blipFill>
          <a:ln cap="sq">
            <a:noFill/>
            <a:prstDash val="solid"/>
            <a:miter/>
          </a:ln>
        </p:spPr>
      </p:sp>
      <p:sp>
        <p:nvSpPr>
          <p:cNvPr name="Freeform 7" id="7"/>
          <p:cNvSpPr/>
          <p:nvPr/>
        </p:nvSpPr>
        <p:spPr>
          <a:xfrm flipH="false" flipV="false" rot="0">
            <a:off x="1028700" y="44062"/>
            <a:ext cx="863108" cy="837215"/>
          </a:xfrm>
          <a:custGeom>
            <a:avLst/>
            <a:gdLst/>
            <a:ahLst/>
            <a:cxnLst/>
            <a:rect r="r" b="b" t="t" l="l"/>
            <a:pathLst>
              <a:path h="837215" w="863108">
                <a:moveTo>
                  <a:pt x="0" y="0"/>
                </a:moveTo>
                <a:lnTo>
                  <a:pt x="863108" y="0"/>
                </a:lnTo>
                <a:lnTo>
                  <a:pt x="863108" y="837215"/>
                </a:lnTo>
                <a:lnTo>
                  <a:pt x="0" y="837215"/>
                </a:lnTo>
                <a:lnTo>
                  <a:pt x="0" y="0"/>
                </a:lnTo>
                <a:close/>
              </a:path>
            </a:pathLst>
          </a:custGeom>
          <a:blipFill>
            <a:blip r:embed="rId4"/>
            <a:stretch>
              <a:fillRect l="0" t="0" r="0" b="0"/>
            </a:stretch>
          </a:blipFill>
        </p:spPr>
      </p:sp>
      <p:sp>
        <p:nvSpPr>
          <p:cNvPr name="TextBox 8" id="8"/>
          <p:cNvSpPr txBox="true"/>
          <p:nvPr/>
        </p:nvSpPr>
        <p:spPr>
          <a:xfrm rot="0">
            <a:off x="1028700" y="2063329"/>
            <a:ext cx="1197290" cy="1076325"/>
          </a:xfrm>
          <a:prstGeom prst="rect">
            <a:avLst/>
          </a:prstGeom>
        </p:spPr>
        <p:txBody>
          <a:bodyPr anchor="t" rtlCol="false" tIns="0" lIns="0" bIns="0" rIns="0">
            <a:spAutoFit/>
          </a:bodyPr>
          <a:lstStyle/>
          <a:p>
            <a:pPr algn="r">
              <a:lnSpc>
                <a:spcPts val="8400"/>
              </a:lnSpc>
            </a:pPr>
            <a:r>
              <a:rPr lang="en-US" sz="6000" b="true">
                <a:solidFill>
                  <a:srgbClr val="BC1823"/>
                </a:solidFill>
                <a:latin typeface="Hagrid Ultra-Bold"/>
                <a:ea typeface="Hagrid Ultra-Bold"/>
                <a:cs typeface="Hagrid Ultra-Bold"/>
                <a:sym typeface="Hagrid Ultra-Bold"/>
              </a:rPr>
              <a:t>01.</a:t>
            </a:r>
          </a:p>
        </p:txBody>
      </p:sp>
      <p:sp>
        <p:nvSpPr>
          <p:cNvPr name="TextBox 9" id="9"/>
          <p:cNvSpPr txBox="true"/>
          <p:nvPr/>
        </p:nvSpPr>
        <p:spPr>
          <a:xfrm rot="0">
            <a:off x="886094" y="3789653"/>
            <a:ext cx="1482502" cy="1076325"/>
          </a:xfrm>
          <a:prstGeom prst="rect">
            <a:avLst/>
          </a:prstGeom>
        </p:spPr>
        <p:txBody>
          <a:bodyPr anchor="t" rtlCol="false" tIns="0" lIns="0" bIns="0" rIns="0">
            <a:spAutoFit/>
          </a:bodyPr>
          <a:lstStyle/>
          <a:p>
            <a:pPr algn="r">
              <a:lnSpc>
                <a:spcPts val="8400"/>
              </a:lnSpc>
            </a:pPr>
            <a:r>
              <a:rPr lang="en-US" sz="6000" b="true">
                <a:solidFill>
                  <a:srgbClr val="BC1823"/>
                </a:solidFill>
                <a:latin typeface="Hagrid Ultra-Bold"/>
                <a:ea typeface="Hagrid Ultra-Bold"/>
                <a:cs typeface="Hagrid Ultra-Bold"/>
                <a:sym typeface="Hagrid Ultra-Bold"/>
              </a:rPr>
              <a:t>02.</a:t>
            </a:r>
          </a:p>
        </p:txBody>
      </p:sp>
      <p:sp>
        <p:nvSpPr>
          <p:cNvPr name="TextBox 10" id="10"/>
          <p:cNvSpPr txBox="true"/>
          <p:nvPr/>
        </p:nvSpPr>
        <p:spPr>
          <a:xfrm rot="0">
            <a:off x="886094" y="5019675"/>
            <a:ext cx="1482502" cy="1076325"/>
          </a:xfrm>
          <a:prstGeom prst="rect">
            <a:avLst/>
          </a:prstGeom>
        </p:spPr>
        <p:txBody>
          <a:bodyPr anchor="t" rtlCol="false" tIns="0" lIns="0" bIns="0" rIns="0">
            <a:spAutoFit/>
          </a:bodyPr>
          <a:lstStyle/>
          <a:p>
            <a:pPr algn="r">
              <a:lnSpc>
                <a:spcPts val="8400"/>
              </a:lnSpc>
            </a:pPr>
            <a:r>
              <a:rPr lang="en-US" sz="6000" b="true">
                <a:solidFill>
                  <a:srgbClr val="BC1823"/>
                </a:solidFill>
                <a:latin typeface="Hagrid Ultra-Bold"/>
                <a:ea typeface="Hagrid Ultra-Bold"/>
                <a:cs typeface="Hagrid Ultra-Bold"/>
                <a:sym typeface="Hagrid Ultra-Bold"/>
              </a:rPr>
              <a:t>03.</a:t>
            </a:r>
          </a:p>
        </p:txBody>
      </p:sp>
      <p:sp>
        <p:nvSpPr>
          <p:cNvPr name="TextBox 11" id="11"/>
          <p:cNvSpPr txBox="true"/>
          <p:nvPr/>
        </p:nvSpPr>
        <p:spPr>
          <a:xfrm rot="0">
            <a:off x="926566" y="6190588"/>
            <a:ext cx="1482502" cy="1076325"/>
          </a:xfrm>
          <a:prstGeom prst="rect">
            <a:avLst/>
          </a:prstGeom>
        </p:spPr>
        <p:txBody>
          <a:bodyPr anchor="t" rtlCol="false" tIns="0" lIns="0" bIns="0" rIns="0">
            <a:spAutoFit/>
          </a:bodyPr>
          <a:lstStyle/>
          <a:p>
            <a:pPr algn="r">
              <a:lnSpc>
                <a:spcPts val="8400"/>
              </a:lnSpc>
            </a:pPr>
            <a:r>
              <a:rPr lang="en-US" sz="6000" b="true">
                <a:solidFill>
                  <a:srgbClr val="BC1823"/>
                </a:solidFill>
                <a:latin typeface="Hagrid Ultra-Bold"/>
                <a:ea typeface="Hagrid Ultra-Bold"/>
                <a:cs typeface="Hagrid Ultra-Bold"/>
                <a:sym typeface="Hagrid Ultra-Bold"/>
              </a:rPr>
              <a:t>04.</a:t>
            </a:r>
          </a:p>
        </p:txBody>
      </p:sp>
      <p:sp>
        <p:nvSpPr>
          <p:cNvPr name="TextBox 12" id="12"/>
          <p:cNvSpPr txBox="true"/>
          <p:nvPr/>
        </p:nvSpPr>
        <p:spPr>
          <a:xfrm rot="0">
            <a:off x="2592145" y="2287681"/>
            <a:ext cx="14667155" cy="1362710"/>
          </a:xfrm>
          <a:prstGeom prst="rect">
            <a:avLst/>
          </a:prstGeom>
        </p:spPr>
        <p:txBody>
          <a:bodyPr anchor="t" rtlCol="false" tIns="0" lIns="0" bIns="0" rIns="0">
            <a:spAutoFit/>
          </a:bodyPr>
          <a:lstStyle/>
          <a:p>
            <a:pPr algn="just" marL="0" indent="0" lvl="0">
              <a:lnSpc>
                <a:spcPts val="3639"/>
              </a:lnSpc>
              <a:spcBef>
                <a:spcPct val="0"/>
              </a:spcBef>
            </a:pPr>
            <a:r>
              <a:rPr lang="en-US" sz="2599">
                <a:solidFill>
                  <a:srgbClr val="2E2C2B"/>
                </a:solidFill>
                <a:latin typeface="Gotham"/>
                <a:ea typeface="Gotham"/>
                <a:cs typeface="Gotham"/>
                <a:sym typeface="Gotham"/>
              </a:rPr>
              <a:t>Data transaksi EatsTEDI, DTEDI UGM, rentang efektif 26 Agustus 2024–20 Juni 2026, 313 hari transak</a:t>
            </a:r>
            <a:r>
              <a:rPr lang="en-US" sz="2599" strike="noStrike" u="none">
                <a:solidFill>
                  <a:srgbClr val="2E2C2B"/>
                </a:solidFill>
                <a:latin typeface="Gotham"/>
                <a:ea typeface="Gotham"/>
                <a:cs typeface="Gotham"/>
                <a:sym typeface="Gotham"/>
              </a:rPr>
              <a:t>si tercatat. Pemodelan univariat (total penjualan harian), tanpa variabel eksogen (cuaca, promosi, harga).</a:t>
            </a:r>
          </a:p>
        </p:txBody>
      </p:sp>
      <p:sp>
        <p:nvSpPr>
          <p:cNvPr name="TextBox 13" id="13"/>
          <p:cNvSpPr txBox="true"/>
          <p:nvPr/>
        </p:nvSpPr>
        <p:spPr>
          <a:xfrm rot="0">
            <a:off x="2592145" y="3941418"/>
            <a:ext cx="14626683" cy="448310"/>
          </a:xfrm>
          <a:prstGeom prst="rect">
            <a:avLst/>
          </a:prstGeom>
        </p:spPr>
        <p:txBody>
          <a:bodyPr anchor="t" rtlCol="false" tIns="0" lIns="0" bIns="0" rIns="0">
            <a:spAutoFit/>
          </a:bodyPr>
          <a:lstStyle/>
          <a:p>
            <a:pPr algn="just" marL="0" indent="0" lvl="0">
              <a:lnSpc>
                <a:spcPts val="3639"/>
              </a:lnSpc>
              <a:spcBef>
                <a:spcPct val="0"/>
              </a:spcBef>
            </a:pPr>
            <a:r>
              <a:rPr lang="en-US" sz="2599">
                <a:solidFill>
                  <a:srgbClr val="2E2C2B"/>
                </a:solidFill>
                <a:latin typeface="Gotham"/>
                <a:ea typeface="Gotham"/>
                <a:cs typeface="Gotham"/>
                <a:sym typeface="Gotham"/>
              </a:rPr>
              <a:t>Prediksi pada tingkat</a:t>
            </a:r>
            <a:r>
              <a:rPr lang="en-US" sz="2599" strike="noStrike" u="none">
                <a:solidFill>
                  <a:srgbClr val="2E2C2B"/>
                </a:solidFill>
                <a:latin typeface="Gotham"/>
                <a:ea typeface="Gotham"/>
                <a:cs typeface="Gotham"/>
                <a:sym typeface="Gotham"/>
              </a:rPr>
              <a:t> agregat penjualan harian, bukan per item atau kategori produk.</a:t>
            </a:r>
          </a:p>
        </p:txBody>
      </p:sp>
      <p:sp>
        <p:nvSpPr>
          <p:cNvPr name="TextBox 14" id="14"/>
          <p:cNvSpPr txBox="true"/>
          <p:nvPr/>
        </p:nvSpPr>
        <p:spPr>
          <a:xfrm rot="0">
            <a:off x="2592145" y="5086350"/>
            <a:ext cx="14626683" cy="905510"/>
          </a:xfrm>
          <a:prstGeom prst="rect">
            <a:avLst/>
          </a:prstGeom>
        </p:spPr>
        <p:txBody>
          <a:bodyPr anchor="t" rtlCol="false" tIns="0" lIns="0" bIns="0" rIns="0">
            <a:spAutoFit/>
          </a:bodyPr>
          <a:lstStyle/>
          <a:p>
            <a:pPr algn="just" marL="0" indent="0" lvl="0">
              <a:lnSpc>
                <a:spcPts val="3640"/>
              </a:lnSpc>
              <a:spcBef>
                <a:spcPct val="0"/>
              </a:spcBef>
            </a:pPr>
            <a:r>
              <a:rPr lang="en-US" sz="2600">
                <a:solidFill>
                  <a:srgbClr val="2E2C2B"/>
                </a:solidFill>
                <a:latin typeface="Gotham"/>
                <a:ea typeface="Gotham"/>
                <a:cs typeface="Gotham"/>
                <a:sym typeface="Gotham"/>
              </a:rPr>
              <a:t>LSTM + augmentasi TimeGAN, dibandingkan terhadap Naiv</a:t>
            </a:r>
            <a:r>
              <a:rPr lang="en-US" sz="2600" strike="noStrike" u="none">
                <a:solidFill>
                  <a:srgbClr val="2E2C2B"/>
                </a:solidFill>
                <a:latin typeface="Gotham"/>
                <a:ea typeface="Gotham"/>
                <a:cs typeface="Gotham"/>
                <a:sym typeface="Gotham"/>
              </a:rPr>
              <a:t>e, Mean-7, Seasonal-Naive, dan SARIMA. Transformer, TFT, jittering, dan window warping di luar cakupan.</a:t>
            </a:r>
          </a:p>
        </p:txBody>
      </p:sp>
      <p:sp>
        <p:nvSpPr>
          <p:cNvPr name="TextBox 15" id="15"/>
          <p:cNvSpPr txBox="true"/>
          <p:nvPr/>
        </p:nvSpPr>
        <p:spPr>
          <a:xfrm rot="0">
            <a:off x="2592145" y="6381737"/>
            <a:ext cx="14626683" cy="1362710"/>
          </a:xfrm>
          <a:prstGeom prst="rect">
            <a:avLst/>
          </a:prstGeom>
        </p:spPr>
        <p:txBody>
          <a:bodyPr anchor="t" rtlCol="false" tIns="0" lIns="0" bIns="0" rIns="0">
            <a:spAutoFit/>
          </a:bodyPr>
          <a:lstStyle/>
          <a:p>
            <a:pPr algn="just" marL="0" indent="0" lvl="0">
              <a:lnSpc>
                <a:spcPts val="3640"/>
              </a:lnSpc>
              <a:spcBef>
                <a:spcPct val="0"/>
              </a:spcBef>
            </a:pPr>
            <a:r>
              <a:rPr lang="en-US" sz="2600">
                <a:solidFill>
                  <a:srgbClr val="2E2C2B"/>
                </a:solidFill>
                <a:latin typeface="Gotham"/>
                <a:ea typeface="Gotham"/>
                <a:cs typeface="Gotham"/>
                <a:sym typeface="Gotham"/>
              </a:rPr>
              <a:t>MAE, RMSE, sMAPE, dan MASE. MAPE konvensional tidak digunakan karena </a:t>
            </a:r>
            <a:r>
              <a:rPr lang="en-US" sz="2600" strike="noStrike" u="none">
                <a:solidFill>
                  <a:srgbClr val="2E2C2B"/>
                </a:solidFill>
                <a:latin typeface="Gotham"/>
                <a:ea typeface="Gotham"/>
                <a:cs typeface="Gotham"/>
                <a:sym typeface="Gotham"/>
              </a:rPr>
              <a:t>rentan menghasilkan galat persentase tidak representatif pada hari berpendapatan sangat rendah.</a:t>
            </a:r>
          </a:p>
        </p:txBody>
      </p:sp>
      <p:sp>
        <p:nvSpPr>
          <p:cNvPr name="TextBox 16" id="16"/>
          <p:cNvSpPr txBox="true"/>
          <p:nvPr/>
        </p:nvSpPr>
        <p:spPr>
          <a:xfrm rot="0">
            <a:off x="926566" y="7891118"/>
            <a:ext cx="1482502" cy="1076325"/>
          </a:xfrm>
          <a:prstGeom prst="rect">
            <a:avLst/>
          </a:prstGeom>
        </p:spPr>
        <p:txBody>
          <a:bodyPr anchor="t" rtlCol="false" tIns="0" lIns="0" bIns="0" rIns="0">
            <a:spAutoFit/>
          </a:bodyPr>
          <a:lstStyle/>
          <a:p>
            <a:pPr algn="r">
              <a:lnSpc>
                <a:spcPts val="8400"/>
              </a:lnSpc>
            </a:pPr>
            <a:r>
              <a:rPr lang="en-US" sz="6000" b="true">
                <a:solidFill>
                  <a:srgbClr val="BC1823"/>
                </a:solidFill>
                <a:latin typeface="Hagrid Ultra-Bold"/>
                <a:ea typeface="Hagrid Ultra-Bold"/>
                <a:cs typeface="Hagrid Ultra-Bold"/>
                <a:sym typeface="Hagrid Ultra-Bold"/>
              </a:rPr>
              <a:t>05.</a:t>
            </a:r>
          </a:p>
        </p:txBody>
      </p:sp>
      <p:sp>
        <p:nvSpPr>
          <p:cNvPr name="TextBox 17" id="17"/>
          <p:cNvSpPr txBox="true"/>
          <p:nvPr/>
        </p:nvSpPr>
        <p:spPr>
          <a:xfrm rot="0">
            <a:off x="2592145" y="7957793"/>
            <a:ext cx="14626683" cy="1362710"/>
          </a:xfrm>
          <a:prstGeom prst="rect">
            <a:avLst/>
          </a:prstGeom>
        </p:spPr>
        <p:txBody>
          <a:bodyPr anchor="t" rtlCol="false" tIns="0" lIns="0" bIns="0" rIns="0">
            <a:spAutoFit/>
          </a:bodyPr>
          <a:lstStyle/>
          <a:p>
            <a:pPr algn="just" marL="0" indent="0" lvl="0">
              <a:lnSpc>
                <a:spcPts val="3640"/>
              </a:lnSpc>
              <a:spcBef>
                <a:spcPct val="0"/>
              </a:spcBef>
            </a:pPr>
            <a:r>
              <a:rPr lang="en-US" sz="2600">
                <a:solidFill>
                  <a:srgbClr val="2E2C2B"/>
                </a:solidFill>
                <a:latin typeface="Gotham"/>
                <a:ea typeface="Gotham"/>
                <a:cs typeface="Gotham"/>
                <a:sym typeface="Gotham"/>
              </a:rPr>
              <a:t>Aplikasi POS pada Android (Flutter), model dilatih luring dan dii</a:t>
            </a:r>
            <a:r>
              <a:rPr lang="en-US" sz="2600" strike="noStrike" u="none">
                <a:solidFill>
                  <a:srgbClr val="2E2C2B"/>
                </a:solidFill>
                <a:latin typeface="Gotham"/>
                <a:ea typeface="Gotham"/>
                <a:cs typeface="Gotham"/>
                <a:sym typeface="Gotham"/>
              </a:rPr>
              <a:t>ntegrasikan sebagai layanan prediksi. iOS dan online/incremental learning di luar cakupan. Pengujian dibatasi pada fungsional, struktural, dan akurasi model tanpa pengukuran dampak ekonomi.</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EEF1F1"/>
        </a:solidFill>
      </p:bgPr>
    </p:bg>
    <p:spTree>
      <p:nvGrpSpPr>
        <p:cNvPr id="1" name=""/>
        <p:cNvGrpSpPr/>
        <p:nvPr/>
      </p:nvGrpSpPr>
      <p:grpSpPr>
        <a:xfrm>
          <a:off x="0" y="0"/>
          <a:ext cx="0" cy="0"/>
          <a:chOff x="0" y="0"/>
          <a:chExt cx="0" cy="0"/>
        </a:xfrm>
      </p:grpSpPr>
      <p:sp>
        <p:nvSpPr>
          <p:cNvPr name="AutoShape 2" id="2"/>
          <p:cNvSpPr/>
          <p:nvPr/>
        </p:nvSpPr>
        <p:spPr>
          <a:xfrm>
            <a:off x="1028700" y="1019175"/>
            <a:ext cx="16230600" cy="0"/>
          </a:xfrm>
          <a:prstGeom prst="line">
            <a:avLst/>
          </a:prstGeom>
          <a:ln cap="flat" w="19050">
            <a:solidFill>
              <a:srgbClr val="2E2C2B"/>
            </a:solidFill>
            <a:prstDash val="solid"/>
            <a:headEnd type="none" len="sm" w="sm"/>
            <a:tailEnd type="none" len="sm" w="sm"/>
          </a:ln>
        </p:spPr>
      </p:sp>
      <p:sp>
        <p:nvSpPr>
          <p:cNvPr name="Freeform 3" id="3"/>
          <p:cNvSpPr/>
          <p:nvPr/>
        </p:nvSpPr>
        <p:spPr>
          <a:xfrm flipH="false" flipV="true" rot="0">
            <a:off x="17259300" y="9258300"/>
            <a:ext cx="820968" cy="820968"/>
          </a:xfrm>
          <a:custGeom>
            <a:avLst/>
            <a:gdLst/>
            <a:ahLst/>
            <a:cxnLst/>
            <a:rect r="r" b="b" t="t" l="l"/>
            <a:pathLst>
              <a:path h="820968" w="820968">
                <a:moveTo>
                  <a:pt x="0" y="820968"/>
                </a:moveTo>
                <a:lnTo>
                  <a:pt x="820968" y="820968"/>
                </a:lnTo>
                <a:lnTo>
                  <a:pt x="820968" y="0"/>
                </a:lnTo>
                <a:lnTo>
                  <a:pt x="0" y="0"/>
                </a:lnTo>
                <a:lnTo>
                  <a:pt x="0" y="820968"/>
                </a:lnTo>
                <a:close/>
              </a:path>
            </a:pathLst>
          </a:custGeom>
          <a:blipFill>
            <a:blip r:embed="rId2">
              <a:extLst>
                <a:ext uri="{96DAC541-7B7A-43D3-8B79-37D633B846F1}">
                  <asvg:svgBlip xmlns:asvg="http://schemas.microsoft.com/office/drawing/2016/SVG/main" r:embed="rId3"/>
                </a:ext>
              </a:extLst>
            </a:blip>
            <a:stretch>
              <a:fillRect l="0" t="0" r="0" b="0"/>
            </a:stretch>
          </a:blipFill>
          <a:ln cap="sq">
            <a:noFill/>
            <a:prstDash val="solid"/>
            <a:miter/>
          </a:ln>
        </p:spPr>
      </p:sp>
      <p:sp>
        <p:nvSpPr>
          <p:cNvPr name="Freeform 4" id="4"/>
          <p:cNvSpPr/>
          <p:nvPr/>
        </p:nvSpPr>
        <p:spPr>
          <a:xfrm flipH="false" flipV="false" rot="0">
            <a:off x="1028700" y="44062"/>
            <a:ext cx="863108" cy="837215"/>
          </a:xfrm>
          <a:custGeom>
            <a:avLst/>
            <a:gdLst/>
            <a:ahLst/>
            <a:cxnLst/>
            <a:rect r="r" b="b" t="t" l="l"/>
            <a:pathLst>
              <a:path h="837215" w="863108">
                <a:moveTo>
                  <a:pt x="0" y="0"/>
                </a:moveTo>
                <a:lnTo>
                  <a:pt x="863108" y="0"/>
                </a:lnTo>
                <a:lnTo>
                  <a:pt x="863108" y="837215"/>
                </a:lnTo>
                <a:lnTo>
                  <a:pt x="0" y="837215"/>
                </a:lnTo>
                <a:lnTo>
                  <a:pt x="0" y="0"/>
                </a:lnTo>
                <a:close/>
              </a:path>
            </a:pathLst>
          </a:custGeom>
          <a:blipFill>
            <a:blip r:embed="rId4"/>
            <a:stretch>
              <a:fillRect l="0" t="0" r="0" b="0"/>
            </a:stretch>
          </a:blipFill>
        </p:spPr>
      </p:sp>
      <p:sp>
        <p:nvSpPr>
          <p:cNvPr name="TextBox 5" id="5"/>
          <p:cNvSpPr txBox="true"/>
          <p:nvPr/>
        </p:nvSpPr>
        <p:spPr>
          <a:xfrm rot="0">
            <a:off x="16332192" y="25115"/>
            <a:ext cx="1144270" cy="792481"/>
          </a:xfrm>
          <a:prstGeom prst="rect">
            <a:avLst/>
          </a:prstGeom>
        </p:spPr>
        <p:txBody>
          <a:bodyPr anchor="t" rtlCol="false" tIns="0" lIns="0" bIns="0" rIns="0">
            <a:spAutoFit/>
          </a:bodyPr>
          <a:lstStyle/>
          <a:p>
            <a:pPr algn="r">
              <a:lnSpc>
                <a:spcPts val="6299"/>
              </a:lnSpc>
            </a:pPr>
            <a:r>
              <a:rPr lang="en-US" b="true" sz="4499">
                <a:solidFill>
                  <a:srgbClr val="D0A175"/>
                </a:solidFill>
                <a:latin typeface="Hagrid Ultra-Bold"/>
                <a:ea typeface="Hagrid Ultra-Bold"/>
                <a:cs typeface="Hagrid Ultra-Bold"/>
                <a:sym typeface="Hagrid Ultra-Bold"/>
              </a:rPr>
              <a:t>07</a:t>
            </a:r>
          </a:p>
        </p:txBody>
      </p:sp>
      <p:sp>
        <p:nvSpPr>
          <p:cNvPr name="TextBox 6" id="6"/>
          <p:cNvSpPr txBox="true"/>
          <p:nvPr/>
        </p:nvSpPr>
        <p:spPr>
          <a:xfrm rot="0">
            <a:off x="6048737" y="1485900"/>
            <a:ext cx="6190526" cy="700405"/>
          </a:xfrm>
          <a:prstGeom prst="rect">
            <a:avLst/>
          </a:prstGeom>
        </p:spPr>
        <p:txBody>
          <a:bodyPr anchor="t" rtlCol="false" tIns="0" lIns="0" bIns="0" rIns="0">
            <a:spAutoFit/>
          </a:bodyPr>
          <a:lstStyle/>
          <a:p>
            <a:pPr algn="l" marL="0" indent="0" lvl="1">
              <a:lnSpc>
                <a:spcPts val="5000"/>
              </a:lnSpc>
            </a:pPr>
            <a:r>
              <a:rPr lang="en-US" b="true" sz="5000" spc="-100">
                <a:solidFill>
                  <a:srgbClr val="2E2C2B"/>
                </a:solidFill>
                <a:latin typeface="Hagrid Ultra-Bold"/>
                <a:ea typeface="Hagrid Ultra-Bold"/>
                <a:cs typeface="Hagrid Ultra-Bold"/>
                <a:sym typeface="Hagrid Ultra-Bold"/>
              </a:rPr>
              <a:t>STATE OF THE ART</a:t>
            </a:r>
          </a:p>
        </p:txBody>
      </p:sp>
      <p:sp>
        <p:nvSpPr>
          <p:cNvPr name="TextBox 7" id="7"/>
          <p:cNvSpPr txBox="true"/>
          <p:nvPr/>
        </p:nvSpPr>
        <p:spPr>
          <a:xfrm rot="0">
            <a:off x="2144041" y="276932"/>
            <a:ext cx="7234755" cy="361950"/>
          </a:xfrm>
          <a:prstGeom prst="rect">
            <a:avLst/>
          </a:prstGeom>
        </p:spPr>
        <p:txBody>
          <a:bodyPr anchor="t" rtlCol="false" tIns="0" lIns="0" bIns="0" rIns="0">
            <a:spAutoFit/>
          </a:bodyPr>
          <a:lstStyle/>
          <a:p>
            <a:pPr algn="l" marL="0" indent="0" lvl="0">
              <a:lnSpc>
                <a:spcPts val="2847"/>
              </a:lnSpc>
              <a:spcBef>
                <a:spcPct val="0"/>
              </a:spcBef>
            </a:pPr>
            <a:r>
              <a:rPr lang="en-US" sz="2372">
                <a:solidFill>
                  <a:srgbClr val="2E2C2B"/>
                </a:solidFill>
                <a:latin typeface="Gotham"/>
                <a:ea typeface="Gotham"/>
                <a:cs typeface="Gotham"/>
                <a:sym typeface="Gotham"/>
              </a:rPr>
              <a:t>POLITEK</a:t>
            </a:r>
            <a:r>
              <a:rPr lang="en-US" sz="2372" strike="noStrike" u="none">
                <a:solidFill>
                  <a:srgbClr val="2E2C2B"/>
                </a:solidFill>
                <a:latin typeface="Gotham"/>
                <a:ea typeface="Gotham"/>
                <a:cs typeface="Gotham"/>
                <a:sym typeface="Gotham"/>
              </a:rPr>
              <a:t>NIK NEGERI LHOKSEUMAWE</a:t>
            </a:r>
          </a:p>
        </p:txBody>
      </p:sp>
      <p:sp>
        <p:nvSpPr>
          <p:cNvPr name="TextBox 8" id="8"/>
          <p:cNvSpPr txBox="true"/>
          <p:nvPr/>
        </p:nvSpPr>
        <p:spPr>
          <a:xfrm rot="0">
            <a:off x="1028700" y="2278654"/>
            <a:ext cx="1197290" cy="1076325"/>
          </a:xfrm>
          <a:prstGeom prst="rect">
            <a:avLst/>
          </a:prstGeom>
        </p:spPr>
        <p:txBody>
          <a:bodyPr anchor="t" rtlCol="false" tIns="0" lIns="0" bIns="0" rIns="0">
            <a:spAutoFit/>
          </a:bodyPr>
          <a:lstStyle/>
          <a:p>
            <a:pPr algn="r">
              <a:lnSpc>
                <a:spcPts val="8400"/>
              </a:lnSpc>
            </a:pPr>
            <a:r>
              <a:rPr lang="en-US" sz="6000" b="true">
                <a:solidFill>
                  <a:srgbClr val="BC1823"/>
                </a:solidFill>
                <a:latin typeface="Hagrid Ultra-Bold"/>
                <a:ea typeface="Hagrid Ultra-Bold"/>
                <a:cs typeface="Hagrid Ultra-Bold"/>
                <a:sym typeface="Hagrid Ultra-Bold"/>
              </a:rPr>
              <a:t>01.</a:t>
            </a:r>
          </a:p>
        </p:txBody>
      </p:sp>
      <p:sp>
        <p:nvSpPr>
          <p:cNvPr name="TextBox 9" id="9"/>
          <p:cNvSpPr txBox="true"/>
          <p:nvPr/>
        </p:nvSpPr>
        <p:spPr>
          <a:xfrm rot="0">
            <a:off x="9852079" y="2278654"/>
            <a:ext cx="1406302" cy="1076325"/>
          </a:xfrm>
          <a:prstGeom prst="rect">
            <a:avLst/>
          </a:prstGeom>
        </p:spPr>
        <p:txBody>
          <a:bodyPr anchor="t" rtlCol="false" tIns="0" lIns="0" bIns="0" rIns="0">
            <a:spAutoFit/>
          </a:bodyPr>
          <a:lstStyle/>
          <a:p>
            <a:pPr algn="r">
              <a:lnSpc>
                <a:spcPts val="8400"/>
              </a:lnSpc>
            </a:pPr>
            <a:r>
              <a:rPr lang="en-US" sz="6000" b="true">
                <a:solidFill>
                  <a:srgbClr val="BC1823"/>
                </a:solidFill>
                <a:latin typeface="Hagrid Ultra-Bold"/>
                <a:ea typeface="Hagrid Ultra-Bold"/>
                <a:cs typeface="Hagrid Ultra-Bold"/>
                <a:sym typeface="Hagrid Ultra-Bold"/>
              </a:rPr>
              <a:t>02.</a:t>
            </a:r>
          </a:p>
        </p:txBody>
      </p:sp>
      <p:sp>
        <p:nvSpPr>
          <p:cNvPr name="TextBox 10" id="10"/>
          <p:cNvSpPr txBox="true"/>
          <p:nvPr/>
        </p:nvSpPr>
        <p:spPr>
          <a:xfrm rot="0">
            <a:off x="1222734" y="3431179"/>
            <a:ext cx="7814298" cy="4790541"/>
          </a:xfrm>
          <a:prstGeom prst="rect">
            <a:avLst/>
          </a:prstGeom>
        </p:spPr>
        <p:txBody>
          <a:bodyPr anchor="t" rtlCol="false" tIns="0" lIns="0" bIns="0" rIns="0">
            <a:spAutoFit/>
          </a:bodyPr>
          <a:lstStyle/>
          <a:p>
            <a:pPr algn="just">
              <a:lnSpc>
                <a:spcPts val="3179"/>
              </a:lnSpc>
              <a:spcBef>
                <a:spcPct val="0"/>
              </a:spcBef>
            </a:pPr>
            <a:r>
              <a:rPr lang="en-US" sz="2271">
                <a:solidFill>
                  <a:srgbClr val="000000"/>
                </a:solidFill>
                <a:latin typeface="Gotham"/>
                <a:ea typeface="Gotham"/>
                <a:cs typeface="Gotham"/>
                <a:sym typeface="Gotham"/>
              </a:rPr>
              <a:t>Penelitian oleh </a:t>
            </a:r>
            <a:r>
              <a:rPr lang="en-US" b="true" sz="2271">
                <a:solidFill>
                  <a:srgbClr val="000000"/>
                </a:solidFill>
                <a:latin typeface="Gotham Bold"/>
                <a:ea typeface="Gotham Bold"/>
                <a:cs typeface="Gotham Bold"/>
                <a:sym typeface="Gotham Bold"/>
              </a:rPr>
              <a:t>S. Mansur dkk.</a:t>
            </a:r>
            <a:r>
              <a:rPr lang="en-US" sz="2271">
                <a:solidFill>
                  <a:srgbClr val="000000"/>
                </a:solidFill>
                <a:latin typeface="Gotham"/>
                <a:ea typeface="Gotham"/>
                <a:cs typeface="Gotham"/>
                <a:sym typeface="Gotham"/>
              </a:rPr>
              <a:t> (2025) “</a:t>
            </a:r>
            <a:r>
              <a:rPr lang="en-US" sz="2271" i="true">
                <a:solidFill>
                  <a:srgbClr val="000000"/>
                </a:solidFill>
                <a:latin typeface="Gotham Italics"/>
                <a:ea typeface="Gotham Italics"/>
                <a:cs typeface="Gotham Italics"/>
                <a:sym typeface="Gotham Italics"/>
              </a:rPr>
              <a:t>Sales Forecasting for Retail Stores Using Hybrid Neural Networks and Sales-Affecting Va</a:t>
            </a:r>
            <a:r>
              <a:rPr lang="en-US" sz="2271" i="true">
                <a:solidFill>
                  <a:srgbClr val="000000"/>
                </a:solidFill>
                <a:latin typeface="Gotham Italics"/>
                <a:ea typeface="Gotham Italics"/>
                <a:cs typeface="Gotham Italics"/>
                <a:sym typeface="Gotham Italics"/>
              </a:rPr>
              <a:t>riables</a:t>
            </a:r>
            <a:r>
              <a:rPr lang="en-US" sz="2271">
                <a:solidFill>
                  <a:srgbClr val="000000"/>
                </a:solidFill>
                <a:latin typeface="Gotham"/>
                <a:ea typeface="Gotham"/>
                <a:cs typeface="Gotham"/>
                <a:sym typeface="Gotham"/>
              </a:rPr>
              <a:t>”.</a:t>
            </a:r>
          </a:p>
          <a:p>
            <a:pPr algn="just" marL="490311" indent="-245155" lvl="1">
              <a:lnSpc>
                <a:spcPts val="3179"/>
              </a:lnSpc>
              <a:spcBef>
                <a:spcPct val="0"/>
              </a:spcBef>
              <a:buFont typeface="Arial"/>
              <a:buChar char="•"/>
            </a:pPr>
            <a:r>
              <a:rPr lang="en-US" sz="2271">
                <a:solidFill>
                  <a:srgbClr val="000000"/>
                </a:solidFill>
                <a:latin typeface="Gotham"/>
                <a:ea typeface="Gotham"/>
                <a:cs typeface="Gotham"/>
                <a:sym typeface="Gotham"/>
              </a:rPr>
              <a:t>Menggunakan hibrida CNN-LSTM dengan variabel eksogen (cuaca, hari libur, hari gajian, unjuk rasa) pada data penjualan harian 6 bulan satu gerai.</a:t>
            </a:r>
          </a:p>
          <a:p>
            <a:pPr algn="just" marL="490311" indent="-245155" lvl="1">
              <a:lnSpc>
                <a:spcPts val="3179"/>
              </a:lnSpc>
              <a:spcBef>
                <a:spcPct val="0"/>
              </a:spcBef>
              <a:buFont typeface="Arial"/>
              <a:buChar char="•"/>
            </a:pPr>
            <a:r>
              <a:rPr lang="en-US" sz="2271">
                <a:solidFill>
                  <a:srgbClr val="000000"/>
                </a:solidFill>
                <a:latin typeface="Gotham"/>
                <a:ea typeface="Gotham"/>
                <a:cs typeface="Gotham"/>
                <a:sym typeface="Gotham"/>
              </a:rPr>
              <a:t>Hasil penelitian mencapai MAPE 4,16%, mengungguli ANN, CNN, dan LSTM tunggal.</a:t>
            </a:r>
          </a:p>
          <a:p>
            <a:pPr algn="just" marL="490311" indent="-245155" lvl="1">
              <a:lnSpc>
                <a:spcPts val="3179"/>
              </a:lnSpc>
              <a:spcBef>
                <a:spcPct val="0"/>
              </a:spcBef>
              <a:buFont typeface="Arial"/>
              <a:buChar char="•"/>
            </a:pPr>
            <a:r>
              <a:rPr lang="en-US" sz="2271">
                <a:solidFill>
                  <a:srgbClr val="000000"/>
                </a:solidFill>
                <a:latin typeface="Gotham"/>
                <a:ea typeface="Gotham"/>
                <a:cs typeface="Gotham"/>
                <a:sym typeface="Gotham"/>
              </a:rPr>
              <a:t>Keberhasilan bertumpu pada tujuh variabel eksogen yang tidak tersedia pada dataset penelitian ini, dan penulis mencatat indikasi overfitting; tidak menguji baseline sederhana.</a:t>
            </a:r>
          </a:p>
        </p:txBody>
      </p:sp>
      <p:sp>
        <p:nvSpPr>
          <p:cNvPr name="TextBox 11" id="11"/>
          <p:cNvSpPr txBox="true"/>
          <p:nvPr/>
        </p:nvSpPr>
        <p:spPr>
          <a:xfrm rot="0">
            <a:off x="456565" y="9181688"/>
            <a:ext cx="15875626" cy="936091"/>
          </a:xfrm>
          <a:prstGeom prst="rect">
            <a:avLst/>
          </a:prstGeom>
        </p:spPr>
        <p:txBody>
          <a:bodyPr anchor="t" rtlCol="false" tIns="0" lIns="0" bIns="0" rIns="0">
            <a:spAutoFit/>
          </a:bodyPr>
          <a:lstStyle/>
          <a:p>
            <a:pPr algn="just" marL="382363" indent="-191182" lvl="1">
              <a:lnSpc>
                <a:spcPts val="2479"/>
              </a:lnSpc>
              <a:spcBef>
                <a:spcPct val="0"/>
              </a:spcBef>
              <a:buFont typeface="Arial"/>
              <a:buChar char="•"/>
            </a:pPr>
            <a:r>
              <a:rPr lang="en-US" sz="1771">
                <a:solidFill>
                  <a:srgbClr val="000000"/>
                </a:solidFill>
                <a:latin typeface="Gotham"/>
                <a:ea typeface="Gotham"/>
                <a:cs typeface="Gotham"/>
                <a:sym typeface="Gotham"/>
              </a:rPr>
              <a:t>Kebaruan penelitian ini: me</a:t>
            </a:r>
            <a:r>
              <a:rPr lang="en-US" sz="1771">
                <a:solidFill>
                  <a:srgbClr val="000000"/>
                </a:solidFill>
                <a:latin typeface="Gotham"/>
                <a:ea typeface="Gotham"/>
                <a:cs typeface="Gotham"/>
                <a:sym typeface="Gotham"/>
              </a:rPr>
              <a:t>n</a:t>
            </a:r>
            <a:r>
              <a:rPr lang="en-US" sz="1771">
                <a:solidFill>
                  <a:srgbClr val="000000"/>
                </a:solidFill>
                <a:latin typeface="Gotham"/>
                <a:ea typeface="Gotham"/>
                <a:cs typeface="Gotham"/>
                <a:sym typeface="Gotham"/>
              </a:rPr>
              <a:t>e</a:t>
            </a:r>
            <a:r>
              <a:rPr lang="en-US" sz="1771">
                <a:solidFill>
                  <a:srgbClr val="000000"/>
                </a:solidFill>
                <a:latin typeface="Gotham"/>
                <a:ea typeface="Gotham"/>
                <a:cs typeface="Gotham"/>
                <a:sym typeface="Gotham"/>
              </a:rPr>
              <a:t>r</a:t>
            </a:r>
            <a:r>
              <a:rPr lang="en-US" sz="1771">
                <a:solidFill>
                  <a:srgbClr val="000000"/>
                </a:solidFill>
                <a:latin typeface="Gotham"/>
                <a:ea typeface="Gotham"/>
                <a:cs typeface="Gotham"/>
                <a:sym typeface="Gotham"/>
              </a:rPr>
              <a:t>ap</a:t>
            </a:r>
            <a:r>
              <a:rPr lang="en-US" sz="1771">
                <a:solidFill>
                  <a:srgbClr val="000000"/>
                </a:solidFill>
                <a:latin typeface="Gotham"/>
                <a:ea typeface="Gotham"/>
                <a:cs typeface="Gotham"/>
                <a:sym typeface="Gotham"/>
              </a:rPr>
              <a:t>k</a:t>
            </a:r>
            <a:r>
              <a:rPr lang="en-US" sz="1771">
                <a:solidFill>
                  <a:srgbClr val="000000"/>
                </a:solidFill>
                <a:latin typeface="Gotham"/>
                <a:ea typeface="Gotham"/>
                <a:cs typeface="Gotham"/>
                <a:sym typeface="Gotham"/>
              </a:rPr>
              <a:t>an LSTM pad</a:t>
            </a:r>
            <a:r>
              <a:rPr lang="en-US" sz="1771">
                <a:solidFill>
                  <a:srgbClr val="000000"/>
                </a:solidFill>
                <a:latin typeface="Gotham"/>
                <a:ea typeface="Gotham"/>
                <a:cs typeface="Gotham"/>
                <a:sym typeface="Gotham"/>
              </a:rPr>
              <a:t>a </a:t>
            </a:r>
            <a:r>
              <a:rPr lang="en-US" sz="1771">
                <a:solidFill>
                  <a:srgbClr val="000000"/>
                </a:solidFill>
                <a:latin typeface="Gotham"/>
                <a:ea typeface="Gotham"/>
                <a:cs typeface="Gotham"/>
                <a:sym typeface="Gotham"/>
              </a:rPr>
              <a:t>dat</a:t>
            </a:r>
            <a:r>
              <a:rPr lang="en-US" sz="1771">
                <a:solidFill>
                  <a:srgbClr val="000000"/>
                </a:solidFill>
                <a:latin typeface="Gotham"/>
                <a:ea typeface="Gotham"/>
                <a:cs typeface="Gotham"/>
                <a:sym typeface="Gotham"/>
              </a:rPr>
              <a:t>as</a:t>
            </a:r>
            <a:r>
              <a:rPr lang="en-US" sz="1771">
                <a:solidFill>
                  <a:srgbClr val="000000"/>
                </a:solidFill>
                <a:latin typeface="Gotham"/>
                <a:ea typeface="Gotham"/>
                <a:cs typeface="Gotham"/>
                <a:sym typeface="Gotham"/>
              </a:rPr>
              <a:t>e</a:t>
            </a:r>
            <a:r>
              <a:rPr lang="en-US" sz="1771">
                <a:solidFill>
                  <a:srgbClr val="000000"/>
                </a:solidFill>
                <a:latin typeface="Gotham"/>
                <a:ea typeface="Gotham"/>
                <a:cs typeface="Gotham"/>
                <a:sym typeface="Gotham"/>
              </a:rPr>
              <a:t>t </a:t>
            </a:r>
            <a:r>
              <a:rPr lang="en-US" sz="1771">
                <a:solidFill>
                  <a:srgbClr val="000000"/>
                </a:solidFill>
                <a:latin typeface="Gotham"/>
                <a:ea typeface="Gotham"/>
                <a:cs typeface="Gotham"/>
                <a:sym typeface="Gotham"/>
              </a:rPr>
              <a:t>be</a:t>
            </a:r>
            <a:r>
              <a:rPr lang="en-US" sz="1771">
                <a:solidFill>
                  <a:srgbClr val="000000"/>
                </a:solidFill>
                <a:latin typeface="Gotham"/>
                <a:ea typeface="Gotham"/>
                <a:cs typeface="Gotham"/>
                <a:sym typeface="Gotham"/>
              </a:rPr>
              <a:t>r</a:t>
            </a:r>
            <a:r>
              <a:rPr lang="en-US" sz="1771">
                <a:solidFill>
                  <a:srgbClr val="000000"/>
                </a:solidFill>
                <a:latin typeface="Gotham"/>
                <a:ea typeface="Gotham"/>
                <a:cs typeface="Gotham"/>
                <a:sym typeface="Gotham"/>
              </a:rPr>
              <a:t>skala</a:t>
            </a:r>
            <a:r>
              <a:rPr lang="en-US" sz="1771">
                <a:solidFill>
                  <a:srgbClr val="000000"/>
                </a:solidFill>
                <a:latin typeface="Gotham"/>
                <a:ea typeface="Gotham"/>
                <a:cs typeface="Gotham"/>
                <a:sym typeface="Gotham"/>
              </a:rPr>
              <a:t> </a:t>
            </a:r>
            <a:r>
              <a:rPr lang="en-US" sz="1771">
                <a:solidFill>
                  <a:srgbClr val="000000"/>
                </a:solidFill>
                <a:latin typeface="Gotham"/>
                <a:ea typeface="Gotham"/>
                <a:cs typeface="Gotham"/>
                <a:sym typeface="Gotham"/>
              </a:rPr>
              <a:t>k</a:t>
            </a:r>
            <a:r>
              <a:rPr lang="en-US" sz="1771">
                <a:solidFill>
                  <a:srgbClr val="000000"/>
                </a:solidFill>
                <a:latin typeface="Gotham"/>
                <a:ea typeface="Gotham"/>
                <a:cs typeface="Gotham"/>
                <a:sym typeface="Gotham"/>
              </a:rPr>
              <a:t>e</a:t>
            </a:r>
            <a:r>
              <a:rPr lang="en-US" sz="1771">
                <a:solidFill>
                  <a:srgbClr val="000000"/>
                </a:solidFill>
                <a:latin typeface="Gotham"/>
                <a:ea typeface="Gotham"/>
                <a:cs typeface="Gotham"/>
                <a:sym typeface="Gotham"/>
              </a:rPr>
              <a:t>c</a:t>
            </a:r>
            <a:r>
              <a:rPr lang="en-US" sz="1771">
                <a:solidFill>
                  <a:srgbClr val="000000"/>
                </a:solidFill>
                <a:latin typeface="Gotham"/>
                <a:ea typeface="Gotham"/>
                <a:cs typeface="Gotham"/>
                <a:sym typeface="Gotham"/>
              </a:rPr>
              <a:t>il </a:t>
            </a:r>
            <a:r>
              <a:rPr lang="en-US" sz="1771">
                <a:solidFill>
                  <a:srgbClr val="000000"/>
                </a:solidFill>
                <a:latin typeface="Gotham"/>
                <a:ea typeface="Gotham"/>
                <a:cs typeface="Gotham"/>
                <a:sym typeface="Gotham"/>
              </a:rPr>
              <a:t>d</a:t>
            </a:r>
            <a:r>
              <a:rPr lang="en-US" sz="1771">
                <a:solidFill>
                  <a:srgbClr val="000000"/>
                </a:solidFill>
                <a:latin typeface="Gotham"/>
                <a:ea typeface="Gotham"/>
                <a:cs typeface="Gotham"/>
                <a:sym typeface="Gotham"/>
              </a:rPr>
              <a:t>eng</a:t>
            </a:r>
            <a:r>
              <a:rPr lang="en-US" sz="1771">
                <a:solidFill>
                  <a:srgbClr val="000000"/>
                </a:solidFill>
                <a:latin typeface="Gotham"/>
                <a:ea typeface="Gotham"/>
                <a:cs typeface="Gotham"/>
                <a:sym typeface="Gotham"/>
              </a:rPr>
              <a:t>an</a:t>
            </a:r>
            <a:r>
              <a:rPr lang="en-US" sz="1771">
                <a:solidFill>
                  <a:srgbClr val="000000"/>
                </a:solidFill>
                <a:latin typeface="Gotham"/>
                <a:ea typeface="Gotham"/>
                <a:cs typeface="Gotham"/>
                <a:sym typeface="Gotham"/>
              </a:rPr>
              <a:t> deret </a:t>
            </a:r>
            <a:r>
              <a:rPr lang="en-US" sz="1771">
                <a:solidFill>
                  <a:srgbClr val="000000"/>
                </a:solidFill>
                <a:latin typeface="Gotham"/>
                <a:ea typeface="Gotham"/>
                <a:cs typeface="Gotham"/>
                <a:sym typeface="Gotham"/>
              </a:rPr>
              <a:t>ti</a:t>
            </a:r>
            <a:r>
              <a:rPr lang="en-US" sz="1771">
                <a:solidFill>
                  <a:srgbClr val="000000"/>
                </a:solidFill>
                <a:latin typeface="Gotham"/>
                <a:ea typeface="Gotham"/>
                <a:cs typeface="Gotham"/>
                <a:sym typeface="Gotham"/>
              </a:rPr>
              <a:t>da</a:t>
            </a:r>
            <a:r>
              <a:rPr lang="en-US" sz="1771">
                <a:solidFill>
                  <a:srgbClr val="000000"/>
                </a:solidFill>
                <a:latin typeface="Gotham"/>
                <a:ea typeface="Gotham"/>
                <a:cs typeface="Gotham"/>
                <a:sym typeface="Gotham"/>
              </a:rPr>
              <a:t>k </a:t>
            </a:r>
            <a:r>
              <a:rPr lang="en-US" sz="1771">
                <a:solidFill>
                  <a:srgbClr val="000000"/>
                </a:solidFill>
                <a:latin typeface="Gotham"/>
                <a:ea typeface="Gotham"/>
                <a:cs typeface="Gotham"/>
                <a:sym typeface="Gotham"/>
              </a:rPr>
              <a:t>sina</a:t>
            </a:r>
            <a:r>
              <a:rPr lang="en-US" sz="1771">
                <a:solidFill>
                  <a:srgbClr val="000000"/>
                </a:solidFill>
                <a:latin typeface="Gotham"/>
                <a:ea typeface="Gotham"/>
                <a:cs typeface="Gotham"/>
                <a:sym typeface="Gotham"/>
              </a:rPr>
              <a:t>m</a:t>
            </a:r>
            <a:r>
              <a:rPr lang="en-US" sz="1771">
                <a:solidFill>
                  <a:srgbClr val="000000"/>
                </a:solidFill>
                <a:latin typeface="Gotham"/>
                <a:ea typeface="Gotham"/>
                <a:cs typeface="Gotham"/>
                <a:sym typeface="Gotham"/>
              </a:rPr>
              <a:t>b</a:t>
            </a:r>
            <a:r>
              <a:rPr lang="en-US" sz="1771">
                <a:solidFill>
                  <a:srgbClr val="000000"/>
                </a:solidFill>
                <a:latin typeface="Gotham"/>
                <a:ea typeface="Gotham"/>
                <a:cs typeface="Gotham"/>
                <a:sym typeface="Gotham"/>
              </a:rPr>
              <a:t>ung, menguji kontribusi augmentasi TimeGAN, sekaligus mengintegrasikan model ke aplikasi POS nyata dan mengevaluasinya terhadap baseline seasonal-naive — ketiganya belum pernah dilakukan bersamaan pada penelitian terdahulu.</a:t>
            </a:r>
          </a:p>
        </p:txBody>
      </p:sp>
      <p:sp>
        <p:nvSpPr>
          <p:cNvPr name="TextBox 12" id="12"/>
          <p:cNvSpPr txBox="true"/>
          <p:nvPr/>
        </p:nvSpPr>
        <p:spPr>
          <a:xfrm rot="0">
            <a:off x="9852079" y="3431179"/>
            <a:ext cx="7921266" cy="5989955"/>
          </a:xfrm>
          <a:prstGeom prst="rect">
            <a:avLst/>
          </a:prstGeom>
        </p:spPr>
        <p:txBody>
          <a:bodyPr anchor="t" rtlCol="false" tIns="0" lIns="0" bIns="0" rIns="0">
            <a:spAutoFit/>
          </a:bodyPr>
          <a:lstStyle/>
          <a:p>
            <a:pPr algn="just">
              <a:lnSpc>
                <a:spcPts val="3219"/>
              </a:lnSpc>
              <a:spcBef>
                <a:spcPct val="0"/>
              </a:spcBef>
            </a:pPr>
            <a:r>
              <a:rPr lang="en-US" sz="2299">
                <a:solidFill>
                  <a:srgbClr val="000000"/>
                </a:solidFill>
                <a:latin typeface="Gotham"/>
                <a:ea typeface="Gotham"/>
                <a:cs typeface="Gotham"/>
                <a:sym typeface="Gotham"/>
              </a:rPr>
              <a:t>Penelitian </a:t>
            </a:r>
            <a:r>
              <a:rPr lang="en-US" sz="2299">
                <a:solidFill>
                  <a:srgbClr val="000000"/>
                </a:solidFill>
                <a:latin typeface="Gotham"/>
                <a:ea typeface="Gotham"/>
                <a:cs typeface="Gotham"/>
                <a:sym typeface="Gotham"/>
              </a:rPr>
              <a:t>oleh </a:t>
            </a:r>
            <a:r>
              <a:rPr lang="en-US" b="true" sz="2299">
                <a:solidFill>
                  <a:srgbClr val="000000"/>
                </a:solidFill>
                <a:latin typeface="Gotham Bold"/>
                <a:ea typeface="Gotham Bold"/>
                <a:cs typeface="Gotham Bold"/>
                <a:sym typeface="Gotham Bold"/>
              </a:rPr>
              <a:t>P. Yadav &amp; C. R. Barde</a:t>
            </a:r>
            <a:r>
              <a:rPr lang="en-US" sz="2299">
                <a:solidFill>
                  <a:srgbClr val="000000"/>
                </a:solidFill>
                <a:latin typeface="Gotham"/>
                <a:ea typeface="Gotham"/>
                <a:cs typeface="Gotham"/>
                <a:sym typeface="Gotham"/>
              </a:rPr>
              <a:t> (2025) “Retail Real-Time Sales Prediction System Using LSTM and XGBoost”.</a:t>
            </a:r>
          </a:p>
          <a:p>
            <a:pPr algn="just" marL="496569" indent="-248284" lvl="1">
              <a:lnSpc>
                <a:spcPts val="3219"/>
              </a:lnSpc>
              <a:spcBef>
                <a:spcPct val="0"/>
              </a:spcBef>
              <a:buFont typeface="Arial"/>
              <a:buChar char="•"/>
            </a:pPr>
            <a:r>
              <a:rPr lang="en-US" sz="2299">
                <a:solidFill>
                  <a:srgbClr val="000000"/>
                </a:solidFill>
                <a:latin typeface="Gotham"/>
                <a:ea typeface="Gotham"/>
                <a:cs typeface="Gotham"/>
                <a:sym typeface="Gotham"/>
              </a:rPr>
              <a:t>Menggunakan LSTM untuk pemodelan deret waktu dikombinasikan dengan XGBoost, terintegrasi langsung dengan sistem Point of Sale berbasis web.</a:t>
            </a:r>
          </a:p>
          <a:p>
            <a:pPr algn="just" marL="496569" indent="-248284" lvl="1">
              <a:lnSpc>
                <a:spcPts val="3219"/>
              </a:lnSpc>
              <a:spcBef>
                <a:spcPct val="0"/>
              </a:spcBef>
              <a:buFont typeface="Arial"/>
              <a:buChar char="•"/>
            </a:pPr>
            <a:r>
              <a:rPr lang="en-US" sz="2299">
                <a:solidFill>
                  <a:srgbClr val="000000"/>
                </a:solidFill>
                <a:latin typeface="Gotham"/>
                <a:ea typeface="Gotham"/>
                <a:cs typeface="Gotham"/>
                <a:sym typeface="Gotham"/>
              </a:rPr>
              <a:t>Hasil penelitian menunjukkan sistem prediksi penjualan waktu nyata yang terhubung dengan POS untuk penyerapan data dinamis.</a:t>
            </a:r>
          </a:p>
          <a:p>
            <a:pPr algn="just" marL="496569" indent="-248284" lvl="1">
              <a:lnSpc>
                <a:spcPts val="3219"/>
              </a:lnSpc>
              <a:spcBef>
                <a:spcPct val="0"/>
              </a:spcBef>
              <a:buFont typeface="Arial"/>
              <a:buChar char="•"/>
            </a:pPr>
            <a:r>
              <a:rPr lang="en-US" sz="2299">
                <a:solidFill>
                  <a:srgbClr val="000000"/>
                </a:solidFill>
                <a:latin typeface="Gotham"/>
                <a:ea typeface="Gotham"/>
                <a:cs typeface="Gotham"/>
                <a:sym typeface="Gotham"/>
              </a:rPr>
              <a:t>Hanya berfokus pada pendekatan hibrida LSTM-XGBoost berbasis web; penelitian ini menggunakan LSTM murni pada aplikasi mobile dan menguji augmentasi TimeGAN.</a:t>
            </a:r>
          </a:p>
          <a:p>
            <a:pPr algn="just">
              <a:lnSpc>
                <a:spcPts val="3219"/>
              </a:lnSpc>
              <a:spcBef>
                <a:spcPct val="0"/>
              </a:spcBef>
            </a:pP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EEF1F1"/>
        </a:solidFill>
      </p:bgPr>
    </p:bg>
    <p:spTree>
      <p:nvGrpSpPr>
        <p:cNvPr id="1" name=""/>
        <p:cNvGrpSpPr/>
        <p:nvPr/>
      </p:nvGrpSpPr>
      <p:grpSpPr>
        <a:xfrm>
          <a:off x="0" y="0"/>
          <a:ext cx="0" cy="0"/>
          <a:chOff x="0" y="0"/>
          <a:chExt cx="0" cy="0"/>
        </a:xfrm>
      </p:grpSpPr>
      <p:sp>
        <p:nvSpPr>
          <p:cNvPr name="AutoShape 2" id="2"/>
          <p:cNvSpPr/>
          <p:nvPr/>
        </p:nvSpPr>
        <p:spPr>
          <a:xfrm>
            <a:off x="1028700" y="1019175"/>
            <a:ext cx="16230600" cy="0"/>
          </a:xfrm>
          <a:prstGeom prst="line">
            <a:avLst/>
          </a:prstGeom>
          <a:ln cap="flat" w="19050">
            <a:solidFill>
              <a:srgbClr val="2E2C2B"/>
            </a:solidFill>
            <a:prstDash val="solid"/>
            <a:headEnd type="none" len="sm" w="sm"/>
            <a:tailEnd type="none" len="sm" w="sm"/>
          </a:ln>
        </p:spPr>
      </p:sp>
      <p:sp>
        <p:nvSpPr>
          <p:cNvPr name="Freeform 3" id="3"/>
          <p:cNvSpPr/>
          <p:nvPr/>
        </p:nvSpPr>
        <p:spPr>
          <a:xfrm flipH="false" flipV="true" rot="0">
            <a:off x="17259300" y="9258300"/>
            <a:ext cx="820968" cy="820968"/>
          </a:xfrm>
          <a:custGeom>
            <a:avLst/>
            <a:gdLst/>
            <a:ahLst/>
            <a:cxnLst/>
            <a:rect r="r" b="b" t="t" l="l"/>
            <a:pathLst>
              <a:path h="820968" w="820968">
                <a:moveTo>
                  <a:pt x="0" y="820968"/>
                </a:moveTo>
                <a:lnTo>
                  <a:pt x="820968" y="820968"/>
                </a:lnTo>
                <a:lnTo>
                  <a:pt x="820968" y="0"/>
                </a:lnTo>
                <a:lnTo>
                  <a:pt x="0" y="0"/>
                </a:lnTo>
                <a:lnTo>
                  <a:pt x="0" y="820968"/>
                </a:lnTo>
                <a:close/>
              </a:path>
            </a:pathLst>
          </a:custGeom>
          <a:blipFill>
            <a:blip r:embed="rId2">
              <a:extLst>
                <a:ext uri="{96DAC541-7B7A-43D3-8B79-37D633B846F1}">
                  <asvg:svgBlip xmlns:asvg="http://schemas.microsoft.com/office/drawing/2016/SVG/main" r:embed="rId3"/>
                </a:ext>
              </a:extLst>
            </a:blip>
            <a:stretch>
              <a:fillRect l="0" t="0" r="0" b="0"/>
            </a:stretch>
          </a:blipFill>
          <a:ln cap="sq">
            <a:noFill/>
            <a:prstDash val="solid"/>
            <a:miter/>
          </a:ln>
        </p:spPr>
      </p:sp>
      <p:sp>
        <p:nvSpPr>
          <p:cNvPr name="Freeform 4" id="4"/>
          <p:cNvSpPr/>
          <p:nvPr/>
        </p:nvSpPr>
        <p:spPr>
          <a:xfrm flipH="false" flipV="false" rot="0">
            <a:off x="1028700" y="44062"/>
            <a:ext cx="863108" cy="837215"/>
          </a:xfrm>
          <a:custGeom>
            <a:avLst/>
            <a:gdLst/>
            <a:ahLst/>
            <a:cxnLst/>
            <a:rect r="r" b="b" t="t" l="l"/>
            <a:pathLst>
              <a:path h="837215" w="863108">
                <a:moveTo>
                  <a:pt x="0" y="0"/>
                </a:moveTo>
                <a:lnTo>
                  <a:pt x="863108" y="0"/>
                </a:lnTo>
                <a:lnTo>
                  <a:pt x="863108" y="837215"/>
                </a:lnTo>
                <a:lnTo>
                  <a:pt x="0" y="837215"/>
                </a:lnTo>
                <a:lnTo>
                  <a:pt x="0" y="0"/>
                </a:lnTo>
                <a:close/>
              </a:path>
            </a:pathLst>
          </a:custGeom>
          <a:blipFill>
            <a:blip r:embed="rId4"/>
            <a:stretch>
              <a:fillRect l="0" t="0" r="0" b="0"/>
            </a:stretch>
          </a:blipFill>
        </p:spPr>
      </p:sp>
      <p:sp>
        <p:nvSpPr>
          <p:cNvPr name="Freeform 5" id="5"/>
          <p:cNvSpPr/>
          <p:nvPr/>
        </p:nvSpPr>
        <p:spPr>
          <a:xfrm flipH="false" flipV="false" rot="0">
            <a:off x="2765546" y="2233930"/>
            <a:ext cx="12756909" cy="7724661"/>
          </a:xfrm>
          <a:custGeom>
            <a:avLst/>
            <a:gdLst/>
            <a:ahLst/>
            <a:cxnLst/>
            <a:rect r="r" b="b" t="t" l="l"/>
            <a:pathLst>
              <a:path h="7724661" w="12756909">
                <a:moveTo>
                  <a:pt x="0" y="0"/>
                </a:moveTo>
                <a:lnTo>
                  <a:pt x="12756908" y="0"/>
                </a:lnTo>
                <a:lnTo>
                  <a:pt x="12756908" y="7724661"/>
                </a:lnTo>
                <a:lnTo>
                  <a:pt x="0" y="7724661"/>
                </a:lnTo>
                <a:lnTo>
                  <a:pt x="0" y="0"/>
                </a:lnTo>
                <a:close/>
              </a:path>
            </a:pathLst>
          </a:custGeom>
          <a:blipFill>
            <a:blip r:embed="rId5"/>
            <a:stretch>
              <a:fillRect l="0" t="0" r="0" b="0"/>
            </a:stretch>
          </a:blipFill>
        </p:spPr>
      </p:sp>
      <p:sp>
        <p:nvSpPr>
          <p:cNvPr name="TextBox 6" id="6"/>
          <p:cNvSpPr txBox="true"/>
          <p:nvPr/>
        </p:nvSpPr>
        <p:spPr>
          <a:xfrm rot="0">
            <a:off x="16332192" y="25115"/>
            <a:ext cx="1144270" cy="792481"/>
          </a:xfrm>
          <a:prstGeom prst="rect">
            <a:avLst/>
          </a:prstGeom>
        </p:spPr>
        <p:txBody>
          <a:bodyPr anchor="t" rtlCol="false" tIns="0" lIns="0" bIns="0" rIns="0">
            <a:spAutoFit/>
          </a:bodyPr>
          <a:lstStyle/>
          <a:p>
            <a:pPr algn="r">
              <a:lnSpc>
                <a:spcPts val="6299"/>
              </a:lnSpc>
            </a:pPr>
            <a:r>
              <a:rPr lang="en-US" b="true" sz="4499">
                <a:solidFill>
                  <a:srgbClr val="D0A175"/>
                </a:solidFill>
                <a:latin typeface="Hagrid Ultra-Bold"/>
                <a:ea typeface="Hagrid Ultra-Bold"/>
                <a:cs typeface="Hagrid Ultra-Bold"/>
                <a:sym typeface="Hagrid Ultra-Bold"/>
              </a:rPr>
              <a:t>08</a:t>
            </a:r>
          </a:p>
        </p:txBody>
      </p:sp>
      <p:sp>
        <p:nvSpPr>
          <p:cNvPr name="TextBox 7" id="7"/>
          <p:cNvSpPr txBox="true"/>
          <p:nvPr/>
        </p:nvSpPr>
        <p:spPr>
          <a:xfrm rot="0">
            <a:off x="1109643" y="1485900"/>
            <a:ext cx="14467283" cy="700405"/>
          </a:xfrm>
          <a:prstGeom prst="rect">
            <a:avLst/>
          </a:prstGeom>
        </p:spPr>
        <p:txBody>
          <a:bodyPr anchor="t" rtlCol="false" tIns="0" lIns="0" bIns="0" rIns="0">
            <a:spAutoFit/>
          </a:bodyPr>
          <a:lstStyle/>
          <a:p>
            <a:pPr algn="l" marL="0" indent="0" lvl="1">
              <a:lnSpc>
                <a:spcPts val="5000"/>
              </a:lnSpc>
            </a:pPr>
            <a:r>
              <a:rPr lang="en-US" b="true" sz="5000" spc="-100">
                <a:solidFill>
                  <a:srgbClr val="2E2C2B"/>
                </a:solidFill>
                <a:latin typeface="Hagrid Ultra-Bold"/>
                <a:ea typeface="Hagrid Ultra-Bold"/>
                <a:cs typeface="Hagrid Ultra-Bold"/>
                <a:sym typeface="Hagrid Ultra-Bold"/>
              </a:rPr>
              <a:t>ALUR PENELITIAN</a:t>
            </a:r>
          </a:p>
        </p:txBody>
      </p:sp>
      <p:sp>
        <p:nvSpPr>
          <p:cNvPr name="TextBox 8" id="8"/>
          <p:cNvSpPr txBox="true"/>
          <p:nvPr/>
        </p:nvSpPr>
        <p:spPr>
          <a:xfrm rot="0">
            <a:off x="2144041" y="276932"/>
            <a:ext cx="7234755" cy="361950"/>
          </a:xfrm>
          <a:prstGeom prst="rect">
            <a:avLst/>
          </a:prstGeom>
        </p:spPr>
        <p:txBody>
          <a:bodyPr anchor="t" rtlCol="false" tIns="0" lIns="0" bIns="0" rIns="0">
            <a:spAutoFit/>
          </a:bodyPr>
          <a:lstStyle/>
          <a:p>
            <a:pPr algn="l" marL="0" indent="0" lvl="0">
              <a:lnSpc>
                <a:spcPts val="2847"/>
              </a:lnSpc>
              <a:spcBef>
                <a:spcPct val="0"/>
              </a:spcBef>
            </a:pPr>
            <a:r>
              <a:rPr lang="en-US" sz="2372">
                <a:solidFill>
                  <a:srgbClr val="2E2C2B"/>
                </a:solidFill>
                <a:latin typeface="Gotham"/>
                <a:ea typeface="Gotham"/>
                <a:cs typeface="Gotham"/>
                <a:sym typeface="Gotham"/>
              </a:rPr>
              <a:t>POLITEK</a:t>
            </a:r>
            <a:r>
              <a:rPr lang="en-US" sz="2372" strike="noStrike" u="none">
                <a:solidFill>
                  <a:srgbClr val="2E2C2B"/>
                </a:solidFill>
                <a:latin typeface="Gotham"/>
                <a:ea typeface="Gotham"/>
                <a:cs typeface="Gotham"/>
                <a:sym typeface="Gotham"/>
              </a:rPr>
              <a:t>NIK NEGERI LHOKSEUMAWE</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EEF1F1"/>
        </a:solidFill>
      </p:bgPr>
    </p:bg>
    <p:spTree>
      <p:nvGrpSpPr>
        <p:cNvPr id="1" name=""/>
        <p:cNvGrpSpPr/>
        <p:nvPr/>
      </p:nvGrpSpPr>
      <p:grpSpPr>
        <a:xfrm>
          <a:off x="0" y="0"/>
          <a:ext cx="0" cy="0"/>
          <a:chOff x="0" y="0"/>
          <a:chExt cx="0" cy="0"/>
        </a:xfrm>
      </p:grpSpPr>
      <p:sp>
        <p:nvSpPr>
          <p:cNvPr name="AutoShape 2" id="2"/>
          <p:cNvSpPr/>
          <p:nvPr/>
        </p:nvSpPr>
        <p:spPr>
          <a:xfrm>
            <a:off x="1028700" y="1019175"/>
            <a:ext cx="16230600" cy="0"/>
          </a:xfrm>
          <a:prstGeom prst="line">
            <a:avLst/>
          </a:prstGeom>
          <a:ln cap="flat" w="19050">
            <a:solidFill>
              <a:srgbClr val="2E2C2B"/>
            </a:solidFill>
            <a:prstDash val="solid"/>
            <a:headEnd type="none" len="sm" w="sm"/>
            <a:tailEnd type="none" len="sm" w="sm"/>
          </a:ln>
        </p:spPr>
      </p:sp>
      <p:sp>
        <p:nvSpPr>
          <p:cNvPr name="Freeform 3" id="3"/>
          <p:cNvSpPr/>
          <p:nvPr/>
        </p:nvSpPr>
        <p:spPr>
          <a:xfrm flipH="false" flipV="true" rot="0">
            <a:off x="17259300" y="9258300"/>
            <a:ext cx="820968" cy="820968"/>
          </a:xfrm>
          <a:custGeom>
            <a:avLst/>
            <a:gdLst/>
            <a:ahLst/>
            <a:cxnLst/>
            <a:rect r="r" b="b" t="t" l="l"/>
            <a:pathLst>
              <a:path h="820968" w="820968">
                <a:moveTo>
                  <a:pt x="0" y="820968"/>
                </a:moveTo>
                <a:lnTo>
                  <a:pt x="820968" y="820968"/>
                </a:lnTo>
                <a:lnTo>
                  <a:pt x="820968" y="0"/>
                </a:lnTo>
                <a:lnTo>
                  <a:pt x="0" y="0"/>
                </a:lnTo>
                <a:lnTo>
                  <a:pt x="0" y="820968"/>
                </a:lnTo>
                <a:close/>
              </a:path>
            </a:pathLst>
          </a:custGeom>
          <a:blipFill>
            <a:blip r:embed="rId2">
              <a:extLst>
                <a:ext uri="{96DAC541-7B7A-43D3-8B79-37D633B846F1}">
                  <asvg:svgBlip xmlns:asvg="http://schemas.microsoft.com/office/drawing/2016/SVG/main" r:embed="rId3"/>
                </a:ext>
              </a:extLst>
            </a:blip>
            <a:stretch>
              <a:fillRect l="0" t="0" r="0" b="0"/>
            </a:stretch>
          </a:blipFill>
          <a:ln cap="sq">
            <a:noFill/>
            <a:prstDash val="solid"/>
            <a:miter/>
          </a:ln>
        </p:spPr>
      </p:sp>
      <p:sp>
        <p:nvSpPr>
          <p:cNvPr name="Freeform 4" id="4"/>
          <p:cNvSpPr/>
          <p:nvPr/>
        </p:nvSpPr>
        <p:spPr>
          <a:xfrm flipH="false" flipV="false" rot="0">
            <a:off x="1028700" y="44062"/>
            <a:ext cx="863108" cy="837215"/>
          </a:xfrm>
          <a:custGeom>
            <a:avLst/>
            <a:gdLst/>
            <a:ahLst/>
            <a:cxnLst/>
            <a:rect r="r" b="b" t="t" l="l"/>
            <a:pathLst>
              <a:path h="837215" w="863108">
                <a:moveTo>
                  <a:pt x="0" y="0"/>
                </a:moveTo>
                <a:lnTo>
                  <a:pt x="863108" y="0"/>
                </a:lnTo>
                <a:lnTo>
                  <a:pt x="863108" y="837215"/>
                </a:lnTo>
                <a:lnTo>
                  <a:pt x="0" y="837215"/>
                </a:lnTo>
                <a:lnTo>
                  <a:pt x="0" y="0"/>
                </a:lnTo>
                <a:close/>
              </a:path>
            </a:pathLst>
          </a:custGeom>
          <a:blipFill>
            <a:blip r:embed="rId4"/>
            <a:stretch>
              <a:fillRect l="0" t="0" r="0" b="0"/>
            </a:stretch>
          </a:blipFill>
        </p:spPr>
      </p:sp>
      <p:sp>
        <p:nvSpPr>
          <p:cNvPr name="Freeform 5" id="5"/>
          <p:cNvSpPr/>
          <p:nvPr/>
        </p:nvSpPr>
        <p:spPr>
          <a:xfrm flipH="false" flipV="false" rot="0">
            <a:off x="556248" y="2453005"/>
            <a:ext cx="11286612" cy="7103511"/>
          </a:xfrm>
          <a:custGeom>
            <a:avLst/>
            <a:gdLst/>
            <a:ahLst/>
            <a:cxnLst/>
            <a:rect r="r" b="b" t="t" l="l"/>
            <a:pathLst>
              <a:path h="7103511" w="11286612">
                <a:moveTo>
                  <a:pt x="0" y="0"/>
                </a:moveTo>
                <a:lnTo>
                  <a:pt x="11286611" y="0"/>
                </a:lnTo>
                <a:lnTo>
                  <a:pt x="11286611" y="7103511"/>
                </a:lnTo>
                <a:lnTo>
                  <a:pt x="0" y="7103511"/>
                </a:lnTo>
                <a:lnTo>
                  <a:pt x="0" y="0"/>
                </a:lnTo>
                <a:close/>
              </a:path>
            </a:pathLst>
          </a:custGeom>
          <a:blipFill>
            <a:blip r:embed="rId5"/>
            <a:stretch>
              <a:fillRect l="0" t="0" r="0" b="0"/>
            </a:stretch>
          </a:blipFill>
        </p:spPr>
      </p:sp>
      <p:sp>
        <p:nvSpPr>
          <p:cNvPr name="TextBox 6" id="6"/>
          <p:cNvSpPr txBox="true"/>
          <p:nvPr/>
        </p:nvSpPr>
        <p:spPr>
          <a:xfrm rot="0">
            <a:off x="16332192" y="25115"/>
            <a:ext cx="1144270" cy="792481"/>
          </a:xfrm>
          <a:prstGeom prst="rect">
            <a:avLst/>
          </a:prstGeom>
        </p:spPr>
        <p:txBody>
          <a:bodyPr anchor="t" rtlCol="false" tIns="0" lIns="0" bIns="0" rIns="0">
            <a:spAutoFit/>
          </a:bodyPr>
          <a:lstStyle/>
          <a:p>
            <a:pPr algn="r">
              <a:lnSpc>
                <a:spcPts val="6299"/>
              </a:lnSpc>
            </a:pPr>
            <a:r>
              <a:rPr lang="en-US" b="true" sz="4499">
                <a:solidFill>
                  <a:srgbClr val="D0A175"/>
                </a:solidFill>
                <a:latin typeface="Hagrid Ultra-Bold"/>
                <a:ea typeface="Hagrid Ultra-Bold"/>
                <a:cs typeface="Hagrid Ultra-Bold"/>
                <a:sym typeface="Hagrid Ultra-Bold"/>
              </a:rPr>
              <a:t>09</a:t>
            </a:r>
          </a:p>
        </p:txBody>
      </p:sp>
      <p:sp>
        <p:nvSpPr>
          <p:cNvPr name="TextBox 7" id="7"/>
          <p:cNvSpPr txBox="true"/>
          <p:nvPr/>
        </p:nvSpPr>
        <p:spPr>
          <a:xfrm rot="0">
            <a:off x="556248" y="1362075"/>
            <a:ext cx="7388196" cy="700405"/>
          </a:xfrm>
          <a:prstGeom prst="rect">
            <a:avLst/>
          </a:prstGeom>
        </p:spPr>
        <p:txBody>
          <a:bodyPr anchor="t" rtlCol="false" tIns="0" lIns="0" bIns="0" rIns="0">
            <a:spAutoFit/>
          </a:bodyPr>
          <a:lstStyle/>
          <a:p>
            <a:pPr algn="l" marL="0" indent="0" lvl="1">
              <a:lnSpc>
                <a:spcPts val="5000"/>
              </a:lnSpc>
            </a:pPr>
            <a:r>
              <a:rPr lang="en-US" b="true" sz="5000" spc="-100">
                <a:solidFill>
                  <a:srgbClr val="2E2C2B"/>
                </a:solidFill>
                <a:latin typeface="Hagrid Ultra-Bold"/>
                <a:ea typeface="Hagrid Ultra-Bold"/>
                <a:cs typeface="Hagrid Ultra-Bold"/>
                <a:sym typeface="Hagrid Ultra-Bold"/>
              </a:rPr>
              <a:t>ARSITEKTUR SISTEM</a:t>
            </a:r>
          </a:p>
        </p:txBody>
      </p:sp>
      <p:sp>
        <p:nvSpPr>
          <p:cNvPr name="TextBox 8" id="8"/>
          <p:cNvSpPr txBox="true"/>
          <p:nvPr/>
        </p:nvSpPr>
        <p:spPr>
          <a:xfrm rot="0">
            <a:off x="12023180" y="1343934"/>
            <a:ext cx="5913615" cy="8324850"/>
          </a:xfrm>
          <a:prstGeom prst="rect">
            <a:avLst/>
          </a:prstGeom>
        </p:spPr>
        <p:txBody>
          <a:bodyPr anchor="t" rtlCol="false" tIns="0" lIns="0" bIns="0" rIns="0">
            <a:spAutoFit/>
          </a:bodyPr>
          <a:lstStyle/>
          <a:p>
            <a:pPr algn="l" marL="518160" indent="-259080" lvl="1">
              <a:lnSpc>
                <a:spcPts val="2879"/>
              </a:lnSpc>
              <a:spcBef>
                <a:spcPct val="0"/>
              </a:spcBef>
              <a:buFont typeface="Arial"/>
              <a:buChar char="•"/>
            </a:pPr>
            <a:r>
              <a:rPr lang="en-US" sz="2400">
                <a:solidFill>
                  <a:srgbClr val="2E2C2B"/>
                </a:solidFill>
                <a:latin typeface="Gotham"/>
                <a:ea typeface="Gotham"/>
                <a:cs typeface="Gotham"/>
                <a:sym typeface="Gotham"/>
              </a:rPr>
              <a:t>Aplikasi POS (Flutter, Android), arsitektur offli</a:t>
            </a:r>
            <a:r>
              <a:rPr lang="en-US" sz="2400" strike="noStrike" u="none">
                <a:solidFill>
                  <a:srgbClr val="2E2C2B"/>
                </a:solidFill>
                <a:latin typeface="Gotham"/>
                <a:ea typeface="Gotham"/>
                <a:cs typeface="Gotham"/>
                <a:sym typeface="Gotham"/>
              </a:rPr>
              <a:t>ne-first, kasir tetap dapat bertransaksi tanpa internet.</a:t>
            </a:r>
          </a:p>
          <a:p>
            <a:pPr algn="l">
              <a:lnSpc>
                <a:spcPts val="2879"/>
              </a:lnSpc>
              <a:spcBef>
                <a:spcPct val="0"/>
              </a:spcBef>
            </a:pPr>
          </a:p>
          <a:p>
            <a:pPr algn="l" marL="518160" indent="-259080" lvl="1">
              <a:lnSpc>
                <a:spcPts val="2879"/>
              </a:lnSpc>
              <a:spcBef>
                <a:spcPct val="0"/>
              </a:spcBef>
              <a:buFont typeface="Arial"/>
              <a:buChar char="•"/>
            </a:pPr>
            <a:r>
              <a:rPr lang="en-US" sz="2400" strike="noStrike" u="none">
                <a:solidFill>
                  <a:srgbClr val="2E2C2B"/>
                </a:solidFill>
                <a:latin typeface="Gotham"/>
                <a:ea typeface="Gotham"/>
                <a:cs typeface="Gotham"/>
                <a:sym typeface="Gotham"/>
              </a:rPr>
              <a:t>Isar DB, penyimpanan lokal selama offline.</a:t>
            </a:r>
          </a:p>
          <a:p>
            <a:pPr algn="l">
              <a:lnSpc>
                <a:spcPts val="2879"/>
              </a:lnSpc>
              <a:spcBef>
                <a:spcPct val="0"/>
              </a:spcBef>
            </a:pPr>
          </a:p>
          <a:p>
            <a:pPr algn="l" marL="518160" indent="-259080" lvl="1">
              <a:lnSpc>
                <a:spcPts val="2879"/>
              </a:lnSpc>
              <a:spcBef>
                <a:spcPct val="0"/>
              </a:spcBef>
              <a:buFont typeface="Arial"/>
              <a:buChar char="•"/>
            </a:pPr>
            <a:r>
              <a:rPr lang="en-US" sz="2400" strike="noStrike" u="none">
                <a:solidFill>
                  <a:srgbClr val="2E2C2B"/>
                </a:solidFill>
                <a:latin typeface="Gotham"/>
                <a:ea typeface="Gotham"/>
                <a:cs typeface="Gotham"/>
                <a:sym typeface="Gotham"/>
              </a:rPr>
              <a:t>Supabase PostgreSQL, basis data cloud, sinkronisasi otomatis saat koneksi aktif.</a:t>
            </a:r>
          </a:p>
          <a:p>
            <a:pPr algn="l">
              <a:lnSpc>
                <a:spcPts val="2879"/>
              </a:lnSpc>
              <a:spcBef>
                <a:spcPct val="0"/>
              </a:spcBef>
            </a:pPr>
          </a:p>
          <a:p>
            <a:pPr algn="l" marL="518160" indent="-259080" lvl="1">
              <a:lnSpc>
                <a:spcPts val="2879"/>
              </a:lnSpc>
              <a:spcBef>
                <a:spcPct val="0"/>
              </a:spcBef>
              <a:buFont typeface="Arial"/>
              <a:buChar char="•"/>
            </a:pPr>
            <a:r>
              <a:rPr lang="en-US" sz="2400" strike="noStrike" u="none">
                <a:solidFill>
                  <a:srgbClr val="2E2C2B"/>
                </a:solidFill>
                <a:latin typeface="Gotham"/>
                <a:ea typeface="Gotham"/>
                <a:cs typeface="Gotham"/>
                <a:sym typeface="Gotham"/>
              </a:rPr>
              <a:t>Layanan prediksi terpisah, Python (TensorFlow + Flask), model dilatih luring lalu di-deploy sebagai API di Hugging Face.</a:t>
            </a:r>
          </a:p>
          <a:p>
            <a:pPr algn="l">
              <a:lnSpc>
                <a:spcPts val="2879"/>
              </a:lnSpc>
              <a:spcBef>
                <a:spcPct val="0"/>
              </a:spcBef>
            </a:pPr>
          </a:p>
          <a:p>
            <a:pPr algn="l" marL="518160" indent="-259080" lvl="1">
              <a:lnSpc>
                <a:spcPts val="2879"/>
              </a:lnSpc>
              <a:spcBef>
                <a:spcPct val="0"/>
              </a:spcBef>
              <a:buFont typeface="Arial"/>
              <a:buChar char="•"/>
            </a:pPr>
            <a:r>
              <a:rPr lang="en-US" sz="2400" strike="noStrike" u="none">
                <a:solidFill>
                  <a:srgbClr val="2E2C2B"/>
                </a:solidFill>
                <a:latin typeface="Gotham"/>
                <a:ea typeface="Gotham"/>
                <a:cs typeface="Gotham"/>
                <a:sym typeface="Gotham"/>
              </a:rPr>
              <a:t>Halaman Smart Analytics, akses hasil prediksi langsung dari aplikasi.</a:t>
            </a:r>
          </a:p>
          <a:p>
            <a:pPr algn="l">
              <a:lnSpc>
                <a:spcPts val="2879"/>
              </a:lnSpc>
              <a:spcBef>
                <a:spcPct val="0"/>
              </a:spcBef>
            </a:pPr>
          </a:p>
          <a:p>
            <a:pPr algn="l" marL="518160" indent="-259080" lvl="1">
              <a:lnSpc>
                <a:spcPts val="2879"/>
              </a:lnSpc>
              <a:spcBef>
                <a:spcPct val="0"/>
              </a:spcBef>
              <a:buFont typeface="Arial"/>
              <a:buChar char="•"/>
            </a:pPr>
            <a:r>
              <a:rPr lang="en-US" sz="2400" strike="noStrike" u="none">
                <a:solidFill>
                  <a:srgbClr val="2E2C2B"/>
                </a:solidFill>
                <a:latin typeface="Gotham"/>
                <a:ea typeface="Gotham"/>
                <a:cs typeface="Gotham"/>
                <a:sym typeface="Gotham"/>
              </a:rPr>
              <a:t>Model-agnostic, penggantian metode prediksi tidak memerlukan perubahan aplikasi.</a:t>
            </a:r>
          </a:p>
          <a:p>
            <a:pPr algn="l" marL="0" indent="0" lvl="0">
              <a:lnSpc>
                <a:spcPts val="2879"/>
              </a:lnSpc>
              <a:spcBef>
                <a:spcPct val="0"/>
              </a:spcBef>
            </a:pPr>
          </a:p>
        </p:txBody>
      </p:sp>
      <p:sp>
        <p:nvSpPr>
          <p:cNvPr name="TextBox 9" id="9"/>
          <p:cNvSpPr txBox="true"/>
          <p:nvPr/>
        </p:nvSpPr>
        <p:spPr>
          <a:xfrm rot="0">
            <a:off x="2296441" y="429332"/>
            <a:ext cx="7234755" cy="361950"/>
          </a:xfrm>
          <a:prstGeom prst="rect">
            <a:avLst/>
          </a:prstGeom>
        </p:spPr>
        <p:txBody>
          <a:bodyPr anchor="t" rtlCol="false" tIns="0" lIns="0" bIns="0" rIns="0">
            <a:spAutoFit/>
          </a:bodyPr>
          <a:lstStyle/>
          <a:p>
            <a:pPr algn="l" marL="0" indent="0" lvl="0">
              <a:lnSpc>
                <a:spcPts val="2847"/>
              </a:lnSpc>
              <a:spcBef>
                <a:spcPct val="0"/>
              </a:spcBef>
            </a:pPr>
            <a:r>
              <a:rPr lang="en-US" sz="2372">
                <a:solidFill>
                  <a:srgbClr val="2E2C2B"/>
                </a:solidFill>
                <a:latin typeface="Gotham"/>
                <a:ea typeface="Gotham"/>
                <a:cs typeface="Gotham"/>
                <a:sym typeface="Gotham"/>
              </a:rPr>
              <a:t>POLITEK</a:t>
            </a:r>
            <a:r>
              <a:rPr lang="en-US" sz="2372" strike="noStrike" u="none">
                <a:solidFill>
                  <a:srgbClr val="2E2C2B"/>
                </a:solidFill>
                <a:latin typeface="Gotham"/>
                <a:ea typeface="Gotham"/>
                <a:cs typeface="Gotham"/>
                <a:sym typeface="Gotham"/>
              </a:rPr>
              <a:t>NIK NEGERI LHOKSEUMAWE</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EEF1F1"/>
        </a:solidFill>
      </p:bgPr>
    </p:bg>
    <p:spTree>
      <p:nvGrpSpPr>
        <p:cNvPr id="1" name=""/>
        <p:cNvGrpSpPr/>
        <p:nvPr/>
      </p:nvGrpSpPr>
      <p:grpSpPr>
        <a:xfrm>
          <a:off x="0" y="0"/>
          <a:ext cx="0" cy="0"/>
          <a:chOff x="0" y="0"/>
          <a:chExt cx="0" cy="0"/>
        </a:xfrm>
      </p:grpSpPr>
      <p:sp>
        <p:nvSpPr>
          <p:cNvPr name="AutoShape 2" id="2"/>
          <p:cNvSpPr/>
          <p:nvPr/>
        </p:nvSpPr>
        <p:spPr>
          <a:xfrm>
            <a:off x="1028700" y="1019175"/>
            <a:ext cx="16230600" cy="0"/>
          </a:xfrm>
          <a:prstGeom prst="line">
            <a:avLst/>
          </a:prstGeom>
          <a:ln cap="flat" w="19050">
            <a:solidFill>
              <a:srgbClr val="2E2C2B"/>
            </a:solidFill>
            <a:prstDash val="solid"/>
            <a:headEnd type="none" len="sm" w="sm"/>
            <a:tailEnd type="none" len="sm" w="sm"/>
          </a:ln>
        </p:spPr>
      </p:sp>
      <p:sp>
        <p:nvSpPr>
          <p:cNvPr name="Freeform 3" id="3"/>
          <p:cNvSpPr/>
          <p:nvPr/>
        </p:nvSpPr>
        <p:spPr>
          <a:xfrm flipH="false" flipV="true" rot="0">
            <a:off x="17259300" y="9258300"/>
            <a:ext cx="820968" cy="820968"/>
          </a:xfrm>
          <a:custGeom>
            <a:avLst/>
            <a:gdLst/>
            <a:ahLst/>
            <a:cxnLst/>
            <a:rect r="r" b="b" t="t" l="l"/>
            <a:pathLst>
              <a:path h="820968" w="820968">
                <a:moveTo>
                  <a:pt x="0" y="820968"/>
                </a:moveTo>
                <a:lnTo>
                  <a:pt x="820968" y="820968"/>
                </a:lnTo>
                <a:lnTo>
                  <a:pt x="820968" y="0"/>
                </a:lnTo>
                <a:lnTo>
                  <a:pt x="0" y="0"/>
                </a:lnTo>
                <a:lnTo>
                  <a:pt x="0" y="820968"/>
                </a:lnTo>
                <a:close/>
              </a:path>
            </a:pathLst>
          </a:custGeom>
          <a:blipFill>
            <a:blip r:embed="rId2">
              <a:extLst>
                <a:ext uri="{96DAC541-7B7A-43D3-8B79-37D633B846F1}">
                  <asvg:svgBlip xmlns:asvg="http://schemas.microsoft.com/office/drawing/2016/SVG/main" r:embed="rId3"/>
                </a:ext>
              </a:extLst>
            </a:blip>
            <a:stretch>
              <a:fillRect l="0" t="0" r="0" b="0"/>
            </a:stretch>
          </a:blipFill>
          <a:ln cap="sq">
            <a:noFill/>
            <a:prstDash val="solid"/>
            <a:miter/>
          </a:ln>
        </p:spPr>
      </p:sp>
      <p:sp>
        <p:nvSpPr>
          <p:cNvPr name="Freeform 4" id="4"/>
          <p:cNvSpPr/>
          <p:nvPr/>
        </p:nvSpPr>
        <p:spPr>
          <a:xfrm flipH="false" flipV="false" rot="0">
            <a:off x="1028700" y="44062"/>
            <a:ext cx="863108" cy="837215"/>
          </a:xfrm>
          <a:custGeom>
            <a:avLst/>
            <a:gdLst/>
            <a:ahLst/>
            <a:cxnLst/>
            <a:rect r="r" b="b" t="t" l="l"/>
            <a:pathLst>
              <a:path h="837215" w="863108">
                <a:moveTo>
                  <a:pt x="0" y="0"/>
                </a:moveTo>
                <a:lnTo>
                  <a:pt x="863108" y="0"/>
                </a:lnTo>
                <a:lnTo>
                  <a:pt x="863108" y="837215"/>
                </a:lnTo>
                <a:lnTo>
                  <a:pt x="0" y="837215"/>
                </a:lnTo>
                <a:lnTo>
                  <a:pt x="0" y="0"/>
                </a:lnTo>
                <a:close/>
              </a:path>
            </a:pathLst>
          </a:custGeom>
          <a:blipFill>
            <a:blip r:embed="rId4"/>
            <a:stretch>
              <a:fillRect l="0" t="0" r="0" b="0"/>
            </a:stretch>
          </a:blipFill>
        </p:spPr>
      </p:sp>
      <p:sp>
        <p:nvSpPr>
          <p:cNvPr name="TextBox 5" id="5"/>
          <p:cNvSpPr txBox="true"/>
          <p:nvPr/>
        </p:nvSpPr>
        <p:spPr>
          <a:xfrm rot="0">
            <a:off x="16332192" y="25115"/>
            <a:ext cx="1144270" cy="792481"/>
          </a:xfrm>
          <a:prstGeom prst="rect">
            <a:avLst/>
          </a:prstGeom>
        </p:spPr>
        <p:txBody>
          <a:bodyPr anchor="t" rtlCol="false" tIns="0" lIns="0" bIns="0" rIns="0">
            <a:spAutoFit/>
          </a:bodyPr>
          <a:lstStyle/>
          <a:p>
            <a:pPr algn="r">
              <a:lnSpc>
                <a:spcPts val="6299"/>
              </a:lnSpc>
            </a:pPr>
            <a:r>
              <a:rPr lang="en-US" sz="4499" b="true">
                <a:solidFill>
                  <a:srgbClr val="D0A175"/>
                </a:solidFill>
                <a:latin typeface="Hagrid Ultra-Bold"/>
                <a:ea typeface="Hagrid Ultra-Bold"/>
                <a:cs typeface="Hagrid Ultra-Bold"/>
                <a:sym typeface="Hagrid Ultra-Bold"/>
              </a:rPr>
              <a:t>10</a:t>
            </a:r>
          </a:p>
        </p:txBody>
      </p:sp>
      <p:sp>
        <p:nvSpPr>
          <p:cNvPr name="TextBox 6" id="6"/>
          <p:cNvSpPr txBox="true"/>
          <p:nvPr/>
        </p:nvSpPr>
        <p:spPr>
          <a:xfrm rot="0">
            <a:off x="1109643" y="1681162"/>
            <a:ext cx="14467283" cy="700405"/>
          </a:xfrm>
          <a:prstGeom prst="rect">
            <a:avLst/>
          </a:prstGeom>
        </p:spPr>
        <p:txBody>
          <a:bodyPr anchor="t" rtlCol="false" tIns="0" lIns="0" bIns="0" rIns="0">
            <a:spAutoFit/>
          </a:bodyPr>
          <a:lstStyle/>
          <a:p>
            <a:pPr algn="l" marL="0" indent="0" lvl="1">
              <a:lnSpc>
                <a:spcPts val="5000"/>
              </a:lnSpc>
            </a:pPr>
            <a:r>
              <a:rPr lang="en-US" b="true" sz="5000" spc="-100">
                <a:solidFill>
                  <a:srgbClr val="2E2C2B"/>
                </a:solidFill>
                <a:latin typeface="Hagrid Ultra-Bold"/>
                <a:ea typeface="Hagrid Ultra-Bold"/>
                <a:cs typeface="Hagrid Ultra-Bold"/>
                <a:sym typeface="Hagrid Ultra-Bold"/>
              </a:rPr>
              <a:t>DATA DAN PENGUMPULAN DATA</a:t>
            </a:r>
          </a:p>
        </p:txBody>
      </p:sp>
      <p:sp>
        <p:nvSpPr>
          <p:cNvPr name="TextBox 7" id="7"/>
          <p:cNvSpPr txBox="true"/>
          <p:nvPr/>
        </p:nvSpPr>
        <p:spPr>
          <a:xfrm rot="0">
            <a:off x="2144041" y="276932"/>
            <a:ext cx="7234755" cy="361950"/>
          </a:xfrm>
          <a:prstGeom prst="rect">
            <a:avLst/>
          </a:prstGeom>
        </p:spPr>
        <p:txBody>
          <a:bodyPr anchor="t" rtlCol="false" tIns="0" lIns="0" bIns="0" rIns="0">
            <a:spAutoFit/>
          </a:bodyPr>
          <a:lstStyle/>
          <a:p>
            <a:pPr algn="l" marL="0" indent="0" lvl="0">
              <a:lnSpc>
                <a:spcPts val="2847"/>
              </a:lnSpc>
              <a:spcBef>
                <a:spcPct val="0"/>
              </a:spcBef>
            </a:pPr>
            <a:r>
              <a:rPr lang="en-US" sz="2372">
                <a:solidFill>
                  <a:srgbClr val="2E2C2B"/>
                </a:solidFill>
                <a:latin typeface="Gotham"/>
                <a:ea typeface="Gotham"/>
                <a:cs typeface="Gotham"/>
                <a:sym typeface="Gotham"/>
              </a:rPr>
              <a:t>POLITEK</a:t>
            </a:r>
            <a:r>
              <a:rPr lang="en-US" sz="2372" strike="noStrike" u="none">
                <a:solidFill>
                  <a:srgbClr val="2E2C2B"/>
                </a:solidFill>
                <a:latin typeface="Gotham"/>
                <a:ea typeface="Gotham"/>
                <a:cs typeface="Gotham"/>
                <a:sym typeface="Gotham"/>
              </a:rPr>
              <a:t>NIK NEGERI LHOKSEUMAWE</a:t>
            </a:r>
          </a:p>
        </p:txBody>
      </p:sp>
      <p:sp>
        <p:nvSpPr>
          <p:cNvPr name="TextBox 8" id="8"/>
          <p:cNvSpPr txBox="true"/>
          <p:nvPr/>
        </p:nvSpPr>
        <p:spPr>
          <a:xfrm rot="0">
            <a:off x="1069172" y="2645728"/>
            <a:ext cx="1197290" cy="1076325"/>
          </a:xfrm>
          <a:prstGeom prst="rect">
            <a:avLst/>
          </a:prstGeom>
        </p:spPr>
        <p:txBody>
          <a:bodyPr anchor="t" rtlCol="false" tIns="0" lIns="0" bIns="0" rIns="0">
            <a:spAutoFit/>
          </a:bodyPr>
          <a:lstStyle/>
          <a:p>
            <a:pPr algn="l">
              <a:lnSpc>
                <a:spcPts val="8400"/>
              </a:lnSpc>
            </a:pPr>
            <a:r>
              <a:rPr lang="en-US" sz="6000" b="true">
                <a:solidFill>
                  <a:srgbClr val="BC1823"/>
                </a:solidFill>
                <a:latin typeface="Hagrid Ultra-Bold"/>
                <a:ea typeface="Hagrid Ultra-Bold"/>
                <a:cs typeface="Hagrid Ultra-Bold"/>
                <a:sym typeface="Hagrid Ultra-Bold"/>
              </a:rPr>
              <a:t>01.</a:t>
            </a:r>
          </a:p>
        </p:txBody>
      </p:sp>
      <p:sp>
        <p:nvSpPr>
          <p:cNvPr name="TextBox 9" id="9"/>
          <p:cNvSpPr txBox="true"/>
          <p:nvPr/>
        </p:nvSpPr>
        <p:spPr>
          <a:xfrm rot="0">
            <a:off x="1028700" y="4963344"/>
            <a:ext cx="1522974" cy="1076325"/>
          </a:xfrm>
          <a:prstGeom prst="rect">
            <a:avLst/>
          </a:prstGeom>
        </p:spPr>
        <p:txBody>
          <a:bodyPr anchor="t" rtlCol="false" tIns="0" lIns="0" bIns="0" rIns="0">
            <a:spAutoFit/>
          </a:bodyPr>
          <a:lstStyle/>
          <a:p>
            <a:pPr algn="l">
              <a:lnSpc>
                <a:spcPts val="8400"/>
              </a:lnSpc>
            </a:pPr>
            <a:r>
              <a:rPr lang="en-US" sz="6000" b="true">
                <a:solidFill>
                  <a:srgbClr val="BC1823"/>
                </a:solidFill>
                <a:latin typeface="Hagrid Ultra-Bold"/>
                <a:ea typeface="Hagrid Ultra-Bold"/>
                <a:cs typeface="Hagrid Ultra-Bold"/>
                <a:sym typeface="Hagrid Ultra-Bold"/>
              </a:rPr>
              <a:t>02.</a:t>
            </a:r>
          </a:p>
        </p:txBody>
      </p:sp>
      <p:sp>
        <p:nvSpPr>
          <p:cNvPr name="TextBox 10" id="10"/>
          <p:cNvSpPr txBox="true"/>
          <p:nvPr/>
        </p:nvSpPr>
        <p:spPr>
          <a:xfrm rot="0">
            <a:off x="1028700" y="7565149"/>
            <a:ext cx="1522974" cy="1076325"/>
          </a:xfrm>
          <a:prstGeom prst="rect">
            <a:avLst/>
          </a:prstGeom>
        </p:spPr>
        <p:txBody>
          <a:bodyPr anchor="t" rtlCol="false" tIns="0" lIns="0" bIns="0" rIns="0">
            <a:spAutoFit/>
          </a:bodyPr>
          <a:lstStyle/>
          <a:p>
            <a:pPr algn="l">
              <a:lnSpc>
                <a:spcPts val="8400"/>
              </a:lnSpc>
            </a:pPr>
            <a:r>
              <a:rPr lang="en-US" sz="6000" b="true">
                <a:solidFill>
                  <a:srgbClr val="BC1823"/>
                </a:solidFill>
                <a:latin typeface="Hagrid Ultra-Bold"/>
                <a:ea typeface="Hagrid Ultra-Bold"/>
                <a:cs typeface="Hagrid Ultra-Bold"/>
                <a:sym typeface="Hagrid Ultra-Bold"/>
              </a:rPr>
              <a:t>03.</a:t>
            </a:r>
          </a:p>
        </p:txBody>
      </p:sp>
      <p:sp>
        <p:nvSpPr>
          <p:cNvPr name="TextBox 11" id="11"/>
          <p:cNvSpPr txBox="true"/>
          <p:nvPr/>
        </p:nvSpPr>
        <p:spPr>
          <a:xfrm rot="0">
            <a:off x="2711073" y="3362749"/>
            <a:ext cx="14548227" cy="1352944"/>
          </a:xfrm>
          <a:prstGeom prst="rect">
            <a:avLst/>
          </a:prstGeom>
        </p:spPr>
        <p:txBody>
          <a:bodyPr anchor="t" rtlCol="false" tIns="0" lIns="0" bIns="0" rIns="0">
            <a:spAutoFit/>
          </a:bodyPr>
          <a:lstStyle/>
          <a:p>
            <a:pPr algn="just" marL="0" indent="0" lvl="0">
              <a:lnSpc>
                <a:spcPts val="3653"/>
              </a:lnSpc>
              <a:spcBef>
                <a:spcPct val="0"/>
              </a:spcBef>
            </a:pPr>
            <a:r>
              <a:rPr lang="en-US" sz="2609">
                <a:solidFill>
                  <a:srgbClr val="2E2C2B"/>
                </a:solidFill>
                <a:latin typeface="Gotham"/>
                <a:ea typeface="Gotham"/>
                <a:cs typeface="Gotham"/>
                <a:sym typeface="Gotham"/>
              </a:rPr>
              <a:t>Dump SQL pl</a:t>
            </a:r>
            <a:r>
              <a:rPr lang="en-US" sz="2609" strike="noStrike" u="none">
                <a:solidFill>
                  <a:srgbClr val="2E2C2B"/>
                </a:solidFill>
                <a:latin typeface="Gotham"/>
                <a:ea typeface="Gotham"/>
                <a:cs typeface="Gotham"/>
                <a:sym typeface="Gotham"/>
              </a:rPr>
              <a:t>atform EatsTEDI, Departemen Teknik Elektro Dan Informatika (DTEDI) UGM (eatstedi-20260621-010820.sql) — 32,15 MB, ±395.090 baris, rentang </a:t>
            </a:r>
            <a:r>
              <a:rPr lang="en-US" b="true" sz="2609" strike="noStrike" u="none">
                <a:solidFill>
                  <a:srgbClr val="2E2C2B"/>
                </a:solidFill>
                <a:latin typeface="Gotham Bold"/>
                <a:ea typeface="Gotham Bold"/>
                <a:cs typeface="Gotham Bold"/>
                <a:sym typeface="Gotham Bold"/>
              </a:rPr>
              <a:t>24 Agustus 2024–20 Juni 2026</a:t>
            </a:r>
            <a:r>
              <a:rPr lang="en-US" sz="2609" strike="noStrike" u="none">
                <a:solidFill>
                  <a:srgbClr val="2E2C2B"/>
                </a:solidFill>
                <a:latin typeface="Gotham"/>
                <a:ea typeface="Gotham"/>
                <a:cs typeface="Gotham"/>
                <a:sym typeface="Gotham"/>
              </a:rPr>
              <a:t> (</a:t>
            </a:r>
            <a:r>
              <a:rPr lang="en-US" b="true" sz="2609" strike="noStrike" u="none">
                <a:solidFill>
                  <a:srgbClr val="2E2C2B"/>
                </a:solidFill>
                <a:latin typeface="Gotham Bold"/>
                <a:ea typeface="Gotham Bold"/>
                <a:cs typeface="Gotham Bold"/>
                <a:sym typeface="Gotham Bold"/>
              </a:rPr>
              <a:t>666 </a:t>
            </a:r>
            <a:r>
              <a:rPr lang="en-US" sz="2609" strike="noStrike" u="none">
                <a:solidFill>
                  <a:srgbClr val="2E2C2B"/>
                </a:solidFill>
                <a:latin typeface="Gotham"/>
                <a:ea typeface="Gotham"/>
                <a:cs typeface="Gotham"/>
                <a:sym typeface="Gotham"/>
              </a:rPr>
              <a:t>hari kalender).</a:t>
            </a:r>
          </a:p>
        </p:txBody>
      </p:sp>
      <p:sp>
        <p:nvSpPr>
          <p:cNvPr name="TextBox 12" id="12"/>
          <p:cNvSpPr txBox="true"/>
          <p:nvPr/>
        </p:nvSpPr>
        <p:spPr>
          <a:xfrm rot="0">
            <a:off x="2711073" y="5836285"/>
            <a:ext cx="14548227" cy="1481214"/>
          </a:xfrm>
          <a:prstGeom prst="rect">
            <a:avLst/>
          </a:prstGeom>
        </p:spPr>
        <p:txBody>
          <a:bodyPr anchor="t" rtlCol="false" tIns="0" lIns="0" bIns="0" rIns="0">
            <a:spAutoFit/>
          </a:bodyPr>
          <a:lstStyle/>
          <a:p>
            <a:pPr algn="just" marL="0" indent="0" lvl="0">
              <a:lnSpc>
                <a:spcPts val="3933"/>
              </a:lnSpc>
              <a:spcBef>
                <a:spcPct val="0"/>
              </a:spcBef>
            </a:pPr>
            <a:r>
              <a:rPr lang="en-US" sz="2809">
                <a:solidFill>
                  <a:srgbClr val="2E2C2B"/>
                </a:solidFill>
                <a:latin typeface="Gotham"/>
                <a:ea typeface="Gotham"/>
                <a:cs typeface="Gotham"/>
                <a:sym typeface="Gotham"/>
              </a:rPr>
              <a:t>S</a:t>
            </a:r>
            <a:r>
              <a:rPr lang="en-US" sz="2809" strike="noStrike" u="none">
                <a:solidFill>
                  <a:srgbClr val="2E2C2B"/>
                </a:solidFill>
                <a:latin typeface="Gotham"/>
                <a:ea typeface="Gotham"/>
                <a:cs typeface="Gotham"/>
                <a:sym typeface="Gotham"/>
              </a:rPr>
              <a:t>etelah filter status lunas </a:t>
            </a:r>
            <a:r>
              <a:rPr lang="en-US" sz="2809" i="true" strike="noStrike" u="none">
                <a:solidFill>
                  <a:srgbClr val="2E2C2B"/>
                </a:solidFill>
                <a:latin typeface="Gotham Italics"/>
                <a:ea typeface="Gotham Italics"/>
                <a:cs typeface="Gotham Italics"/>
                <a:sym typeface="Gotham Italics"/>
              </a:rPr>
              <a:t>(is_paid = 1)</a:t>
            </a:r>
            <a:r>
              <a:rPr lang="en-US" sz="2809" strike="noStrike" u="none">
                <a:solidFill>
                  <a:srgbClr val="2E2C2B"/>
                </a:solidFill>
                <a:latin typeface="Gotham"/>
                <a:ea typeface="Gotham"/>
                <a:cs typeface="Gotham"/>
                <a:sym typeface="Gotham"/>
              </a:rPr>
              <a:t> &amp; agregasi harian: rentang efektif </a:t>
            </a:r>
            <a:r>
              <a:rPr lang="en-US" b="true" sz="2809" strike="noStrike" u="none">
                <a:solidFill>
                  <a:srgbClr val="2E2C2B"/>
                </a:solidFill>
                <a:latin typeface="Gotham Bold"/>
                <a:ea typeface="Gotham Bold"/>
                <a:cs typeface="Gotham Bold"/>
                <a:sym typeface="Gotham Bold"/>
              </a:rPr>
              <a:t>26 Agustus 2024–20 Juni 2026</a:t>
            </a:r>
            <a:r>
              <a:rPr lang="en-US" sz="2809" strike="noStrike" u="none">
                <a:solidFill>
                  <a:srgbClr val="2E2C2B"/>
                </a:solidFill>
                <a:latin typeface="Gotham"/>
                <a:ea typeface="Gotham"/>
                <a:cs typeface="Gotham"/>
                <a:sym typeface="Gotham"/>
              </a:rPr>
              <a:t>, </a:t>
            </a:r>
            <a:r>
              <a:rPr lang="en-US" b="true" sz="2809" strike="noStrike" u="none">
                <a:solidFill>
                  <a:srgbClr val="2E2C2B"/>
                </a:solidFill>
                <a:latin typeface="Gotham Bold"/>
                <a:ea typeface="Gotham Bold"/>
                <a:cs typeface="Gotham Bold"/>
                <a:sym typeface="Gotham Bold"/>
              </a:rPr>
              <a:t>313 hari</a:t>
            </a:r>
            <a:r>
              <a:rPr lang="en-US" sz="2809" strike="noStrike" u="none">
                <a:solidFill>
                  <a:srgbClr val="2E2C2B"/>
                </a:solidFill>
                <a:latin typeface="Gotham"/>
                <a:ea typeface="Gotham"/>
                <a:cs typeface="Gotham"/>
                <a:sym typeface="Gotham"/>
              </a:rPr>
              <a:t> dengan transaksi tercatat dari </a:t>
            </a:r>
            <a:r>
              <a:rPr lang="en-US" b="true" sz="2809" strike="noStrike" u="none">
                <a:solidFill>
                  <a:srgbClr val="2E2C2B"/>
                </a:solidFill>
                <a:latin typeface="Gotham Bold"/>
                <a:ea typeface="Gotham Bold"/>
                <a:cs typeface="Gotham Bold"/>
                <a:sym typeface="Gotham Bold"/>
              </a:rPr>
              <a:t>475 hari</a:t>
            </a:r>
            <a:r>
              <a:rPr lang="en-US" sz="2809" strike="noStrike" u="none">
                <a:solidFill>
                  <a:srgbClr val="2E2C2B"/>
                </a:solidFill>
                <a:latin typeface="Gotham"/>
                <a:ea typeface="Gotham"/>
                <a:cs typeface="Gotham"/>
                <a:sym typeface="Gotham"/>
              </a:rPr>
              <a:t> </a:t>
            </a:r>
            <a:r>
              <a:rPr lang="en-US" b="true" sz="2809" strike="noStrike" u="none">
                <a:solidFill>
                  <a:srgbClr val="2E2C2B"/>
                </a:solidFill>
                <a:latin typeface="Gotham Bold"/>
                <a:ea typeface="Gotham Bold"/>
                <a:cs typeface="Gotham Bold"/>
                <a:sym typeface="Gotham Bold"/>
              </a:rPr>
              <a:t>kerja kalender</a:t>
            </a:r>
            <a:r>
              <a:rPr lang="en-US" sz="2809" strike="noStrike" u="none">
                <a:solidFill>
                  <a:srgbClr val="2E2C2B"/>
                </a:solidFill>
                <a:latin typeface="Gotham"/>
                <a:ea typeface="Gotham"/>
                <a:cs typeface="Gotham"/>
                <a:sym typeface="Gotham"/>
              </a:rPr>
              <a:t>. Pemodelan univariat (revenue harian).</a:t>
            </a:r>
          </a:p>
        </p:txBody>
      </p:sp>
      <p:sp>
        <p:nvSpPr>
          <p:cNvPr name="TextBox 13" id="13"/>
          <p:cNvSpPr txBox="true"/>
          <p:nvPr/>
        </p:nvSpPr>
        <p:spPr>
          <a:xfrm rot="0">
            <a:off x="2711073" y="8438091"/>
            <a:ext cx="14548227" cy="1976514"/>
          </a:xfrm>
          <a:prstGeom prst="rect">
            <a:avLst/>
          </a:prstGeom>
        </p:spPr>
        <p:txBody>
          <a:bodyPr anchor="t" rtlCol="false" tIns="0" lIns="0" bIns="0" rIns="0">
            <a:spAutoFit/>
          </a:bodyPr>
          <a:lstStyle/>
          <a:p>
            <a:pPr algn="just" marL="0" indent="0" lvl="0">
              <a:lnSpc>
                <a:spcPts val="3933"/>
              </a:lnSpc>
              <a:spcBef>
                <a:spcPct val="0"/>
              </a:spcBef>
            </a:pPr>
            <a:r>
              <a:rPr lang="en-US" sz="2809">
                <a:solidFill>
                  <a:srgbClr val="2E2C2B"/>
                </a:solidFill>
                <a:latin typeface="Gotham"/>
                <a:ea typeface="Gotham"/>
                <a:cs typeface="Gotham"/>
                <a:sym typeface="Gotham"/>
              </a:rPr>
              <a:t>M</a:t>
            </a:r>
            <a:r>
              <a:rPr lang="en-US" sz="2809" strike="noStrike" u="none">
                <a:solidFill>
                  <a:srgbClr val="2E2C2B"/>
                </a:solidFill>
                <a:latin typeface="Gotham"/>
                <a:ea typeface="Gotham"/>
                <a:cs typeface="Gotham"/>
                <a:sym typeface="Gotham"/>
              </a:rPr>
              <a:t>encakup empat semester berturut-turut (d</a:t>
            </a:r>
            <a:r>
              <a:rPr lang="en-US" sz="2809" strike="noStrike" u="none">
                <a:solidFill>
                  <a:srgbClr val="2E2C2B"/>
                </a:solidFill>
                <a:latin typeface="Gotham"/>
                <a:ea typeface="Gotham"/>
                <a:cs typeface="Gotham"/>
                <a:sym typeface="Gotham"/>
              </a:rPr>
              <a:t>u</a:t>
            </a:r>
            <a:r>
              <a:rPr lang="en-US" sz="2809" strike="noStrike" u="none">
                <a:solidFill>
                  <a:srgbClr val="2E2C2B"/>
                </a:solidFill>
                <a:latin typeface="Gotham"/>
                <a:ea typeface="Gotham"/>
                <a:cs typeface="Gotham"/>
                <a:sym typeface="Gotham"/>
              </a:rPr>
              <a:t>a tahun akademik) —</a:t>
            </a:r>
            <a:r>
              <a:rPr lang="en-US" sz="2809" strike="noStrike" u="none">
                <a:solidFill>
                  <a:srgbClr val="2E2C2B"/>
                </a:solidFill>
                <a:latin typeface="Gotham"/>
                <a:ea typeface="Gotham"/>
                <a:cs typeface="Gotham"/>
                <a:sym typeface="Gotham"/>
              </a:rPr>
              <a:t> </a:t>
            </a:r>
            <a:r>
              <a:rPr lang="en-US" sz="2809" strike="noStrike" u="none">
                <a:solidFill>
                  <a:srgbClr val="2E2C2B"/>
                </a:solidFill>
                <a:latin typeface="Gotham"/>
                <a:ea typeface="Gotham"/>
                <a:cs typeface="Gotham"/>
                <a:sym typeface="Gotham"/>
              </a:rPr>
              <a:t>c</a:t>
            </a:r>
            <a:r>
              <a:rPr lang="en-US" sz="2809" strike="noStrike" u="none">
                <a:solidFill>
                  <a:srgbClr val="2E2C2B"/>
                </a:solidFill>
                <a:latin typeface="Gotham"/>
                <a:ea typeface="Gotham"/>
                <a:cs typeface="Gotham"/>
                <a:sym typeface="Gotham"/>
              </a:rPr>
              <a:t>u</a:t>
            </a:r>
            <a:r>
              <a:rPr lang="en-US" sz="2809" strike="noStrike" u="none">
                <a:solidFill>
                  <a:srgbClr val="2E2C2B"/>
                </a:solidFill>
                <a:latin typeface="Gotham"/>
                <a:ea typeface="Gotham"/>
                <a:cs typeface="Gotham"/>
                <a:sym typeface="Gotham"/>
              </a:rPr>
              <a:t>k</a:t>
            </a:r>
            <a:r>
              <a:rPr lang="en-US" sz="2809" strike="noStrike" u="none">
                <a:solidFill>
                  <a:srgbClr val="2E2C2B"/>
                </a:solidFill>
                <a:latin typeface="Gotham"/>
                <a:ea typeface="Gotham"/>
                <a:cs typeface="Gotham"/>
                <a:sym typeface="Gotham"/>
              </a:rPr>
              <a:t>u</a:t>
            </a:r>
            <a:r>
              <a:rPr lang="en-US" sz="2809" strike="noStrike" u="none">
                <a:solidFill>
                  <a:srgbClr val="2E2C2B"/>
                </a:solidFill>
                <a:latin typeface="Gotham"/>
                <a:ea typeface="Gotham"/>
                <a:cs typeface="Gotham"/>
                <a:sym typeface="Gotham"/>
              </a:rPr>
              <a:t>p</a:t>
            </a:r>
            <a:r>
              <a:rPr lang="en-US" sz="2809" strike="noStrike" u="none">
                <a:solidFill>
                  <a:srgbClr val="2E2C2B"/>
                </a:solidFill>
                <a:latin typeface="Gotham"/>
                <a:ea typeface="Gotham"/>
                <a:cs typeface="Gotham"/>
                <a:sym typeface="Gotham"/>
              </a:rPr>
              <a:t> </a:t>
            </a:r>
            <a:r>
              <a:rPr lang="en-US" sz="2809" strike="noStrike" u="none">
                <a:solidFill>
                  <a:srgbClr val="2E2C2B"/>
                </a:solidFill>
                <a:latin typeface="Gotham"/>
                <a:ea typeface="Gotham"/>
                <a:cs typeface="Gotham"/>
                <a:sym typeface="Gotham"/>
              </a:rPr>
              <a:t>kaya</a:t>
            </a:r>
            <a:r>
              <a:rPr lang="en-US" sz="2809" strike="noStrike" u="none">
                <a:solidFill>
                  <a:srgbClr val="2E2C2B"/>
                </a:solidFill>
                <a:latin typeface="Gotham"/>
                <a:ea typeface="Gotham"/>
                <a:cs typeface="Gotham"/>
                <a:sym typeface="Gotham"/>
              </a:rPr>
              <a:t> </a:t>
            </a:r>
            <a:r>
              <a:rPr lang="en-US" sz="2809" strike="noStrike" u="none">
                <a:solidFill>
                  <a:srgbClr val="2E2C2B"/>
                </a:solidFill>
                <a:latin typeface="Gotham"/>
                <a:ea typeface="Gotham"/>
                <a:cs typeface="Gotham"/>
                <a:sym typeface="Gotham"/>
              </a:rPr>
              <a:t>pola m</a:t>
            </a:r>
            <a:r>
              <a:rPr lang="en-US" sz="2809" strike="noStrike" u="none">
                <a:solidFill>
                  <a:srgbClr val="2E2C2B"/>
                </a:solidFill>
                <a:latin typeface="Gotham"/>
                <a:ea typeface="Gotham"/>
                <a:cs typeface="Gotham"/>
                <a:sym typeface="Gotham"/>
              </a:rPr>
              <a:t>u</a:t>
            </a:r>
            <a:r>
              <a:rPr lang="en-US" sz="2809" strike="noStrike" u="none">
                <a:solidFill>
                  <a:srgbClr val="2E2C2B"/>
                </a:solidFill>
                <a:latin typeface="Gotham"/>
                <a:ea typeface="Gotham"/>
                <a:cs typeface="Gotham"/>
                <a:sym typeface="Gotham"/>
              </a:rPr>
              <a:t>sima</a:t>
            </a:r>
            <a:r>
              <a:rPr lang="en-US" sz="2809" strike="noStrike" u="none">
                <a:solidFill>
                  <a:srgbClr val="2E2C2B"/>
                </a:solidFill>
                <a:latin typeface="Gotham"/>
                <a:ea typeface="Gotham"/>
                <a:cs typeface="Gotham"/>
                <a:sym typeface="Gotham"/>
              </a:rPr>
              <a:t>n</a:t>
            </a:r>
            <a:r>
              <a:rPr lang="en-US" sz="2809" strike="noStrike" u="none">
                <a:solidFill>
                  <a:srgbClr val="2E2C2B"/>
                </a:solidFill>
                <a:latin typeface="Gotham"/>
                <a:ea typeface="Gotham"/>
                <a:cs typeface="Gotham"/>
                <a:sym typeface="Gotham"/>
              </a:rPr>
              <a:t> (perkul</a:t>
            </a:r>
            <a:r>
              <a:rPr lang="en-US" sz="2809" strike="noStrike" u="none">
                <a:solidFill>
                  <a:srgbClr val="2E2C2B"/>
                </a:solidFill>
                <a:latin typeface="Gotham"/>
                <a:ea typeface="Gotham"/>
                <a:cs typeface="Gotham"/>
                <a:sym typeface="Gotham"/>
              </a:rPr>
              <a:t>i</a:t>
            </a:r>
            <a:r>
              <a:rPr lang="en-US" sz="2809" strike="noStrike" u="none">
                <a:solidFill>
                  <a:srgbClr val="2E2C2B"/>
                </a:solidFill>
                <a:latin typeface="Gotham"/>
                <a:ea typeface="Gotham"/>
                <a:cs typeface="Gotham"/>
                <a:sym typeface="Gotham"/>
              </a:rPr>
              <a:t>ahan,</a:t>
            </a:r>
            <a:r>
              <a:rPr lang="en-US" sz="2809" strike="noStrike" u="none">
                <a:solidFill>
                  <a:srgbClr val="2E2C2B"/>
                </a:solidFill>
                <a:latin typeface="Gotham"/>
                <a:ea typeface="Gotham"/>
                <a:cs typeface="Gotham"/>
                <a:sym typeface="Gotham"/>
              </a:rPr>
              <a:t> </a:t>
            </a:r>
            <a:r>
              <a:rPr lang="en-US" sz="2809" strike="noStrike" u="none">
                <a:solidFill>
                  <a:srgbClr val="2E2C2B"/>
                </a:solidFill>
                <a:latin typeface="Gotham"/>
                <a:ea typeface="Gotham"/>
                <a:cs typeface="Gotham"/>
                <a:sym typeface="Gotham"/>
              </a:rPr>
              <a:t>UTS, UAS,</a:t>
            </a:r>
            <a:r>
              <a:rPr lang="en-US" sz="2809" strike="noStrike" u="none">
                <a:solidFill>
                  <a:srgbClr val="2E2C2B"/>
                </a:solidFill>
                <a:latin typeface="Gotham"/>
                <a:ea typeface="Gotham"/>
                <a:cs typeface="Gotham"/>
                <a:sym typeface="Gotham"/>
              </a:rPr>
              <a:t> </a:t>
            </a:r>
            <a:r>
              <a:rPr lang="en-US" sz="2809" strike="noStrike" u="none">
                <a:solidFill>
                  <a:srgbClr val="2E2C2B"/>
                </a:solidFill>
                <a:latin typeface="Gotham"/>
                <a:ea typeface="Gotham"/>
                <a:cs typeface="Gotham"/>
                <a:sym typeface="Gotham"/>
              </a:rPr>
              <a:t>libu</a:t>
            </a:r>
            <a:r>
              <a:rPr lang="en-US" sz="2809" strike="noStrike" u="none">
                <a:solidFill>
                  <a:srgbClr val="2E2C2B"/>
                </a:solidFill>
                <a:latin typeface="Gotham"/>
                <a:ea typeface="Gotham"/>
                <a:cs typeface="Gotham"/>
                <a:sym typeface="Gotham"/>
              </a:rPr>
              <a:t>r</a:t>
            </a:r>
            <a:r>
              <a:rPr lang="en-US" sz="2809" strike="noStrike" u="none">
                <a:solidFill>
                  <a:srgbClr val="2E2C2B"/>
                </a:solidFill>
                <a:latin typeface="Gotham"/>
                <a:ea typeface="Gotham"/>
                <a:cs typeface="Gotham"/>
                <a:sym typeface="Gotham"/>
              </a:rPr>
              <a:t> antarsemester), namun cukup</a:t>
            </a:r>
            <a:r>
              <a:rPr lang="en-US" sz="2809" strike="noStrike" u="none">
                <a:solidFill>
                  <a:srgbClr val="2E2C2B"/>
                </a:solidFill>
                <a:latin typeface="Gotham"/>
                <a:ea typeface="Gotham"/>
                <a:cs typeface="Gotham"/>
                <a:sym typeface="Gotham"/>
              </a:rPr>
              <a:t> </a:t>
            </a:r>
            <a:r>
              <a:rPr lang="en-US" sz="2809" strike="noStrike" u="none">
                <a:solidFill>
                  <a:srgbClr val="2E2C2B"/>
                </a:solidFill>
                <a:latin typeface="Gotham"/>
                <a:ea typeface="Gotham"/>
                <a:cs typeface="Gotham"/>
                <a:sym typeface="Gotham"/>
              </a:rPr>
              <a:t>t</a:t>
            </a:r>
            <a:r>
              <a:rPr lang="en-US" sz="2809" strike="noStrike" u="none">
                <a:solidFill>
                  <a:srgbClr val="2E2C2B"/>
                </a:solidFill>
                <a:latin typeface="Gotham"/>
                <a:ea typeface="Gotham"/>
                <a:cs typeface="Gotham"/>
                <a:sym typeface="Gotham"/>
              </a:rPr>
              <a:t>er</a:t>
            </a:r>
            <a:r>
              <a:rPr lang="en-US" sz="2809" strike="noStrike" u="none">
                <a:solidFill>
                  <a:srgbClr val="2E2C2B"/>
                </a:solidFill>
                <a:latin typeface="Gotham"/>
                <a:ea typeface="Gotham"/>
                <a:cs typeface="Gotham"/>
                <a:sym typeface="Gotham"/>
              </a:rPr>
              <a:t>bat</a:t>
            </a:r>
            <a:r>
              <a:rPr lang="en-US" sz="2809" strike="noStrike" u="none">
                <a:solidFill>
                  <a:srgbClr val="2E2C2B"/>
                </a:solidFill>
                <a:latin typeface="Gotham"/>
                <a:ea typeface="Gotham"/>
                <a:cs typeface="Gotham"/>
                <a:sym typeface="Gotham"/>
              </a:rPr>
              <a:t>a</a:t>
            </a:r>
            <a:r>
              <a:rPr lang="en-US" sz="2809" strike="noStrike" u="none">
                <a:solidFill>
                  <a:srgbClr val="2E2C2B"/>
                </a:solidFill>
                <a:latin typeface="Gotham"/>
                <a:ea typeface="Gotham"/>
                <a:cs typeface="Gotham"/>
                <a:sym typeface="Gotham"/>
              </a:rPr>
              <a:t>s</a:t>
            </a:r>
            <a:r>
              <a:rPr lang="en-US" sz="2809" strike="noStrike" u="none">
                <a:solidFill>
                  <a:srgbClr val="2E2C2B"/>
                </a:solidFill>
                <a:latin typeface="Gotham"/>
                <a:ea typeface="Gotham"/>
                <a:cs typeface="Gotham"/>
                <a:sym typeface="Gotham"/>
              </a:rPr>
              <a:t> </a:t>
            </a:r>
            <a:r>
              <a:rPr lang="en-US" sz="2809" strike="noStrike" u="none">
                <a:solidFill>
                  <a:srgbClr val="2E2C2B"/>
                </a:solidFill>
                <a:latin typeface="Gotham"/>
                <a:ea typeface="Gotham"/>
                <a:cs typeface="Gotham"/>
                <a:sym typeface="Gotham"/>
              </a:rPr>
              <a:t>vo</a:t>
            </a:r>
            <a:r>
              <a:rPr lang="en-US" sz="2809" strike="noStrike" u="none">
                <a:solidFill>
                  <a:srgbClr val="2E2C2B"/>
                </a:solidFill>
                <a:latin typeface="Gotham"/>
                <a:ea typeface="Gotham"/>
                <a:cs typeface="Gotham"/>
                <a:sym typeface="Gotham"/>
              </a:rPr>
              <a:t>l</a:t>
            </a:r>
            <a:r>
              <a:rPr lang="en-US" sz="2809" strike="noStrike" u="none">
                <a:solidFill>
                  <a:srgbClr val="2E2C2B"/>
                </a:solidFill>
                <a:latin typeface="Gotham"/>
                <a:ea typeface="Gotham"/>
                <a:cs typeface="Gotham"/>
                <a:sym typeface="Gotham"/>
              </a:rPr>
              <a:t>um</a:t>
            </a:r>
            <a:r>
              <a:rPr lang="en-US" sz="2809" strike="noStrike" u="none">
                <a:solidFill>
                  <a:srgbClr val="2E2C2B"/>
                </a:solidFill>
                <a:latin typeface="Gotham"/>
                <a:ea typeface="Gotham"/>
                <a:cs typeface="Gotham"/>
                <a:sym typeface="Gotham"/>
              </a:rPr>
              <a:t>en</a:t>
            </a:r>
            <a:r>
              <a:rPr lang="en-US" sz="2809" strike="noStrike" u="none">
                <a:solidFill>
                  <a:srgbClr val="2E2C2B"/>
                </a:solidFill>
                <a:latin typeface="Gotham"/>
                <a:ea typeface="Gotham"/>
                <a:cs typeface="Gotham"/>
                <a:sym typeface="Gotham"/>
              </a:rPr>
              <a:t>ya untuk menguji secara jujur nilai tambah LSTM &amp; TimeGAN.</a:t>
            </a:r>
          </a:p>
          <a:p>
            <a:pPr algn="just" marL="0" indent="0" lvl="0">
              <a:lnSpc>
                <a:spcPts val="3933"/>
              </a:lnSpc>
              <a:spcBef>
                <a:spcPct val="0"/>
              </a:spcBef>
            </a:pPr>
          </a:p>
        </p:txBody>
      </p:sp>
      <p:sp>
        <p:nvSpPr>
          <p:cNvPr name="TextBox 14" id="14"/>
          <p:cNvSpPr txBox="true"/>
          <p:nvPr/>
        </p:nvSpPr>
        <p:spPr>
          <a:xfrm rot="0">
            <a:off x="2711073" y="2702878"/>
            <a:ext cx="14548227" cy="490614"/>
          </a:xfrm>
          <a:prstGeom prst="rect">
            <a:avLst/>
          </a:prstGeom>
        </p:spPr>
        <p:txBody>
          <a:bodyPr anchor="t" rtlCol="false" tIns="0" lIns="0" bIns="0" rIns="0">
            <a:spAutoFit/>
          </a:bodyPr>
          <a:lstStyle/>
          <a:p>
            <a:pPr algn="just" marL="0" indent="0" lvl="0">
              <a:lnSpc>
                <a:spcPts val="3933"/>
              </a:lnSpc>
              <a:spcBef>
                <a:spcPct val="0"/>
              </a:spcBef>
            </a:pPr>
            <a:r>
              <a:rPr lang="en-US" b="true" sz="2809">
                <a:solidFill>
                  <a:srgbClr val="2E2C2B"/>
                </a:solidFill>
                <a:latin typeface="Gotham Bold"/>
                <a:ea typeface="Gotham Bold"/>
                <a:cs typeface="Gotham Bold"/>
                <a:sym typeface="Gotham Bold"/>
              </a:rPr>
              <a:t>Sumber Data</a:t>
            </a:r>
          </a:p>
        </p:txBody>
      </p:sp>
      <p:sp>
        <p:nvSpPr>
          <p:cNvPr name="TextBox 15" id="15"/>
          <p:cNvSpPr txBox="true"/>
          <p:nvPr/>
        </p:nvSpPr>
        <p:spPr>
          <a:xfrm rot="0">
            <a:off x="2711073" y="5195463"/>
            <a:ext cx="14548227" cy="490614"/>
          </a:xfrm>
          <a:prstGeom prst="rect">
            <a:avLst/>
          </a:prstGeom>
        </p:spPr>
        <p:txBody>
          <a:bodyPr anchor="t" rtlCol="false" tIns="0" lIns="0" bIns="0" rIns="0">
            <a:spAutoFit/>
          </a:bodyPr>
          <a:lstStyle/>
          <a:p>
            <a:pPr algn="just" marL="0" indent="0" lvl="0">
              <a:lnSpc>
                <a:spcPts val="3933"/>
              </a:lnSpc>
              <a:spcBef>
                <a:spcPct val="0"/>
              </a:spcBef>
            </a:pPr>
            <a:r>
              <a:rPr lang="en-US" b="true" sz="2809">
                <a:solidFill>
                  <a:srgbClr val="2E2C2B"/>
                </a:solidFill>
                <a:latin typeface="Gotham Bold"/>
                <a:ea typeface="Gotham Bold"/>
                <a:cs typeface="Gotham Bold"/>
                <a:sym typeface="Gotham Bold"/>
              </a:rPr>
              <a:t>Dataset Final</a:t>
            </a:r>
          </a:p>
        </p:txBody>
      </p:sp>
      <p:sp>
        <p:nvSpPr>
          <p:cNvPr name="TextBox 16" id="16"/>
          <p:cNvSpPr txBox="true"/>
          <p:nvPr/>
        </p:nvSpPr>
        <p:spPr>
          <a:xfrm rot="0">
            <a:off x="2711073" y="7797269"/>
            <a:ext cx="14548227" cy="490614"/>
          </a:xfrm>
          <a:prstGeom prst="rect">
            <a:avLst/>
          </a:prstGeom>
        </p:spPr>
        <p:txBody>
          <a:bodyPr anchor="t" rtlCol="false" tIns="0" lIns="0" bIns="0" rIns="0">
            <a:spAutoFit/>
          </a:bodyPr>
          <a:lstStyle/>
          <a:p>
            <a:pPr algn="just" marL="0" indent="0" lvl="0">
              <a:lnSpc>
                <a:spcPts val="3933"/>
              </a:lnSpc>
              <a:spcBef>
                <a:spcPct val="0"/>
              </a:spcBef>
            </a:pPr>
            <a:r>
              <a:rPr lang="en-US" b="true" sz="2809">
                <a:solidFill>
                  <a:srgbClr val="2E2C2B"/>
                </a:solidFill>
                <a:latin typeface="Gotham Bold"/>
                <a:ea typeface="Gotham Bold"/>
                <a:cs typeface="Gotham Bold"/>
                <a:sym typeface="Gotham Bold"/>
              </a:rPr>
              <a:t>Mengapa EatsTEDI?</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EEF1F1"/>
        </a:solidFill>
      </p:bgPr>
    </p:bg>
    <p:spTree>
      <p:nvGrpSpPr>
        <p:cNvPr id="1" name=""/>
        <p:cNvGrpSpPr/>
        <p:nvPr/>
      </p:nvGrpSpPr>
      <p:grpSpPr>
        <a:xfrm>
          <a:off x="0" y="0"/>
          <a:ext cx="0" cy="0"/>
          <a:chOff x="0" y="0"/>
          <a:chExt cx="0" cy="0"/>
        </a:xfrm>
      </p:grpSpPr>
      <p:sp>
        <p:nvSpPr>
          <p:cNvPr name="AutoShape 2" id="2"/>
          <p:cNvSpPr/>
          <p:nvPr/>
        </p:nvSpPr>
        <p:spPr>
          <a:xfrm>
            <a:off x="1028700" y="1019175"/>
            <a:ext cx="16230600" cy="0"/>
          </a:xfrm>
          <a:prstGeom prst="line">
            <a:avLst/>
          </a:prstGeom>
          <a:ln cap="flat" w="19050">
            <a:solidFill>
              <a:srgbClr val="2E2C2B"/>
            </a:solidFill>
            <a:prstDash val="solid"/>
            <a:headEnd type="none" len="sm" w="sm"/>
            <a:tailEnd type="none" len="sm" w="sm"/>
          </a:ln>
        </p:spPr>
      </p:sp>
      <p:sp>
        <p:nvSpPr>
          <p:cNvPr name="Freeform 3" id="3"/>
          <p:cNvSpPr/>
          <p:nvPr/>
        </p:nvSpPr>
        <p:spPr>
          <a:xfrm flipH="false" flipV="true" rot="0">
            <a:off x="17259300" y="9258300"/>
            <a:ext cx="820968" cy="820968"/>
          </a:xfrm>
          <a:custGeom>
            <a:avLst/>
            <a:gdLst/>
            <a:ahLst/>
            <a:cxnLst/>
            <a:rect r="r" b="b" t="t" l="l"/>
            <a:pathLst>
              <a:path h="820968" w="820968">
                <a:moveTo>
                  <a:pt x="0" y="820968"/>
                </a:moveTo>
                <a:lnTo>
                  <a:pt x="820968" y="820968"/>
                </a:lnTo>
                <a:lnTo>
                  <a:pt x="820968" y="0"/>
                </a:lnTo>
                <a:lnTo>
                  <a:pt x="0" y="0"/>
                </a:lnTo>
                <a:lnTo>
                  <a:pt x="0" y="820968"/>
                </a:lnTo>
                <a:close/>
              </a:path>
            </a:pathLst>
          </a:custGeom>
          <a:blipFill>
            <a:blip r:embed="rId2">
              <a:extLst>
                <a:ext uri="{96DAC541-7B7A-43D3-8B79-37D633B846F1}">
                  <asvg:svgBlip xmlns:asvg="http://schemas.microsoft.com/office/drawing/2016/SVG/main" r:embed="rId3"/>
                </a:ext>
              </a:extLst>
            </a:blip>
            <a:stretch>
              <a:fillRect l="0" t="0" r="0" b="0"/>
            </a:stretch>
          </a:blipFill>
          <a:ln cap="sq">
            <a:noFill/>
            <a:prstDash val="solid"/>
            <a:miter/>
          </a:ln>
        </p:spPr>
      </p:sp>
      <p:sp>
        <p:nvSpPr>
          <p:cNvPr name="Freeform 4" id="4"/>
          <p:cNvSpPr/>
          <p:nvPr/>
        </p:nvSpPr>
        <p:spPr>
          <a:xfrm flipH="false" flipV="false" rot="0">
            <a:off x="1028700" y="44062"/>
            <a:ext cx="863108" cy="837215"/>
          </a:xfrm>
          <a:custGeom>
            <a:avLst/>
            <a:gdLst/>
            <a:ahLst/>
            <a:cxnLst/>
            <a:rect r="r" b="b" t="t" l="l"/>
            <a:pathLst>
              <a:path h="837215" w="863108">
                <a:moveTo>
                  <a:pt x="0" y="0"/>
                </a:moveTo>
                <a:lnTo>
                  <a:pt x="863108" y="0"/>
                </a:lnTo>
                <a:lnTo>
                  <a:pt x="863108" y="837215"/>
                </a:lnTo>
                <a:lnTo>
                  <a:pt x="0" y="837215"/>
                </a:lnTo>
                <a:lnTo>
                  <a:pt x="0" y="0"/>
                </a:lnTo>
                <a:close/>
              </a:path>
            </a:pathLst>
          </a:custGeom>
          <a:blipFill>
            <a:blip r:embed="rId4"/>
            <a:stretch>
              <a:fillRect l="0" t="0" r="0" b="0"/>
            </a:stretch>
          </a:blipFill>
        </p:spPr>
      </p:sp>
      <p:sp>
        <p:nvSpPr>
          <p:cNvPr name="TextBox 5" id="5"/>
          <p:cNvSpPr txBox="true"/>
          <p:nvPr/>
        </p:nvSpPr>
        <p:spPr>
          <a:xfrm rot="0">
            <a:off x="16332192" y="25115"/>
            <a:ext cx="1144270" cy="792481"/>
          </a:xfrm>
          <a:prstGeom prst="rect">
            <a:avLst/>
          </a:prstGeom>
        </p:spPr>
        <p:txBody>
          <a:bodyPr anchor="t" rtlCol="false" tIns="0" lIns="0" bIns="0" rIns="0">
            <a:spAutoFit/>
          </a:bodyPr>
          <a:lstStyle/>
          <a:p>
            <a:pPr algn="r">
              <a:lnSpc>
                <a:spcPts val="6299"/>
              </a:lnSpc>
            </a:pPr>
            <a:r>
              <a:rPr lang="en-US" sz="4499" b="true">
                <a:solidFill>
                  <a:srgbClr val="D0A175"/>
                </a:solidFill>
                <a:latin typeface="Hagrid Ultra-Bold"/>
                <a:ea typeface="Hagrid Ultra-Bold"/>
                <a:cs typeface="Hagrid Ultra-Bold"/>
                <a:sym typeface="Hagrid Ultra-Bold"/>
              </a:rPr>
              <a:t>11</a:t>
            </a:r>
          </a:p>
        </p:txBody>
      </p:sp>
      <p:sp>
        <p:nvSpPr>
          <p:cNvPr name="TextBox 6" id="6"/>
          <p:cNvSpPr txBox="true"/>
          <p:nvPr/>
        </p:nvSpPr>
        <p:spPr>
          <a:xfrm rot="0">
            <a:off x="1069172" y="1423988"/>
            <a:ext cx="14467283" cy="708025"/>
          </a:xfrm>
          <a:prstGeom prst="rect">
            <a:avLst/>
          </a:prstGeom>
        </p:spPr>
        <p:txBody>
          <a:bodyPr anchor="t" rtlCol="false" tIns="0" lIns="0" bIns="0" rIns="0">
            <a:spAutoFit/>
          </a:bodyPr>
          <a:lstStyle/>
          <a:p>
            <a:pPr algn="l">
              <a:lnSpc>
                <a:spcPts val="5000"/>
              </a:lnSpc>
            </a:pPr>
            <a:r>
              <a:rPr lang="en-US" b="true" sz="5000" spc="-100">
                <a:solidFill>
                  <a:srgbClr val="2E2C2B"/>
                </a:solidFill>
                <a:latin typeface="Hagrid Ultra-Bold"/>
                <a:ea typeface="Hagrid Ultra-Bold"/>
                <a:cs typeface="Hagrid Ultra-Bold"/>
                <a:sym typeface="Hagrid Ultra-Bold"/>
              </a:rPr>
              <a:t>TEKNIK PENGUMPULAN DATA</a:t>
            </a:r>
          </a:p>
        </p:txBody>
      </p:sp>
      <p:sp>
        <p:nvSpPr>
          <p:cNvPr name="TextBox 7" id="7"/>
          <p:cNvSpPr txBox="true"/>
          <p:nvPr/>
        </p:nvSpPr>
        <p:spPr>
          <a:xfrm rot="0">
            <a:off x="2144041" y="276932"/>
            <a:ext cx="7234755" cy="361950"/>
          </a:xfrm>
          <a:prstGeom prst="rect">
            <a:avLst/>
          </a:prstGeom>
        </p:spPr>
        <p:txBody>
          <a:bodyPr anchor="t" rtlCol="false" tIns="0" lIns="0" bIns="0" rIns="0">
            <a:spAutoFit/>
          </a:bodyPr>
          <a:lstStyle/>
          <a:p>
            <a:pPr algn="l" marL="0" indent="0" lvl="0">
              <a:lnSpc>
                <a:spcPts val="2847"/>
              </a:lnSpc>
              <a:spcBef>
                <a:spcPct val="0"/>
              </a:spcBef>
            </a:pPr>
            <a:r>
              <a:rPr lang="en-US" sz="2372">
                <a:solidFill>
                  <a:srgbClr val="2E2C2B"/>
                </a:solidFill>
                <a:latin typeface="Gotham"/>
                <a:ea typeface="Gotham"/>
                <a:cs typeface="Gotham"/>
                <a:sym typeface="Gotham"/>
              </a:rPr>
              <a:t>POLITEK</a:t>
            </a:r>
            <a:r>
              <a:rPr lang="en-US" sz="2372" strike="noStrike" u="none">
                <a:solidFill>
                  <a:srgbClr val="2E2C2B"/>
                </a:solidFill>
                <a:latin typeface="Gotham"/>
                <a:ea typeface="Gotham"/>
                <a:cs typeface="Gotham"/>
                <a:sym typeface="Gotham"/>
              </a:rPr>
              <a:t>NIK NEGERI LHOKSEUMAWE</a:t>
            </a:r>
          </a:p>
        </p:txBody>
      </p:sp>
      <p:sp>
        <p:nvSpPr>
          <p:cNvPr name="TextBox 8" id="8"/>
          <p:cNvSpPr txBox="true"/>
          <p:nvPr/>
        </p:nvSpPr>
        <p:spPr>
          <a:xfrm rot="0">
            <a:off x="1069172" y="2418095"/>
            <a:ext cx="1197290" cy="1076325"/>
          </a:xfrm>
          <a:prstGeom prst="rect">
            <a:avLst/>
          </a:prstGeom>
        </p:spPr>
        <p:txBody>
          <a:bodyPr anchor="t" rtlCol="false" tIns="0" lIns="0" bIns="0" rIns="0">
            <a:spAutoFit/>
          </a:bodyPr>
          <a:lstStyle/>
          <a:p>
            <a:pPr algn="r">
              <a:lnSpc>
                <a:spcPts val="8400"/>
              </a:lnSpc>
            </a:pPr>
            <a:r>
              <a:rPr lang="en-US" sz="6000" b="true">
                <a:solidFill>
                  <a:srgbClr val="BC1823"/>
                </a:solidFill>
                <a:latin typeface="Hagrid Ultra-Bold"/>
                <a:ea typeface="Hagrid Ultra-Bold"/>
                <a:cs typeface="Hagrid Ultra-Bold"/>
                <a:sym typeface="Hagrid Ultra-Bold"/>
              </a:rPr>
              <a:t>01.</a:t>
            </a:r>
          </a:p>
        </p:txBody>
      </p:sp>
      <p:sp>
        <p:nvSpPr>
          <p:cNvPr name="TextBox 9" id="9"/>
          <p:cNvSpPr txBox="true"/>
          <p:nvPr/>
        </p:nvSpPr>
        <p:spPr>
          <a:xfrm rot="0">
            <a:off x="1028700" y="4127909"/>
            <a:ext cx="1522974" cy="1076325"/>
          </a:xfrm>
          <a:prstGeom prst="rect">
            <a:avLst/>
          </a:prstGeom>
        </p:spPr>
        <p:txBody>
          <a:bodyPr anchor="t" rtlCol="false" tIns="0" lIns="0" bIns="0" rIns="0">
            <a:spAutoFit/>
          </a:bodyPr>
          <a:lstStyle/>
          <a:p>
            <a:pPr algn="r">
              <a:lnSpc>
                <a:spcPts val="8400"/>
              </a:lnSpc>
            </a:pPr>
            <a:r>
              <a:rPr lang="en-US" sz="6000" b="true">
                <a:solidFill>
                  <a:srgbClr val="BC1823"/>
                </a:solidFill>
                <a:latin typeface="Hagrid Ultra-Bold"/>
                <a:ea typeface="Hagrid Ultra-Bold"/>
                <a:cs typeface="Hagrid Ultra-Bold"/>
                <a:sym typeface="Hagrid Ultra-Bold"/>
              </a:rPr>
              <a:t>02.</a:t>
            </a:r>
          </a:p>
        </p:txBody>
      </p:sp>
      <p:sp>
        <p:nvSpPr>
          <p:cNvPr name="TextBox 10" id="10"/>
          <p:cNvSpPr txBox="true"/>
          <p:nvPr/>
        </p:nvSpPr>
        <p:spPr>
          <a:xfrm rot="0">
            <a:off x="1028700" y="6147363"/>
            <a:ext cx="1522974" cy="1076325"/>
          </a:xfrm>
          <a:prstGeom prst="rect">
            <a:avLst/>
          </a:prstGeom>
        </p:spPr>
        <p:txBody>
          <a:bodyPr anchor="t" rtlCol="false" tIns="0" lIns="0" bIns="0" rIns="0">
            <a:spAutoFit/>
          </a:bodyPr>
          <a:lstStyle/>
          <a:p>
            <a:pPr algn="r">
              <a:lnSpc>
                <a:spcPts val="8400"/>
              </a:lnSpc>
            </a:pPr>
            <a:r>
              <a:rPr lang="en-US" sz="6000" b="true">
                <a:solidFill>
                  <a:srgbClr val="BC1823"/>
                </a:solidFill>
                <a:latin typeface="Hagrid Ultra-Bold"/>
                <a:ea typeface="Hagrid Ultra-Bold"/>
                <a:cs typeface="Hagrid Ultra-Bold"/>
                <a:sym typeface="Hagrid Ultra-Bold"/>
              </a:rPr>
              <a:t>03.</a:t>
            </a:r>
          </a:p>
        </p:txBody>
      </p:sp>
      <p:sp>
        <p:nvSpPr>
          <p:cNvPr name="TextBox 11" id="11"/>
          <p:cNvSpPr txBox="true"/>
          <p:nvPr/>
        </p:nvSpPr>
        <p:spPr>
          <a:xfrm rot="0">
            <a:off x="2711073" y="2951495"/>
            <a:ext cx="14548227" cy="985914"/>
          </a:xfrm>
          <a:prstGeom prst="rect">
            <a:avLst/>
          </a:prstGeom>
        </p:spPr>
        <p:txBody>
          <a:bodyPr anchor="t" rtlCol="false" tIns="0" lIns="0" bIns="0" rIns="0">
            <a:spAutoFit/>
          </a:bodyPr>
          <a:lstStyle/>
          <a:p>
            <a:pPr algn="just" marL="0" indent="0" lvl="0">
              <a:lnSpc>
                <a:spcPts val="3933"/>
              </a:lnSpc>
              <a:spcBef>
                <a:spcPct val="0"/>
              </a:spcBef>
            </a:pPr>
            <a:r>
              <a:rPr lang="en-US" sz="2809">
                <a:solidFill>
                  <a:srgbClr val="2E2C2B"/>
                </a:solidFill>
                <a:latin typeface="Gotham"/>
                <a:ea typeface="Gotham"/>
                <a:cs typeface="Gotham"/>
                <a:sym typeface="Gotham"/>
              </a:rPr>
              <a:t>Mengk</a:t>
            </a:r>
            <a:r>
              <a:rPr lang="en-US" sz="2809" strike="noStrike" u="none">
                <a:solidFill>
                  <a:srgbClr val="2E2C2B"/>
                </a:solidFill>
                <a:latin typeface="Gotham"/>
                <a:ea typeface="Gotham"/>
                <a:cs typeface="Gotham"/>
                <a:sym typeface="Gotham"/>
              </a:rPr>
              <a:t>aji penelitian terdahulu tentang LSTM, augmentasi TimeGAN, dan baseline sebagai kontrol metodologis.</a:t>
            </a:r>
          </a:p>
        </p:txBody>
      </p:sp>
      <p:sp>
        <p:nvSpPr>
          <p:cNvPr name="TextBox 12" id="12"/>
          <p:cNvSpPr txBox="true"/>
          <p:nvPr/>
        </p:nvSpPr>
        <p:spPr>
          <a:xfrm rot="0">
            <a:off x="2711073" y="4883968"/>
            <a:ext cx="14548227" cy="985914"/>
          </a:xfrm>
          <a:prstGeom prst="rect">
            <a:avLst/>
          </a:prstGeom>
        </p:spPr>
        <p:txBody>
          <a:bodyPr anchor="t" rtlCol="false" tIns="0" lIns="0" bIns="0" rIns="0">
            <a:spAutoFit/>
          </a:bodyPr>
          <a:lstStyle/>
          <a:p>
            <a:pPr algn="just" marL="0" indent="0" lvl="0">
              <a:lnSpc>
                <a:spcPts val="3933"/>
              </a:lnSpc>
              <a:spcBef>
                <a:spcPct val="0"/>
              </a:spcBef>
            </a:pPr>
            <a:r>
              <a:rPr lang="en-US" sz="2809">
                <a:solidFill>
                  <a:srgbClr val="2E2C2B"/>
                </a:solidFill>
                <a:latin typeface="Gotham"/>
                <a:ea typeface="Gotham"/>
                <a:cs typeface="Gotham"/>
                <a:sym typeface="Gotham"/>
              </a:rPr>
              <a:t>Terhadap pengelola divisi kewirausahaan mahasiswa platform EatsTEDI DTEDI UGM: alur kasir, pencatatan menu, pengelolaan stok.</a:t>
            </a:r>
          </a:p>
        </p:txBody>
      </p:sp>
      <p:sp>
        <p:nvSpPr>
          <p:cNvPr name="TextBox 13" id="13"/>
          <p:cNvSpPr txBox="true"/>
          <p:nvPr/>
        </p:nvSpPr>
        <p:spPr>
          <a:xfrm rot="0">
            <a:off x="2711073" y="6840959"/>
            <a:ext cx="14548227" cy="985914"/>
          </a:xfrm>
          <a:prstGeom prst="rect">
            <a:avLst/>
          </a:prstGeom>
        </p:spPr>
        <p:txBody>
          <a:bodyPr anchor="t" rtlCol="false" tIns="0" lIns="0" bIns="0" rIns="0">
            <a:spAutoFit/>
          </a:bodyPr>
          <a:lstStyle/>
          <a:p>
            <a:pPr algn="just" marL="0" indent="0" lvl="0">
              <a:lnSpc>
                <a:spcPts val="3933"/>
              </a:lnSpc>
              <a:spcBef>
                <a:spcPct val="0"/>
              </a:spcBef>
            </a:pPr>
            <a:r>
              <a:rPr lang="en-US" sz="2809">
                <a:solidFill>
                  <a:srgbClr val="2E2C2B"/>
                </a:solidFill>
                <a:latin typeface="Gotham"/>
                <a:ea typeface="Gotham"/>
                <a:cs typeface="Gotham"/>
                <a:sym typeface="Gotham"/>
              </a:rPr>
              <a:t>D</a:t>
            </a:r>
            <a:r>
              <a:rPr lang="en-US" sz="2809" strike="noStrike" u="none">
                <a:solidFill>
                  <a:srgbClr val="2E2C2B"/>
                </a:solidFill>
                <a:latin typeface="Gotham"/>
                <a:ea typeface="Gotham"/>
                <a:cs typeface="Gotham"/>
                <a:sym typeface="Gotham"/>
              </a:rPr>
              <a:t>ump SQL berisi tabel invoices (utama) beserta product_sold, products, dan categories.</a:t>
            </a:r>
          </a:p>
        </p:txBody>
      </p:sp>
      <p:sp>
        <p:nvSpPr>
          <p:cNvPr name="TextBox 14" id="14"/>
          <p:cNvSpPr txBox="true"/>
          <p:nvPr/>
        </p:nvSpPr>
        <p:spPr>
          <a:xfrm rot="0">
            <a:off x="2711073" y="2453443"/>
            <a:ext cx="14548227" cy="490614"/>
          </a:xfrm>
          <a:prstGeom prst="rect">
            <a:avLst/>
          </a:prstGeom>
        </p:spPr>
        <p:txBody>
          <a:bodyPr anchor="t" rtlCol="false" tIns="0" lIns="0" bIns="0" rIns="0">
            <a:spAutoFit/>
          </a:bodyPr>
          <a:lstStyle/>
          <a:p>
            <a:pPr algn="just" marL="0" indent="0" lvl="0">
              <a:lnSpc>
                <a:spcPts val="3933"/>
              </a:lnSpc>
              <a:spcBef>
                <a:spcPct val="0"/>
              </a:spcBef>
            </a:pPr>
            <a:r>
              <a:rPr lang="en-US" b="true" sz="2809">
                <a:solidFill>
                  <a:srgbClr val="2E2C2B"/>
                </a:solidFill>
                <a:latin typeface="Gotham Bold"/>
                <a:ea typeface="Gotham Bold"/>
                <a:cs typeface="Gotham Bold"/>
                <a:sym typeface="Gotham Bold"/>
              </a:rPr>
              <a:t>Studi Literatur</a:t>
            </a:r>
          </a:p>
        </p:txBody>
      </p:sp>
      <p:sp>
        <p:nvSpPr>
          <p:cNvPr name="TextBox 15" id="15"/>
          <p:cNvSpPr txBox="true"/>
          <p:nvPr/>
        </p:nvSpPr>
        <p:spPr>
          <a:xfrm rot="0">
            <a:off x="2711073" y="4288579"/>
            <a:ext cx="14548227" cy="490614"/>
          </a:xfrm>
          <a:prstGeom prst="rect">
            <a:avLst/>
          </a:prstGeom>
        </p:spPr>
        <p:txBody>
          <a:bodyPr anchor="t" rtlCol="false" tIns="0" lIns="0" bIns="0" rIns="0">
            <a:spAutoFit/>
          </a:bodyPr>
          <a:lstStyle/>
          <a:p>
            <a:pPr algn="just" marL="0" indent="0" lvl="0">
              <a:lnSpc>
                <a:spcPts val="3933"/>
              </a:lnSpc>
              <a:spcBef>
                <a:spcPct val="0"/>
              </a:spcBef>
            </a:pPr>
            <a:r>
              <a:rPr lang="en-US" b="true" sz="2809">
                <a:solidFill>
                  <a:srgbClr val="2E2C2B"/>
                </a:solidFill>
                <a:latin typeface="Gotham Bold"/>
                <a:ea typeface="Gotham Bold"/>
                <a:cs typeface="Gotham Bold"/>
                <a:sym typeface="Gotham Bold"/>
              </a:rPr>
              <a:t>Observasi &amp; Wawancara</a:t>
            </a:r>
          </a:p>
        </p:txBody>
      </p:sp>
      <p:sp>
        <p:nvSpPr>
          <p:cNvPr name="TextBox 16" id="16"/>
          <p:cNvSpPr txBox="true"/>
          <p:nvPr/>
        </p:nvSpPr>
        <p:spPr>
          <a:xfrm rot="0">
            <a:off x="2711073" y="6245569"/>
            <a:ext cx="14548227" cy="490614"/>
          </a:xfrm>
          <a:prstGeom prst="rect">
            <a:avLst/>
          </a:prstGeom>
        </p:spPr>
        <p:txBody>
          <a:bodyPr anchor="t" rtlCol="false" tIns="0" lIns="0" bIns="0" rIns="0">
            <a:spAutoFit/>
          </a:bodyPr>
          <a:lstStyle/>
          <a:p>
            <a:pPr algn="just" marL="0" indent="0" lvl="0">
              <a:lnSpc>
                <a:spcPts val="3933"/>
              </a:lnSpc>
              <a:spcBef>
                <a:spcPct val="0"/>
              </a:spcBef>
            </a:pPr>
            <a:r>
              <a:rPr lang="en-US" b="true" sz="2809">
                <a:solidFill>
                  <a:srgbClr val="2E2C2B"/>
                </a:solidFill>
                <a:latin typeface="Gotham Bold"/>
                <a:ea typeface="Gotham Bold"/>
                <a:cs typeface="Gotham Bold"/>
                <a:sym typeface="Gotham Bold"/>
              </a:rPr>
              <a:t>Akuisisi Data</a:t>
            </a:r>
          </a:p>
        </p:txBody>
      </p:sp>
      <p:sp>
        <p:nvSpPr>
          <p:cNvPr name="TextBox 17" id="17"/>
          <p:cNvSpPr txBox="true"/>
          <p:nvPr/>
        </p:nvSpPr>
        <p:spPr>
          <a:xfrm rot="0">
            <a:off x="1028700" y="8132774"/>
            <a:ext cx="1522974" cy="1076325"/>
          </a:xfrm>
          <a:prstGeom prst="rect">
            <a:avLst/>
          </a:prstGeom>
        </p:spPr>
        <p:txBody>
          <a:bodyPr anchor="t" rtlCol="false" tIns="0" lIns="0" bIns="0" rIns="0">
            <a:spAutoFit/>
          </a:bodyPr>
          <a:lstStyle/>
          <a:p>
            <a:pPr algn="r">
              <a:lnSpc>
                <a:spcPts val="8400"/>
              </a:lnSpc>
            </a:pPr>
            <a:r>
              <a:rPr lang="en-US" sz="6000" b="true">
                <a:solidFill>
                  <a:srgbClr val="BC1823"/>
                </a:solidFill>
                <a:latin typeface="Hagrid Ultra-Bold"/>
                <a:ea typeface="Hagrid Ultra-Bold"/>
                <a:cs typeface="Hagrid Ultra-Bold"/>
                <a:sym typeface="Hagrid Ultra-Bold"/>
              </a:rPr>
              <a:t>04.</a:t>
            </a:r>
          </a:p>
        </p:txBody>
      </p:sp>
      <p:sp>
        <p:nvSpPr>
          <p:cNvPr name="TextBox 18" id="18"/>
          <p:cNvSpPr txBox="true"/>
          <p:nvPr/>
        </p:nvSpPr>
        <p:spPr>
          <a:xfrm rot="0">
            <a:off x="2711073" y="8242235"/>
            <a:ext cx="14548227" cy="490614"/>
          </a:xfrm>
          <a:prstGeom prst="rect">
            <a:avLst/>
          </a:prstGeom>
        </p:spPr>
        <p:txBody>
          <a:bodyPr anchor="t" rtlCol="false" tIns="0" lIns="0" bIns="0" rIns="0">
            <a:spAutoFit/>
          </a:bodyPr>
          <a:lstStyle/>
          <a:p>
            <a:pPr algn="just" marL="0" indent="0" lvl="0">
              <a:lnSpc>
                <a:spcPts val="3933"/>
              </a:lnSpc>
              <a:spcBef>
                <a:spcPct val="0"/>
              </a:spcBef>
            </a:pPr>
            <a:r>
              <a:rPr lang="en-US" b="true" sz="2809">
                <a:solidFill>
                  <a:srgbClr val="2E2C2B"/>
                </a:solidFill>
                <a:latin typeface="Gotham Bold"/>
                <a:ea typeface="Gotham Bold"/>
                <a:cs typeface="Gotham Bold"/>
                <a:sym typeface="Gotham Bold"/>
              </a:rPr>
              <a:t>Praproses Data</a:t>
            </a:r>
          </a:p>
        </p:txBody>
      </p:sp>
      <p:sp>
        <p:nvSpPr>
          <p:cNvPr name="TextBox 19" id="19"/>
          <p:cNvSpPr txBox="true"/>
          <p:nvPr/>
        </p:nvSpPr>
        <p:spPr>
          <a:xfrm rot="0">
            <a:off x="2711073" y="8742374"/>
            <a:ext cx="14548227" cy="985914"/>
          </a:xfrm>
          <a:prstGeom prst="rect">
            <a:avLst/>
          </a:prstGeom>
        </p:spPr>
        <p:txBody>
          <a:bodyPr anchor="t" rtlCol="false" tIns="0" lIns="0" bIns="0" rIns="0">
            <a:spAutoFit/>
          </a:bodyPr>
          <a:lstStyle/>
          <a:p>
            <a:pPr algn="just" marL="0" indent="0" lvl="0">
              <a:lnSpc>
                <a:spcPts val="3933"/>
              </a:lnSpc>
              <a:spcBef>
                <a:spcPct val="0"/>
              </a:spcBef>
            </a:pPr>
            <a:r>
              <a:rPr lang="en-US" sz="2809">
                <a:solidFill>
                  <a:srgbClr val="2E2C2B"/>
                </a:solidFill>
                <a:latin typeface="Gotham"/>
                <a:ea typeface="Gotham"/>
                <a:cs typeface="Gotham"/>
                <a:sym typeface="Gotham"/>
              </a:rPr>
              <a:t>P</a:t>
            </a:r>
            <a:r>
              <a:rPr lang="en-US" sz="2809" strike="noStrike" u="none">
                <a:solidFill>
                  <a:srgbClr val="2E2C2B"/>
                </a:solidFill>
                <a:latin typeface="Gotham"/>
                <a:ea typeface="Gotham"/>
                <a:cs typeface="Gotham"/>
                <a:sym typeface="Gotham"/>
              </a:rPr>
              <a:t>enyaringan status lunas, agregasi harian, normalisasi Min-Max Scaling, pembentukan sampel sliding window.</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EEF1F1"/>
        </a:solidFill>
      </p:bgPr>
    </p:bg>
    <p:spTree>
      <p:nvGrpSpPr>
        <p:cNvPr id="1" name=""/>
        <p:cNvGrpSpPr/>
        <p:nvPr/>
      </p:nvGrpSpPr>
      <p:grpSpPr>
        <a:xfrm>
          <a:off x="0" y="0"/>
          <a:ext cx="0" cy="0"/>
          <a:chOff x="0" y="0"/>
          <a:chExt cx="0" cy="0"/>
        </a:xfrm>
      </p:grpSpPr>
      <p:sp>
        <p:nvSpPr>
          <p:cNvPr name="AutoShape 2" id="2"/>
          <p:cNvSpPr/>
          <p:nvPr/>
        </p:nvSpPr>
        <p:spPr>
          <a:xfrm>
            <a:off x="1028700" y="1019175"/>
            <a:ext cx="16230600" cy="0"/>
          </a:xfrm>
          <a:prstGeom prst="line">
            <a:avLst/>
          </a:prstGeom>
          <a:ln cap="flat" w="19050">
            <a:solidFill>
              <a:srgbClr val="2E2C2B"/>
            </a:solidFill>
            <a:prstDash val="solid"/>
            <a:headEnd type="none" len="sm" w="sm"/>
            <a:tailEnd type="none" len="sm" w="sm"/>
          </a:ln>
        </p:spPr>
      </p:sp>
      <p:sp>
        <p:nvSpPr>
          <p:cNvPr name="Freeform 3" id="3"/>
          <p:cNvSpPr/>
          <p:nvPr/>
        </p:nvSpPr>
        <p:spPr>
          <a:xfrm flipH="false" flipV="true" rot="0">
            <a:off x="17259300" y="9258300"/>
            <a:ext cx="820968" cy="820968"/>
          </a:xfrm>
          <a:custGeom>
            <a:avLst/>
            <a:gdLst/>
            <a:ahLst/>
            <a:cxnLst/>
            <a:rect r="r" b="b" t="t" l="l"/>
            <a:pathLst>
              <a:path h="820968" w="820968">
                <a:moveTo>
                  <a:pt x="0" y="820968"/>
                </a:moveTo>
                <a:lnTo>
                  <a:pt x="820968" y="820968"/>
                </a:lnTo>
                <a:lnTo>
                  <a:pt x="820968" y="0"/>
                </a:lnTo>
                <a:lnTo>
                  <a:pt x="0" y="0"/>
                </a:lnTo>
                <a:lnTo>
                  <a:pt x="0" y="820968"/>
                </a:lnTo>
                <a:close/>
              </a:path>
            </a:pathLst>
          </a:custGeom>
          <a:blipFill>
            <a:blip r:embed="rId2">
              <a:extLst>
                <a:ext uri="{96DAC541-7B7A-43D3-8B79-37D633B846F1}">
                  <asvg:svgBlip xmlns:asvg="http://schemas.microsoft.com/office/drawing/2016/SVG/main" r:embed="rId3"/>
                </a:ext>
              </a:extLst>
            </a:blip>
            <a:stretch>
              <a:fillRect l="0" t="0" r="0" b="0"/>
            </a:stretch>
          </a:blipFill>
          <a:ln cap="sq">
            <a:noFill/>
            <a:prstDash val="solid"/>
            <a:miter/>
          </a:ln>
        </p:spPr>
      </p:sp>
      <p:sp>
        <p:nvSpPr>
          <p:cNvPr name="Freeform 4" id="4"/>
          <p:cNvSpPr/>
          <p:nvPr/>
        </p:nvSpPr>
        <p:spPr>
          <a:xfrm flipH="false" flipV="false" rot="0">
            <a:off x="1028700" y="44062"/>
            <a:ext cx="863108" cy="837215"/>
          </a:xfrm>
          <a:custGeom>
            <a:avLst/>
            <a:gdLst/>
            <a:ahLst/>
            <a:cxnLst/>
            <a:rect r="r" b="b" t="t" l="l"/>
            <a:pathLst>
              <a:path h="837215" w="863108">
                <a:moveTo>
                  <a:pt x="0" y="0"/>
                </a:moveTo>
                <a:lnTo>
                  <a:pt x="863108" y="0"/>
                </a:lnTo>
                <a:lnTo>
                  <a:pt x="863108" y="837215"/>
                </a:lnTo>
                <a:lnTo>
                  <a:pt x="0" y="837215"/>
                </a:lnTo>
                <a:lnTo>
                  <a:pt x="0" y="0"/>
                </a:lnTo>
                <a:close/>
              </a:path>
            </a:pathLst>
          </a:custGeom>
          <a:blipFill>
            <a:blip r:embed="rId4"/>
            <a:stretch>
              <a:fillRect l="0" t="0" r="0" b="0"/>
            </a:stretch>
          </a:blipFill>
        </p:spPr>
      </p:sp>
      <p:graphicFrame>
        <p:nvGraphicFramePr>
          <p:cNvPr name="Object 5" id="5"/>
          <p:cNvGraphicFramePr/>
          <p:nvPr/>
        </p:nvGraphicFramePr>
        <p:xfrm>
          <a:off x="1028700" y="3532822"/>
          <a:ext cx="15087600" cy="5657850"/>
        </p:xfrm>
        <a:graphic>
          <a:graphicData uri="http://schemas.openxmlformats.org/presentationml/2006/ole">
            <p:oleObj imgW="18097500" imgH="8674100" r:id="rId6" progId="Excel.Sheet.12" name="Worksheet">
              <p:embed/>
              <p:pic>
                <p:nvPicPr>
                  <p:cNvPr name="" id="0"/>
                  <p:cNvPicPr/>
                  <p:nvPr/>
                </p:nvPicPr>
                <p:blipFill>
                  <a:blip r:embed="rId5"/>
                  <a:stretch>
                    <a:fillRect/>
                  </a:stretch>
                </p:blipFill>
                <p:spPr>
                  <a:xfrm>
                    <a:off x="1270000" y="1270000"/>
                    <a:ext cx="1270000" cy="1270000"/>
                  </a:xfrm>
                  <a:prstGeom prst="rect"/>
                </p:spPr>
              </p:pic>
            </p:oleObj>
          </a:graphicData>
        </a:graphic>
      </p:graphicFrame>
      <p:sp>
        <p:nvSpPr>
          <p:cNvPr name="TextBox 6" id="6"/>
          <p:cNvSpPr txBox="true"/>
          <p:nvPr/>
        </p:nvSpPr>
        <p:spPr>
          <a:xfrm rot="0">
            <a:off x="16332192" y="25115"/>
            <a:ext cx="1144270" cy="792481"/>
          </a:xfrm>
          <a:prstGeom prst="rect">
            <a:avLst/>
          </a:prstGeom>
        </p:spPr>
        <p:txBody>
          <a:bodyPr anchor="t" rtlCol="false" tIns="0" lIns="0" bIns="0" rIns="0">
            <a:spAutoFit/>
          </a:bodyPr>
          <a:lstStyle/>
          <a:p>
            <a:pPr algn="r">
              <a:lnSpc>
                <a:spcPts val="6299"/>
              </a:lnSpc>
            </a:pPr>
            <a:r>
              <a:rPr lang="en-US" sz="4499" b="true">
                <a:solidFill>
                  <a:srgbClr val="D0A175"/>
                </a:solidFill>
                <a:latin typeface="Hagrid Ultra-Bold"/>
                <a:ea typeface="Hagrid Ultra-Bold"/>
                <a:cs typeface="Hagrid Ultra-Bold"/>
                <a:sym typeface="Hagrid Ultra-Bold"/>
              </a:rPr>
              <a:t>12</a:t>
            </a:r>
          </a:p>
        </p:txBody>
      </p:sp>
      <p:sp>
        <p:nvSpPr>
          <p:cNvPr name="TextBox 7" id="7"/>
          <p:cNvSpPr txBox="true"/>
          <p:nvPr/>
        </p:nvSpPr>
        <p:spPr>
          <a:xfrm rot="0">
            <a:off x="1109643" y="1681162"/>
            <a:ext cx="14467283" cy="1298575"/>
          </a:xfrm>
          <a:prstGeom prst="rect">
            <a:avLst/>
          </a:prstGeom>
        </p:spPr>
        <p:txBody>
          <a:bodyPr anchor="t" rtlCol="false" tIns="0" lIns="0" bIns="0" rIns="0">
            <a:spAutoFit/>
          </a:bodyPr>
          <a:lstStyle/>
          <a:p>
            <a:pPr algn="l">
              <a:lnSpc>
                <a:spcPts val="5000"/>
              </a:lnSpc>
            </a:pPr>
            <a:r>
              <a:rPr lang="en-US" b="true" sz="5000" spc="-100">
                <a:solidFill>
                  <a:srgbClr val="2E2C2B"/>
                </a:solidFill>
                <a:latin typeface="Hagrid Ultra-Bold"/>
                <a:ea typeface="Hagrid Ultra-Bold"/>
                <a:cs typeface="Hagrid Ultra-Bold"/>
                <a:sym typeface="Hagrid Ultra-Bold"/>
              </a:rPr>
              <a:t>PREVIEW SEKILAS DATASET</a:t>
            </a:r>
          </a:p>
          <a:p>
            <a:pPr algn="l">
              <a:lnSpc>
                <a:spcPts val="5000"/>
              </a:lnSpc>
            </a:pPr>
          </a:p>
        </p:txBody>
      </p:sp>
      <p:sp>
        <p:nvSpPr>
          <p:cNvPr name="TextBox 8" id="8"/>
          <p:cNvSpPr txBox="true"/>
          <p:nvPr/>
        </p:nvSpPr>
        <p:spPr>
          <a:xfrm rot="0">
            <a:off x="2144041" y="276932"/>
            <a:ext cx="7234755" cy="361950"/>
          </a:xfrm>
          <a:prstGeom prst="rect">
            <a:avLst/>
          </a:prstGeom>
        </p:spPr>
        <p:txBody>
          <a:bodyPr anchor="t" rtlCol="false" tIns="0" lIns="0" bIns="0" rIns="0">
            <a:spAutoFit/>
          </a:bodyPr>
          <a:lstStyle/>
          <a:p>
            <a:pPr algn="l" marL="0" indent="0" lvl="0">
              <a:lnSpc>
                <a:spcPts val="2847"/>
              </a:lnSpc>
              <a:spcBef>
                <a:spcPct val="0"/>
              </a:spcBef>
            </a:pPr>
            <a:r>
              <a:rPr lang="en-US" sz="2372">
                <a:solidFill>
                  <a:srgbClr val="2E2C2B"/>
                </a:solidFill>
                <a:latin typeface="Gotham"/>
                <a:ea typeface="Gotham"/>
                <a:cs typeface="Gotham"/>
                <a:sym typeface="Gotham"/>
              </a:rPr>
              <a:t>POLITEK</a:t>
            </a:r>
            <a:r>
              <a:rPr lang="en-US" sz="2372" strike="noStrike" u="none">
                <a:solidFill>
                  <a:srgbClr val="2E2C2B"/>
                </a:solidFill>
                <a:latin typeface="Gotham"/>
                <a:ea typeface="Gotham"/>
                <a:cs typeface="Gotham"/>
                <a:sym typeface="Gotham"/>
              </a:rPr>
              <a:t>NIK NEGERI LHOKSEUMAWE</a:t>
            </a:r>
          </a:p>
        </p:txBody>
      </p:sp>
      <p:sp>
        <p:nvSpPr>
          <p:cNvPr name="TextBox 9" id="9"/>
          <p:cNvSpPr txBox="true"/>
          <p:nvPr/>
        </p:nvSpPr>
        <p:spPr>
          <a:xfrm rot="0">
            <a:off x="1109643" y="2579053"/>
            <a:ext cx="16149657" cy="763270"/>
          </a:xfrm>
          <a:prstGeom prst="rect">
            <a:avLst/>
          </a:prstGeom>
        </p:spPr>
        <p:txBody>
          <a:bodyPr anchor="t" rtlCol="false" tIns="0" lIns="0" bIns="0" rIns="0">
            <a:spAutoFit/>
          </a:bodyPr>
          <a:lstStyle/>
          <a:p>
            <a:pPr algn="just" marL="0" indent="0" lvl="0">
              <a:lnSpc>
                <a:spcPts val="3080"/>
              </a:lnSpc>
              <a:spcBef>
                <a:spcPct val="0"/>
              </a:spcBef>
            </a:pPr>
            <a:r>
              <a:rPr lang="en-US" sz="2200">
                <a:solidFill>
                  <a:srgbClr val="2E2C2B"/>
                </a:solidFill>
                <a:latin typeface="Gotham"/>
                <a:ea typeface="Gotham"/>
                <a:cs typeface="Gotham"/>
                <a:sym typeface="Gotham"/>
              </a:rPr>
              <a:t>ModelLSTM/Data/Ekstrak/daily_sales.csv — hasil agregasi harian dari dump SQL EatsTEDI, dataset final untuk pelatihan model</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EEF1F1"/>
        </a:solidFill>
      </p:bgPr>
    </p:bg>
    <p:spTree>
      <p:nvGrpSpPr>
        <p:cNvPr id="1" name=""/>
        <p:cNvGrpSpPr/>
        <p:nvPr/>
      </p:nvGrpSpPr>
      <p:grpSpPr>
        <a:xfrm>
          <a:off x="0" y="0"/>
          <a:ext cx="0" cy="0"/>
          <a:chOff x="0" y="0"/>
          <a:chExt cx="0" cy="0"/>
        </a:xfrm>
      </p:grpSpPr>
      <p:sp>
        <p:nvSpPr>
          <p:cNvPr name="AutoShape 2" id="2"/>
          <p:cNvSpPr/>
          <p:nvPr/>
        </p:nvSpPr>
        <p:spPr>
          <a:xfrm>
            <a:off x="1028700" y="1019175"/>
            <a:ext cx="16230600" cy="0"/>
          </a:xfrm>
          <a:prstGeom prst="line">
            <a:avLst/>
          </a:prstGeom>
          <a:ln cap="flat" w="19050">
            <a:solidFill>
              <a:srgbClr val="2E2C2B"/>
            </a:solidFill>
            <a:prstDash val="solid"/>
            <a:headEnd type="none" len="sm" w="sm"/>
            <a:tailEnd type="none" len="sm" w="sm"/>
          </a:ln>
        </p:spPr>
      </p:sp>
      <p:sp>
        <p:nvSpPr>
          <p:cNvPr name="Freeform 3" id="3"/>
          <p:cNvSpPr/>
          <p:nvPr/>
        </p:nvSpPr>
        <p:spPr>
          <a:xfrm flipH="false" flipV="false" rot="0">
            <a:off x="1028700" y="44062"/>
            <a:ext cx="863108" cy="837215"/>
          </a:xfrm>
          <a:custGeom>
            <a:avLst/>
            <a:gdLst/>
            <a:ahLst/>
            <a:cxnLst/>
            <a:rect r="r" b="b" t="t" l="l"/>
            <a:pathLst>
              <a:path h="837215" w="863108">
                <a:moveTo>
                  <a:pt x="0" y="0"/>
                </a:moveTo>
                <a:lnTo>
                  <a:pt x="863108" y="0"/>
                </a:lnTo>
                <a:lnTo>
                  <a:pt x="863108" y="837215"/>
                </a:lnTo>
                <a:lnTo>
                  <a:pt x="0" y="837215"/>
                </a:lnTo>
                <a:lnTo>
                  <a:pt x="0" y="0"/>
                </a:lnTo>
                <a:close/>
              </a:path>
            </a:pathLst>
          </a:custGeom>
          <a:blipFill>
            <a:blip r:embed="rId2"/>
            <a:stretch>
              <a:fillRect l="0" t="0" r="0" b="0"/>
            </a:stretch>
          </a:blipFill>
        </p:spPr>
      </p:sp>
      <p:graphicFrame>
        <p:nvGraphicFramePr>
          <p:cNvPr name="Object 4" id="4"/>
          <p:cNvGraphicFramePr/>
          <p:nvPr/>
        </p:nvGraphicFramePr>
        <p:xfrm>
          <a:off x="541520" y="2995085"/>
          <a:ext cx="9429750" cy="3771900"/>
        </p:xfrm>
        <a:graphic>
          <a:graphicData uri="http://schemas.openxmlformats.org/presentationml/2006/ole">
            <p:oleObj imgW="11315700" imgH="5651500" r:id="rId4" progId="Excel.Sheet.12" name="Worksheet">
              <p:embed/>
              <p:pic>
                <p:nvPicPr>
                  <p:cNvPr name="" id="0"/>
                  <p:cNvPicPr/>
                  <p:nvPr/>
                </p:nvPicPr>
                <p:blipFill>
                  <a:blip r:embed="rId3"/>
                  <a:stretch>
                    <a:fillRect/>
                  </a:stretch>
                </p:blipFill>
                <p:spPr>
                  <a:xfrm>
                    <a:off x="1270000" y="1270000"/>
                    <a:ext cx="1270000" cy="1270000"/>
                  </a:xfrm>
                  <a:prstGeom prst="rect"/>
                </p:spPr>
              </p:pic>
            </p:oleObj>
          </a:graphicData>
        </a:graphic>
      </p:graphicFrame>
      <p:sp>
        <p:nvSpPr>
          <p:cNvPr name="Freeform 5" id="5"/>
          <p:cNvSpPr/>
          <p:nvPr/>
        </p:nvSpPr>
        <p:spPr>
          <a:xfrm flipH="false" flipV="false" rot="0">
            <a:off x="541520" y="6957485"/>
            <a:ext cx="10697111" cy="3001348"/>
          </a:xfrm>
          <a:custGeom>
            <a:avLst/>
            <a:gdLst/>
            <a:ahLst/>
            <a:cxnLst/>
            <a:rect r="r" b="b" t="t" l="l"/>
            <a:pathLst>
              <a:path h="3001348" w="10697111">
                <a:moveTo>
                  <a:pt x="0" y="0"/>
                </a:moveTo>
                <a:lnTo>
                  <a:pt x="10697111" y="0"/>
                </a:lnTo>
                <a:lnTo>
                  <a:pt x="10697111" y="3001347"/>
                </a:lnTo>
                <a:lnTo>
                  <a:pt x="0" y="3001347"/>
                </a:lnTo>
                <a:lnTo>
                  <a:pt x="0" y="0"/>
                </a:lnTo>
                <a:close/>
              </a:path>
            </a:pathLst>
          </a:custGeom>
          <a:blipFill>
            <a:blip r:embed="rId5"/>
            <a:stretch>
              <a:fillRect l="0" t="0" r="0" b="0"/>
            </a:stretch>
          </a:blipFill>
        </p:spPr>
      </p:sp>
      <p:sp>
        <p:nvSpPr>
          <p:cNvPr name="Freeform 6" id="6"/>
          <p:cNvSpPr/>
          <p:nvPr/>
        </p:nvSpPr>
        <p:spPr>
          <a:xfrm flipH="false" flipV="false" rot="0">
            <a:off x="11454539" y="2995085"/>
            <a:ext cx="6388359" cy="3962400"/>
          </a:xfrm>
          <a:custGeom>
            <a:avLst/>
            <a:gdLst/>
            <a:ahLst/>
            <a:cxnLst/>
            <a:rect r="r" b="b" t="t" l="l"/>
            <a:pathLst>
              <a:path h="3962400" w="6388359">
                <a:moveTo>
                  <a:pt x="0" y="0"/>
                </a:moveTo>
                <a:lnTo>
                  <a:pt x="6388359" y="0"/>
                </a:lnTo>
                <a:lnTo>
                  <a:pt x="6388359" y="3962400"/>
                </a:lnTo>
                <a:lnTo>
                  <a:pt x="0" y="3962400"/>
                </a:lnTo>
                <a:lnTo>
                  <a:pt x="0" y="0"/>
                </a:lnTo>
                <a:close/>
              </a:path>
            </a:pathLst>
          </a:custGeom>
          <a:blipFill>
            <a:blip r:embed="rId6"/>
            <a:stretch>
              <a:fillRect l="0" t="0" r="0" b="0"/>
            </a:stretch>
          </a:blipFill>
        </p:spPr>
      </p:sp>
      <p:sp>
        <p:nvSpPr>
          <p:cNvPr name="TextBox 7" id="7"/>
          <p:cNvSpPr txBox="true"/>
          <p:nvPr/>
        </p:nvSpPr>
        <p:spPr>
          <a:xfrm rot="0">
            <a:off x="16332192" y="25115"/>
            <a:ext cx="1144270" cy="792481"/>
          </a:xfrm>
          <a:prstGeom prst="rect">
            <a:avLst/>
          </a:prstGeom>
        </p:spPr>
        <p:txBody>
          <a:bodyPr anchor="t" rtlCol="false" tIns="0" lIns="0" bIns="0" rIns="0">
            <a:spAutoFit/>
          </a:bodyPr>
          <a:lstStyle/>
          <a:p>
            <a:pPr algn="r">
              <a:lnSpc>
                <a:spcPts val="6299"/>
              </a:lnSpc>
            </a:pPr>
            <a:r>
              <a:rPr lang="en-US" sz="4499" b="true">
                <a:solidFill>
                  <a:srgbClr val="D0A175"/>
                </a:solidFill>
                <a:latin typeface="Hagrid Ultra-Bold"/>
                <a:ea typeface="Hagrid Ultra-Bold"/>
                <a:cs typeface="Hagrid Ultra-Bold"/>
                <a:sym typeface="Hagrid Ultra-Bold"/>
              </a:rPr>
              <a:t>12</a:t>
            </a:r>
          </a:p>
        </p:txBody>
      </p:sp>
      <p:sp>
        <p:nvSpPr>
          <p:cNvPr name="TextBox 8" id="8"/>
          <p:cNvSpPr txBox="true"/>
          <p:nvPr/>
        </p:nvSpPr>
        <p:spPr>
          <a:xfrm rot="0">
            <a:off x="1109643" y="1457115"/>
            <a:ext cx="14467283" cy="669925"/>
          </a:xfrm>
          <a:prstGeom prst="rect">
            <a:avLst/>
          </a:prstGeom>
        </p:spPr>
        <p:txBody>
          <a:bodyPr anchor="t" rtlCol="false" tIns="0" lIns="0" bIns="0" rIns="0">
            <a:spAutoFit/>
          </a:bodyPr>
          <a:lstStyle/>
          <a:p>
            <a:pPr algn="l">
              <a:lnSpc>
                <a:spcPts val="5000"/>
              </a:lnSpc>
            </a:pPr>
            <a:r>
              <a:rPr lang="en-US" b="true" sz="5000" spc="-100">
                <a:solidFill>
                  <a:srgbClr val="2E2C2B"/>
                </a:solidFill>
                <a:latin typeface="Hagrid Ultra-Bold"/>
                <a:ea typeface="Hagrid Ultra-Bold"/>
                <a:cs typeface="Hagrid Ultra-Bold"/>
                <a:sym typeface="Hagrid Ultra-Bold"/>
              </a:rPr>
              <a:t>HASIL DAN PEMBAHASAN </a:t>
            </a:r>
          </a:p>
        </p:txBody>
      </p:sp>
      <p:sp>
        <p:nvSpPr>
          <p:cNvPr name="TextBox 9" id="9"/>
          <p:cNvSpPr txBox="true"/>
          <p:nvPr/>
        </p:nvSpPr>
        <p:spPr>
          <a:xfrm rot="0">
            <a:off x="2144041" y="276932"/>
            <a:ext cx="7234755" cy="361950"/>
          </a:xfrm>
          <a:prstGeom prst="rect">
            <a:avLst/>
          </a:prstGeom>
        </p:spPr>
        <p:txBody>
          <a:bodyPr anchor="t" rtlCol="false" tIns="0" lIns="0" bIns="0" rIns="0">
            <a:spAutoFit/>
          </a:bodyPr>
          <a:lstStyle/>
          <a:p>
            <a:pPr algn="l" marL="0" indent="0" lvl="0">
              <a:lnSpc>
                <a:spcPts val="2847"/>
              </a:lnSpc>
              <a:spcBef>
                <a:spcPct val="0"/>
              </a:spcBef>
            </a:pPr>
            <a:r>
              <a:rPr lang="en-US" sz="2372">
                <a:solidFill>
                  <a:srgbClr val="2E2C2B"/>
                </a:solidFill>
                <a:latin typeface="Gotham"/>
                <a:ea typeface="Gotham"/>
                <a:cs typeface="Gotham"/>
                <a:sym typeface="Gotham"/>
              </a:rPr>
              <a:t>POLITEK</a:t>
            </a:r>
            <a:r>
              <a:rPr lang="en-US" sz="2372" strike="noStrike" u="none">
                <a:solidFill>
                  <a:srgbClr val="2E2C2B"/>
                </a:solidFill>
                <a:latin typeface="Gotham"/>
                <a:ea typeface="Gotham"/>
                <a:cs typeface="Gotham"/>
                <a:sym typeface="Gotham"/>
              </a:rPr>
              <a:t>NIK NEGERI LHOKSEUMAWE</a:t>
            </a:r>
          </a:p>
        </p:txBody>
      </p:sp>
      <p:sp>
        <p:nvSpPr>
          <p:cNvPr name="TextBox 10" id="10"/>
          <p:cNvSpPr txBox="true"/>
          <p:nvPr/>
        </p:nvSpPr>
        <p:spPr>
          <a:xfrm rot="0">
            <a:off x="1109643" y="2279440"/>
            <a:ext cx="16149657" cy="372745"/>
          </a:xfrm>
          <a:prstGeom prst="rect">
            <a:avLst/>
          </a:prstGeom>
        </p:spPr>
        <p:txBody>
          <a:bodyPr anchor="t" rtlCol="false" tIns="0" lIns="0" bIns="0" rIns="0">
            <a:spAutoFit/>
          </a:bodyPr>
          <a:lstStyle/>
          <a:p>
            <a:pPr algn="just" marL="0" indent="0" lvl="0">
              <a:lnSpc>
                <a:spcPts val="3080"/>
              </a:lnSpc>
              <a:spcBef>
                <a:spcPct val="0"/>
              </a:spcBef>
            </a:pPr>
            <a:r>
              <a:rPr lang="en-US" sz="2200">
                <a:solidFill>
                  <a:srgbClr val="2E2C2B"/>
                </a:solidFill>
                <a:latin typeface="Gotham"/>
                <a:ea typeface="Gotham"/>
                <a:cs typeface="Gotham"/>
                <a:sym typeface="Gotham"/>
              </a:rPr>
              <a:t>Perbandingan LSTM terhadap baseline statistik (one-step-ahead, rata-rata 10 seed)</a:t>
            </a:r>
          </a:p>
        </p:txBody>
      </p:sp>
      <p:sp>
        <p:nvSpPr>
          <p:cNvPr name="TextBox 11" id="11"/>
          <p:cNvSpPr txBox="true"/>
          <p:nvPr/>
        </p:nvSpPr>
        <p:spPr>
          <a:xfrm rot="0">
            <a:off x="11454539" y="7262285"/>
            <a:ext cx="6388359" cy="2956560"/>
          </a:xfrm>
          <a:prstGeom prst="rect">
            <a:avLst/>
          </a:prstGeom>
        </p:spPr>
        <p:txBody>
          <a:bodyPr anchor="t" rtlCol="false" tIns="0" lIns="0" bIns="0" rIns="0">
            <a:spAutoFit/>
          </a:bodyPr>
          <a:lstStyle/>
          <a:p>
            <a:pPr algn="just">
              <a:lnSpc>
                <a:spcPts val="2940"/>
              </a:lnSpc>
            </a:pPr>
            <a:r>
              <a:rPr lang="en-US" sz="2100" b="true">
                <a:solidFill>
                  <a:srgbClr val="2E2C2B"/>
                </a:solidFill>
                <a:latin typeface="Gotham Bold"/>
                <a:ea typeface="Gotham Bold"/>
                <a:cs typeface="Gotham Bold"/>
                <a:sym typeface="Gotham Bold"/>
              </a:rPr>
              <a:t>Naive mencatat galat terkecil</a:t>
            </a:r>
          </a:p>
          <a:p>
            <a:pPr algn="just">
              <a:lnSpc>
                <a:spcPts val="2940"/>
              </a:lnSpc>
            </a:pPr>
            <a:r>
              <a:rPr lang="en-US" sz="2100">
                <a:solidFill>
                  <a:srgbClr val="2E2C2B"/>
                </a:solidFill>
                <a:latin typeface="Gotham"/>
                <a:ea typeface="Gotham"/>
                <a:cs typeface="Gotham"/>
                <a:sym typeface="Gotham"/>
              </a:rPr>
              <a:t>pendapatan kantin didominasi persistensi jangka pendek. Multi-seed: MAE Rp667.718 ± Rp145.024, MASE 1,840 ± 0,400;</a:t>
            </a:r>
          </a:p>
          <a:p>
            <a:pPr algn="just">
              <a:lnSpc>
                <a:spcPts val="2940"/>
              </a:lnSpc>
            </a:pPr>
            <a:r>
              <a:rPr lang="en-US" sz="2100">
                <a:solidFill>
                  <a:srgbClr val="2E2C2B"/>
                </a:solidFill>
                <a:latin typeface="Gotham"/>
                <a:ea typeface="Gotham"/>
                <a:cs typeface="Gotham"/>
                <a:sym typeface="Gotham"/>
              </a:rPr>
              <a:t>hanya 1 dari 10 percobaan (seed ke-7, MAE Rp495.527) mengungguli Naive &amp; SARIMA — model belum stabil pada ukuran data ini.</a:t>
            </a:r>
          </a:p>
          <a:p>
            <a:pPr algn="just" marL="0" indent="0" lvl="0">
              <a:lnSpc>
                <a:spcPts val="2940"/>
              </a:lnSpc>
              <a:spcBef>
                <a:spcPct val="0"/>
              </a:spcBef>
            </a:pP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bg>
      <p:bgPr>
        <a:solidFill>
          <a:srgbClr val="EEF1F1"/>
        </a:solidFill>
      </p:bgPr>
    </p:bg>
    <p:spTree>
      <p:nvGrpSpPr>
        <p:cNvPr id="1" name=""/>
        <p:cNvGrpSpPr/>
        <p:nvPr/>
      </p:nvGrpSpPr>
      <p:grpSpPr>
        <a:xfrm>
          <a:off x="0" y="0"/>
          <a:ext cx="0" cy="0"/>
          <a:chOff x="0" y="0"/>
          <a:chExt cx="0" cy="0"/>
        </a:xfrm>
      </p:grpSpPr>
      <p:sp>
        <p:nvSpPr>
          <p:cNvPr name="AutoShape 2" id="2"/>
          <p:cNvSpPr/>
          <p:nvPr/>
        </p:nvSpPr>
        <p:spPr>
          <a:xfrm>
            <a:off x="1028700" y="1019175"/>
            <a:ext cx="16230600" cy="0"/>
          </a:xfrm>
          <a:prstGeom prst="line">
            <a:avLst/>
          </a:prstGeom>
          <a:ln cap="flat" w="19050">
            <a:solidFill>
              <a:srgbClr val="2E2C2B"/>
            </a:solidFill>
            <a:prstDash val="solid"/>
            <a:headEnd type="none" len="sm" w="sm"/>
            <a:tailEnd type="none" len="sm" w="sm"/>
          </a:ln>
        </p:spPr>
      </p:sp>
      <p:sp>
        <p:nvSpPr>
          <p:cNvPr name="Freeform 3" id="3"/>
          <p:cNvSpPr/>
          <p:nvPr/>
        </p:nvSpPr>
        <p:spPr>
          <a:xfrm flipH="false" flipV="true" rot="0">
            <a:off x="17259300" y="9258300"/>
            <a:ext cx="820968" cy="820968"/>
          </a:xfrm>
          <a:custGeom>
            <a:avLst/>
            <a:gdLst/>
            <a:ahLst/>
            <a:cxnLst/>
            <a:rect r="r" b="b" t="t" l="l"/>
            <a:pathLst>
              <a:path h="820968" w="820968">
                <a:moveTo>
                  <a:pt x="0" y="820968"/>
                </a:moveTo>
                <a:lnTo>
                  <a:pt x="820968" y="820968"/>
                </a:lnTo>
                <a:lnTo>
                  <a:pt x="820968" y="0"/>
                </a:lnTo>
                <a:lnTo>
                  <a:pt x="0" y="0"/>
                </a:lnTo>
                <a:lnTo>
                  <a:pt x="0" y="820968"/>
                </a:lnTo>
                <a:close/>
              </a:path>
            </a:pathLst>
          </a:custGeom>
          <a:blipFill>
            <a:blip r:embed="rId2">
              <a:extLst>
                <a:ext uri="{96DAC541-7B7A-43D3-8B79-37D633B846F1}">
                  <asvg:svgBlip xmlns:asvg="http://schemas.microsoft.com/office/drawing/2016/SVG/main" r:embed="rId3"/>
                </a:ext>
              </a:extLst>
            </a:blip>
            <a:stretch>
              <a:fillRect l="0" t="0" r="0" b="0"/>
            </a:stretch>
          </a:blipFill>
          <a:ln cap="sq">
            <a:noFill/>
            <a:prstDash val="solid"/>
            <a:miter/>
          </a:ln>
        </p:spPr>
      </p:sp>
      <p:sp>
        <p:nvSpPr>
          <p:cNvPr name="Freeform 4" id="4"/>
          <p:cNvSpPr/>
          <p:nvPr/>
        </p:nvSpPr>
        <p:spPr>
          <a:xfrm flipH="false" flipV="false" rot="0">
            <a:off x="1028700" y="44062"/>
            <a:ext cx="863108" cy="837215"/>
          </a:xfrm>
          <a:custGeom>
            <a:avLst/>
            <a:gdLst/>
            <a:ahLst/>
            <a:cxnLst/>
            <a:rect r="r" b="b" t="t" l="l"/>
            <a:pathLst>
              <a:path h="837215" w="863108">
                <a:moveTo>
                  <a:pt x="0" y="0"/>
                </a:moveTo>
                <a:lnTo>
                  <a:pt x="863108" y="0"/>
                </a:lnTo>
                <a:lnTo>
                  <a:pt x="863108" y="837215"/>
                </a:lnTo>
                <a:lnTo>
                  <a:pt x="0" y="837215"/>
                </a:lnTo>
                <a:lnTo>
                  <a:pt x="0" y="0"/>
                </a:lnTo>
                <a:close/>
              </a:path>
            </a:pathLst>
          </a:custGeom>
          <a:blipFill>
            <a:blip r:embed="rId4"/>
            <a:stretch>
              <a:fillRect l="0" t="0" r="0" b="0"/>
            </a:stretch>
          </a:blipFill>
        </p:spPr>
      </p:sp>
      <p:sp>
        <p:nvSpPr>
          <p:cNvPr name="Freeform 5" id="5"/>
          <p:cNvSpPr/>
          <p:nvPr/>
        </p:nvSpPr>
        <p:spPr>
          <a:xfrm flipH="false" flipV="false" rot="0">
            <a:off x="5132984" y="2505393"/>
            <a:ext cx="3408244" cy="7573875"/>
          </a:xfrm>
          <a:custGeom>
            <a:avLst/>
            <a:gdLst/>
            <a:ahLst/>
            <a:cxnLst/>
            <a:rect r="r" b="b" t="t" l="l"/>
            <a:pathLst>
              <a:path h="7573875" w="3408244">
                <a:moveTo>
                  <a:pt x="0" y="0"/>
                </a:moveTo>
                <a:lnTo>
                  <a:pt x="3408244" y="0"/>
                </a:lnTo>
                <a:lnTo>
                  <a:pt x="3408244" y="7573875"/>
                </a:lnTo>
                <a:lnTo>
                  <a:pt x="0" y="7573875"/>
                </a:lnTo>
                <a:lnTo>
                  <a:pt x="0" y="0"/>
                </a:lnTo>
                <a:close/>
              </a:path>
            </a:pathLst>
          </a:custGeom>
          <a:blipFill>
            <a:blip r:embed="rId5"/>
            <a:stretch>
              <a:fillRect l="0" t="0" r="0" b="0"/>
            </a:stretch>
          </a:blipFill>
        </p:spPr>
      </p:sp>
      <p:sp>
        <p:nvSpPr>
          <p:cNvPr name="Freeform 6" id="6"/>
          <p:cNvSpPr/>
          <p:nvPr/>
        </p:nvSpPr>
        <p:spPr>
          <a:xfrm flipH="false" flipV="false" rot="0">
            <a:off x="1460254" y="2505393"/>
            <a:ext cx="3408244" cy="7573875"/>
          </a:xfrm>
          <a:custGeom>
            <a:avLst/>
            <a:gdLst/>
            <a:ahLst/>
            <a:cxnLst/>
            <a:rect r="r" b="b" t="t" l="l"/>
            <a:pathLst>
              <a:path h="7573875" w="3408244">
                <a:moveTo>
                  <a:pt x="0" y="0"/>
                </a:moveTo>
                <a:lnTo>
                  <a:pt x="3408244" y="0"/>
                </a:lnTo>
                <a:lnTo>
                  <a:pt x="3408244" y="7573875"/>
                </a:lnTo>
                <a:lnTo>
                  <a:pt x="0" y="7573875"/>
                </a:lnTo>
                <a:lnTo>
                  <a:pt x="0" y="0"/>
                </a:lnTo>
                <a:close/>
              </a:path>
            </a:pathLst>
          </a:custGeom>
          <a:blipFill>
            <a:blip r:embed="rId6"/>
            <a:stretch>
              <a:fillRect l="0" t="0" r="0" b="0"/>
            </a:stretch>
          </a:blipFill>
        </p:spPr>
      </p:sp>
      <p:sp>
        <p:nvSpPr>
          <p:cNvPr name="Freeform 7" id="7"/>
          <p:cNvSpPr/>
          <p:nvPr/>
        </p:nvSpPr>
        <p:spPr>
          <a:xfrm flipH="false" flipV="false" rot="0">
            <a:off x="8807928" y="2505393"/>
            <a:ext cx="3408244" cy="7573875"/>
          </a:xfrm>
          <a:custGeom>
            <a:avLst/>
            <a:gdLst/>
            <a:ahLst/>
            <a:cxnLst/>
            <a:rect r="r" b="b" t="t" l="l"/>
            <a:pathLst>
              <a:path h="7573875" w="3408244">
                <a:moveTo>
                  <a:pt x="0" y="0"/>
                </a:moveTo>
                <a:lnTo>
                  <a:pt x="3408244" y="0"/>
                </a:lnTo>
                <a:lnTo>
                  <a:pt x="3408244" y="7573875"/>
                </a:lnTo>
                <a:lnTo>
                  <a:pt x="0" y="7573875"/>
                </a:lnTo>
                <a:lnTo>
                  <a:pt x="0" y="0"/>
                </a:lnTo>
                <a:close/>
              </a:path>
            </a:pathLst>
          </a:custGeom>
          <a:blipFill>
            <a:blip r:embed="rId7"/>
            <a:stretch>
              <a:fillRect l="0" t="0" r="0" b="0"/>
            </a:stretch>
          </a:blipFill>
        </p:spPr>
      </p:sp>
      <p:sp>
        <p:nvSpPr>
          <p:cNvPr name="Freeform 8" id="8"/>
          <p:cNvSpPr/>
          <p:nvPr/>
        </p:nvSpPr>
        <p:spPr>
          <a:xfrm flipH="false" flipV="false" rot="0">
            <a:off x="12482872" y="2505393"/>
            <a:ext cx="3408244" cy="7573875"/>
          </a:xfrm>
          <a:custGeom>
            <a:avLst/>
            <a:gdLst/>
            <a:ahLst/>
            <a:cxnLst/>
            <a:rect r="r" b="b" t="t" l="l"/>
            <a:pathLst>
              <a:path h="7573875" w="3408244">
                <a:moveTo>
                  <a:pt x="0" y="0"/>
                </a:moveTo>
                <a:lnTo>
                  <a:pt x="3408244" y="0"/>
                </a:lnTo>
                <a:lnTo>
                  <a:pt x="3408244" y="7573875"/>
                </a:lnTo>
                <a:lnTo>
                  <a:pt x="0" y="7573875"/>
                </a:lnTo>
                <a:lnTo>
                  <a:pt x="0" y="0"/>
                </a:lnTo>
                <a:close/>
              </a:path>
            </a:pathLst>
          </a:custGeom>
          <a:blipFill>
            <a:blip r:embed="rId8"/>
            <a:stretch>
              <a:fillRect l="0" t="0" r="0" b="0"/>
            </a:stretch>
          </a:blipFill>
        </p:spPr>
      </p:sp>
      <p:sp>
        <p:nvSpPr>
          <p:cNvPr name="TextBox 9" id="9"/>
          <p:cNvSpPr txBox="true"/>
          <p:nvPr/>
        </p:nvSpPr>
        <p:spPr>
          <a:xfrm rot="0">
            <a:off x="16332192" y="25115"/>
            <a:ext cx="1144270" cy="792481"/>
          </a:xfrm>
          <a:prstGeom prst="rect">
            <a:avLst/>
          </a:prstGeom>
        </p:spPr>
        <p:txBody>
          <a:bodyPr anchor="t" rtlCol="false" tIns="0" lIns="0" bIns="0" rIns="0">
            <a:spAutoFit/>
          </a:bodyPr>
          <a:lstStyle/>
          <a:p>
            <a:pPr algn="r">
              <a:lnSpc>
                <a:spcPts val="6299"/>
              </a:lnSpc>
            </a:pPr>
            <a:r>
              <a:rPr lang="en-US" sz="4499" b="true">
                <a:solidFill>
                  <a:srgbClr val="D0A175"/>
                </a:solidFill>
                <a:latin typeface="Hagrid Ultra-Bold"/>
                <a:ea typeface="Hagrid Ultra-Bold"/>
                <a:cs typeface="Hagrid Ultra-Bold"/>
                <a:sym typeface="Hagrid Ultra-Bold"/>
              </a:rPr>
              <a:t>13</a:t>
            </a:r>
          </a:p>
        </p:txBody>
      </p:sp>
      <p:sp>
        <p:nvSpPr>
          <p:cNvPr name="TextBox 10" id="10"/>
          <p:cNvSpPr txBox="true"/>
          <p:nvPr/>
        </p:nvSpPr>
        <p:spPr>
          <a:xfrm rot="0">
            <a:off x="1109643" y="1681162"/>
            <a:ext cx="14467283" cy="700405"/>
          </a:xfrm>
          <a:prstGeom prst="rect">
            <a:avLst/>
          </a:prstGeom>
        </p:spPr>
        <p:txBody>
          <a:bodyPr anchor="t" rtlCol="false" tIns="0" lIns="0" bIns="0" rIns="0">
            <a:spAutoFit/>
          </a:bodyPr>
          <a:lstStyle/>
          <a:p>
            <a:pPr algn="l" marL="0" indent="0" lvl="1">
              <a:lnSpc>
                <a:spcPts val="5000"/>
              </a:lnSpc>
            </a:pPr>
            <a:r>
              <a:rPr lang="en-US" b="true" sz="5000" spc="-100">
                <a:solidFill>
                  <a:srgbClr val="2E2C2B"/>
                </a:solidFill>
                <a:latin typeface="Hagrid Ultra-Bold"/>
                <a:ea typeface="Hagrid Ultra-Bold"/>
                <a:cs typeface="Hagrid Ultra-Bold"/>
                <a:sym typeface="Hagrid Ultra-Bold"/>
              </a:rPr>
              <a:t>HASIL PENGUJIAN APLIKASI</a:t>
            </a:r>
          </a:p>
        </p:txBody>
      </p:sp>
      <p:sp>
        <p:nvSpPr>
          <p:cNvPr name="TextBox 11" id="11"/>
          <p:cNvSpPr txBox="true"/>
          <p:nvPr/>
        </p:nvSpPr>
        <p:spPr>
          <a:xfrm rot="0">
            <a:off x="2144041" y="276932"/>
            <a:ext cx="7234755" cy="361950"/>
          </a:xfrm>
          <a:prstGeom prst="rect">
            <a:avLst/>
          </a:prstGeom>
        </p:spPr>
        <p:txBody>
          <a:bodyPr anchor="t" rtlCol="false" tIns="0" lIns="0" bIns="0" rIns="0">
            <a:spAutoFit/>
          </a:bodyPr>
          <a:lstStyle/>
          <a:p>
            <a:pPr algn="l" marL="0" indent="0" lvl="0">
              <a:lnSpc>
                <a:spcPts val="2847"/>
              </a:lnSpc>
              <a:spcBef>
                <a:spcPct val="0"/>
              </a:spcBef>
            </a:pPr>
            <a:r>
              <a:rPr lang="en-US" sz="2372">
                <a:solidFill>
                  <a:srgbClr val="2E2C2B"/>
                </a:solidFill>
                <a:latin typeface="Gotham"/>
                <a:ea typeface="Gotham"/>
                <a:cs typeface="Gotham"/>
                <a:sym typeface="Gotham"/>
              </a:rPr>
              <a:t>POLITEK</a:t>
            </a:r>
            <a:r>
              <a:rPr lang="en-US" sz="2372" strike="noStrike" u="none">
                <a:solidFill>
                  <a:srgbClr val="2E2C2B"/>
                </a:solidFill>
                <a:latin typeface="Gotham"/>
                <a:ea typeface="Gotham"/>
                <a:cs typeface="Gotham"/>
                <a:sym typeface="Gotham"/>
              </a:rPr>
              <a:t>NIK NEGERI LHOKSEUMAWE</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EEF1F1"/>
        </a:solidFill>
      </p:bgPr>
    </p:bg>
    <p:spTree>
      <p:nvGrpSpPr>
        <p:cNvPr id="1" name=""/>
        <p:cNvGrpSpPr/>
        <p:nvPr/>
      </p:nvGrpSpPr>
      <p:grpSpPr>
        <a:xfrm>
          <a:off x="0" y="0"/>
          <a:ext cx="0" cy="0"/>
          <a:chOff x="0" y="0"/>
          <a:chExt cx="0" cy="0"/>
        </a:xfrm>
      </p:grpSpPr>
      <p:sp>
        <p:nvSpPr>
          <p:cNvPr name="AutoShape 2" id="2"/>
          <p:cNvSpPr/>
          <p:nvPr/>
        </p:nvSpPr>
        <p:spPr>
          <a:xfrm>
            <a:off x="1028700" y="1019175"/>
            <a:ext cx="16230600" cy="0"/>
          </a:xfrm>
          <a:prstGeom prst="line">
            <a:avLst/>
          </a:prstGeom>
          <a:ln cap="flat" w="19050">
            <a:solidFill>
              <a:srgbClr val="2E2C2B"/>
            </a:solidFill>
            <a:prstDash val="solid"/>
            <a:headEnd type="none" len="sm" w="sm"/>
            <a:tailEnd type="none" len="sm" w="sm"/>
          </a:ln>
        </p:spPr>
      </p:sp>
      <p:sp>
        <p:nvSpPr>
          <p:cNvPr name="Freeform 3" id="3"/>
          <p:cNvSpPr/>
          <p:nvPr/>
        </p:nvSpPr>
        <p:spPr>
          <a:xfrm flipH="false" flipV="true" rot="0">
            <a:off x="17259300" y="9258300"/>
            <a:ext cx="820968" cy="820968"/>
          </a:xfrm>
          <a:custGeom>
            <a:avLst/>
            <a:gdLst/>
            <a:ahLst/>
            <a:cxnLst/>
            <a:rect r="r" b="b" t="t" l="l"/>
            <a:pathLst>
              <a:path h="820968" w="820968">
                <a:moveTo>
                  <a:pt x="0" y="820968"/>
                </a:moveTo>
                <a:lnTo>
                  <a:pt x="820968" y="820968"/>
                </a:lnTo>
                <a:lnTo>
                  <a:pt x="820968" y="0"/>
                </a:lnTo>
                <a:lnTo>
                  <a:pt x="0" y="0"/>
                </a:lnTo>
                <a:lnTo>
                  <a:pt x="0" y="820968"/>
                </a:lnTo>
                <a:close/>
              </a:path>
            </a:pathLst>
          </a:custGeom>
          <a:blipFill>
            <a:blip r:embed="rId2">
              <a:extLst>
                <a:ext uri="{96DAC541-7B7A-43D3-8B79-37D633B846F1}">
                  <asvg:svgBlip xmlns:asvg="http://schemas.microsoft.com/office/drawing/2016/SVG/main" r:embed="rId3"/>
                </a:ext>
              </a:extLst>
            </a:blip>
            <a:stretch>
              <a:fillRect l="0" t="0" r="0" b="0"/>
            </a:stretch>
          </a:blipFill>
          <a:ln cap="sq">
            <a:noFill/>
            <a:prstDash val="solid"/>
            <a:miter/>
          </a:ln>
        </p:spPr>
      </p:sp>
      <p:sp>
        <p:nvSpPr>
          <p:cNvPr name="Freeform 4" id="4"/>
          <p:cNvSpPr/>
          <p:nvPr/>
        </p:nvSpPr>
        <p:spPr>
          <a:xfrm flipH="false" flipV="false" rot="0">
            <a:off x="1028700" y="44062"/>
            <a:ext cx="863108" cy="837215"/>
          </a:xfrm>
          <a:custGeom>
            <a:avLst/>
            <a:gdLst/>
            <a:ahLst/>
            <a:cxnLst/>
            <a:rect r="r" b="b" t="t" l="l"/>
            <a:pathLst>
              <a:path h="837215" w="863108">
                <a:moveTo>
                  <a:pt x="0" y="0"/>
                </a:moveTo>
                <a:lnTo>
                  <a:pt x="863108" y="0"/>
                </a:lnTo>
                <a:lnTo>
                  <a:pt x="863108" y="837215"/>
                </a:lnTo>
                <a:lnTo>
                  <a:pt x="0" y="837215"/>
                </a:lnTo>
                <a:lnTo>
                  <a:pt x="0" y="0"/>
                </a:lnTo>
                <a:close/>
              </a:path>
            </a:pathLst>
          </a:custGeom>
          <a:blipFill>
            <a:blip r:embed="rId4"/>
            <a:stretch>
              <a:fillRect l="0" t="0" r="0" b="0"/>
            </a:stretch>
          </a:blipFill>
        </p:spPr>
      </p:sp>
      <p:sp>
        <p:nvSpPr>
          <p:cNvPr name="TextBox 5" id="5"/>
          <p:cNvSpPr txBox="true"/>
          <p:nvPr/>
        </p:nvSpPr>
        <p:spPr>
          <a:xfrm rot="0">
            <a:off x="16332192" y="25115"/>
            <a:ext cx="1144270" cy="792481"/>
          </a:xfrm>
          <a:prstGeom prst="rect">
            <a:avLst/>
          </a:prstGeom>
        </p:spPr>
        <p:txBody>
          <a:bodyPr anchor="t" rtlCol="false" tIns="0" lIns="0" bIns="0" rIns="0">
            <a:spAutoFit/>
          </a:bodyPr>
          <a:lstStyle/>
          <a:p>
            <a:pPr algn="r">
              <a:lnSpc>
                <a:spcPts val="6299"/>
              </a:lnSpc>
            </a:pPr>
            <a:r>
              <a:rPr lang="en-US" sz="4499" b="true">
                <a:solidFill>
                  <a:srgbClr val="D0A175"/>
                </a:solidFill>
                <a:latin typeface="Hagrid Ultra-Bold"/>
                <a:ea typeface="Hagrid Ultra-Bold"/>
                <a:cs typeface="Hagrid Ultra-Bold"/>
                <a:sym typeface="Hagrid Ultra-Bold"/>
              </a:rPr>
              <a:t>13</a:t>
            </a:r>
          </a:p>
        </p:txBody>
      </p:sp>
      <p:sp>
        <p:nvSpPr>
          <p:cNvPr name="TextBox 6" id="6"/>
          <p:cNvSpPr txBox="true"/>
          <p:nvPr/>
        </p:nvSpPr>
        <p:spPr>
          <a:xfrm rot="0">
            <a:off x="1109643" y="1463993"/>
            <a:ext cx="14467283" cy="669925"/>
          </a:xfrm>
          <a:prstGeom prst="rect">
            <a:avLst/>
          </a:prstGeom>
        </p:spPr>
        <p:txBody>
          <a:bodyPr anchor="t" rtlCol="false" tIns="0" lIns="0" bIns="0" rIns="0">
            <a:spAutoFit/>
          </a:bodyPr>
          <a:lstStyle/>
          <a:p>
            <a:pPr algn="l" marL="0" indent="0" lvl="1">
              <a:lnSpc>
                <a:spcPts val="5000"/>
              </a:lnSpc>
            </a:pPr>
            <a:r>
              <a:rPr lang="en-US" b="true" sz="5000" spc="-100">
                <a:solidFill>
                  <a:srgbClr val="2E2C2B"/>
                </a:solidFill>
                <a:latin typeface="Hagrid Ultra-Bold"/>
                <a:ea typeface="Hagrid Ultra-Bold"/>
                <a:cs typeface="Hagrid Ultra-Bold"/>
                <a:sym typeface="Hagrid Ultra-Bold"/>
              </a:rPr>
              <a:t>SIMPULAN &amp; SARAN</a:t>
            </a:r>
          </a:p>
        </p:txBody>
      </p:sp>
      <p:sp>
        <p:nvSpPr>
          <p:cNvPr name="TextBox 7" id="7"/>
          <p:cNvSpPr txBox="true"/>
          <p:nvPr/>
        </p:nvSpPr>
        <p:spPr>
          <a:xfrm rot="0">
            <a:off x="1109643" y="3937000"/>
            <a:ext cx="2820750" cy="469901"/>
          </a:xfrm>
          <a:prstGeom prst="rect">
            <a:avLst/>
          </a:prstGeom>
        </p:spPr>
        <p:txBody>
          <a:bodyPr anchor="t" rtlCol="false" tIns="0" lIns="0" bIns="0" rIns="0">
            <a:spAutoFit/>
          </a:bodyPr>
          <a:lstStyle/>
          <a:p>
            <a:pPr algn="l" marL="0" indent="0" lvl="1">
              <a:lnSpc>
                <a:spcPts val="3500"/>
              </a:lnSpc>
            </a:pPr>
            <a:r>
              <a:rPr lang="en-US" b="true" sz="3500" spc="-70">
                <a:solidFill>
                  <a:srgbClr val="2E2C2B"/>
                </a:solidFill>
                <a:latin typeface="Hagrid Ultra-Bold"/>
                <a:ea typeface="Hagrid Ultra-Bold"/>
                <a:cs typeface="Hagrid Ultra-Bold"/>
                <a:sym typeface="Hagrid Ultra-Bold"/>
              </a:rPr>
              <a:t>SIMPULAN</a:t>
            </a:r>
          </a:p>
        </p:txBody>
      </p:sp>
      <p:sp>
        <p:nvSpPr>
          <p:cNvPr name="TextBox 8" id="8"/>
          <p:cNvSpPr txBox="true"/>
          <p:nvPr/>
        </p:nvSpPr>
        <p:spPr>
          <a:xfrm rot="0">
            <a:off x="10544553" y="3937000"/>
            <a:ext cx="2820750" cy="469901"/>
          </a:xfrm>
          <a:prstGeom prst="rect">
            <a:avLst/>
          </a:prstGeom>
        </p:spPr>
        <p:txBody>
          <a:bodyPr anchor="t" rtlCol="false" tIns="0" lIns="0" bIns="0" rIns="0">
            <a:spAutoFit/>
          </a:bodyPr>
          <a:lstStyle/>
          <a:p>
            <a:pPr algn="l" marL="0" indent="0" lvl="1">
              <a:lnSpc>
                <a:spcPts val="3500"/>
              </a:lnSpc>
            </a:pPr>
            <a:r>
              <a:rPr lang="en-US" b="true" sz="3500" spc="-70">
                <a:solidFill>
                  <a:srgbClr val="2E2C2B"/>
                </a:solidFill>
                <a:latin typeface="Hagrid Ultra-Bold"/>
                <a:ea typeface="Hagrid Ultra-Bold"/>
                <a:cs typeface="Hagrid Ultra-Bold"/>
                <a:sym typeface="Hagrid Ultra-Bold"/>
              </a:rPr>
              <a:t>SARAN</a:t>
            </a:r>
          </a:p>
        </p:txBody>
      </p:sp>
      <p:sp>
        <p:nvSpPr>
          <p:cNvPr name="TextBox 9" id="9"/>
          <p:cNvSpPr txBox="true"/>
          <p:nvPr/>
        </p:nvSpPr>
        <p:spPr>
          <a:xfrm rot="0">
            <a:off x="2144041" y="276932"/>
            <a:ext cx="7234755" cy="361950"/>
          </a:xfrm>
          <a:prstGeom prst="rect">
            <a:avLst/>
          </a:prstGeom>
        </p:spPr>
        <p:txBody>
          <a:bodyPr anchor="t" rtlCol="false" tIns="0" lIns="0" bIns="0" rIns="0">
            <a:spAutoFit/>
          </a:bodyPr>
          <a:lstStyle/>
          <a:p>
            <a:pPr algn="l" marL="0" indent="0" lvl="0">
              <a:lnSpc>
                <a:spcPts val="2847"/>
              </a:lnSpc>
              <a:spcBef>
                <a:spcPct val="0"/>
              </a:spcBef>
            </a:pPr>
            <a:r>
              <a:rPr lang="en-US" sz="2372">
                <a:solidFill>
                  <a:srgbClr val="2E2C2B"/>
                </a:solidFill>
                <a:latin typeface="Gotham"/>
                <a:ea typeface="Gotham"/>
                <a:cs typeface="Gotham"/>
                <a:sym typeface="Gotham"/>
              </a:rPr>
              <a:t>POLITEK</a:t>
            </a:r>
            <a:r>
              <a:rPr lang="en-US" sz="2372" strike="noStrike" u="none">
                <a:solidFill>
                  <a:srgbClr val="2E2C2B"/>
                </a:solidFill>
                <a:latin typeface="Gotham"/>
                <a:ea typeface="Gotham"/>
                <a:cs typeface="Gotham"/>
                <a:sym typeface="Gotham"/>
              </a:rPr>
              <a:t>NIK NEGERI LHOKSEUMAWE</a:t>
            </a:r>
          </a:p>
        </p:txBody>
      </p:sp>
      <p:sp>
        <p:nvSpPr>
          <p:cNvPr name="TextBox 10" id="10"/>
          <p:cNvSpPr txBox="true"/>
          <p:nvPr/>
        </p:nvSpPr>
        <p:spPr>
          <a:xfrm rot="0">
            <a:off x="1109643" y="2285366"/>
            <a:ext cx="16215349" cy="1099184"/>
          </a:xfrm>
          <a:prstGeom prst="rect">
            <a:avLst/>
          </a:prstGeom>
        </p:spPr>
        <p:txBody>
          <a:bodyPr anchor="t" rtlCol="false" tIns="0" lIns="0" bIns="0" rIns="0">
            <a:spAutoFit/>
          </a:bodyPr>
          <a:lstStyle/>
          <a:p>
            <a:pPr algn="just">
              <a:lnSpc>
                <a:spcPts val="2940"/>
              </a:lnSpc>
              <a:spcBef>
                <a:spcPct val="0"/>
              </a:spcBef>
            </a:pPr>
            <a:r>
              <a:rPr lang="en-US" sz="2100">
                <a:solidFill>
                  <a:srgbClr val="000000"/>
                </a:solidFill>
                <a:latin typeface="Gotham"/>
                <a:ea typeface="Gotham"/>
                <a:cs typeface="Gotham"/>
                <a:sym typeface="Gotham"/>
              </a:rPr>
              <a:t>Skenario 3 (TimeGAN, multi-langkah): MAE turun 50,8% (Rp1.750.355 → Rp860.695). Skenario 4 (horizon h=1–7): MASE LSTM stabil 2,124–2,505, namun Seasonal-Naive tetap unggul (2,012–2,140). Pengujian sistem: 12/12 black box, 3/3 white box, 0 kehilangan/duplikasi data sinkronisasi.</a:t>
            </a:r>
          </a:p>
        </p:txBody>
      </p:sp>
      <p:sp>
        <p:nvSpPr>
          <p:cNvPr name="TextBox 11" id="11"/>
          <p:cNvSpPr txBox="true"/>
          <p:nvPr/>
        </p:nvSpPr>
        <p:spPr>
          <a:xfrm rot="0">
            <a:off x="1109643" y="4574858"/>
            <a:ext cx="8870322" cy="5840094"/>
          </a:xfrm>
          <a:prstGeom prst="rect">
            <a:avLst/>
          </a:prstGeom>
        </p:spPr>
        <p:txBody>
          <a:bodyPr anchor="t" rtlCol="false" tIns="0" lIns="0" bIns="0" rIns="0">
            <a:spAutoFit/>
          </a:bodyPr>
          <a:lstStyle/>
          <a:p>
            <a:pPr algn="just" marL="474984" indent="-237492" lvl="1">
              <a:lnSpc>
                <a:spcPts val="3080"/>
              </a:lnSpc>
              <a:buAutoNum type="arabicPeriod" startAt="1"/>
            </a:pPr>
            <a:r>
              <a:rPr lang="en-US" sz="2200">
                <a:solidFill>
                  <a:srgbClr val="000000"/>
                </a:solidFill>
                <a:latin typeface="Gotham"/>
                <a:ea typeface="Gotham"/>
                <a:cs typeface="Gotham"/>
                <a:sym typeface="Gotham"/>
              </a:rPr>
              <a:t>Aplikasi PO</a:t>
            </a:r>
            <a:r>
              <a:rPr lang="en-US" sz="2200">
                <a:solidFill>
                  <a:srgbClr val="000000"/>
                </a:solidFill>
                <a:latin typeface="Gotham"/>
                <a:ea typeface="Gotham"/>
                <a:cs typeface="Gotham"/>
                <a:sym typeface="Gotham"/>
              </a:rPr>
              <a:t>S mobile dengan fitur prediksi berhasil dibangun (Flutter, Isar DB, Supabase, Flask di Hugging Face), terintegrasi lewat Smart Analytics dengan arsitektur offline-first; seluruh pengujian berhasil.</a:t>
            </a:r>
          </a:p>
          <a:p>
            <a:pPr algn="just" marL="474984" indent="-237492" lvl="1">
              <a:lnSpc>
                <a:spcPts val="3080"/>
              </a:lnSpc>
              <a:buAutoNum type="arabicPeriod" startAt="1"/>
            </a:pPr>
            <a:r>
              <a:rPr lang="en-US" sz="2200">
                <a:solidFill>
                  <a:srgbClr val="000000"/>
                </a:solidFill>
                <a:latin typeface="Gotham"/>
                <a:ea typeface="Gotham"/>
                <a:cs typeface="Gotham"/>
                <a:sym typeface="Gotham"/>
              </a:rPr>
              <a:t>LSTM hybrid residual diterapkan pada 313 hari aktif; augmentasi TimeGAN memperbaiki MAE multi-langkah 50,8% — keterbatasan performa bersumber dari kelangkaan data, bukan arsitektur.</a:t>
            </a:r>
          </a:p>
          <a:p>
            <a:pPr algn="just" marL="474984" indent="-237492" lvl="1">
              <a:lnSpc>
                <a:spcPts val="3080"/>
              </a:lnSpc>
              <a:buAutoNum type="arabicPeriod" startAt="1"/>
            </a:pPr>
            <a:r>
              <a:rPr lang="en-US" sz="2200">
                <a:solidFill>
                  <a:srgbClr val="000000"/>
                </a:solidFill>
                <a:latin typeface="Gotham"/>
                <a:ea typeface="Gotham"/>
                <a:cs typeface="Gotham"/>
                <a:sym typeface="Gotham"/>
              </a:rPr>
              <a:t>LSTM belum mengungguli baseline (Naive &amp; Seasonal-Naive) pada volume data ini; metode statistik sederhana lebih layak. LSTM relevan ditinjau ulang bila data mencakup 3–5 tahun operasional — tanpa mengubah aplikasi karena layanan bersifat model-agnostic.</a:t>
            </a:r>
          </a:p>
          <a:p>
            <a:pPr algn="just">
              <a:lnSpc>
                <a:spcPts val="3080"/>
              </a:lnSpc>
              <a:spcBef>
                <a:spcPct val="0"/>
              </a:spcBef>
            </a:pPr>
          </a:p>
          <a:p>
            <a:pPr algn="just">
              <a:lnSpc>
                <a:spcPts val="3080"/>
              </a:lnSpc>
              <a:spcBef>
                <a:spcPct val="0"/>
              </a:spcBef>
            </a:pPr>
          </a:p>
        </p:txBody>
      </p:sp>
      <p:sp>
        <p:nvSpPr>
          <p:cNvPr name="TextBox 12" id="12"/>
          <p:cNvSpPr txBox="true"/>
          <p:nvPr/>
        </p:nvSpPr>
        <p:spPr>
          <a:xfrm rot="0">
            <a:off x="10330800" y="4431983"/>
            <a:ext cx="7145661" cy="4014468"/>
          </a:xfrm>
          <a:prstGeom prst="rect">
            <a:avLst/>
          </a:prstGeom>
        </p:spPr>
        <p:txBody>
          <a:bodyPr anchor="t" rtlCol="false" tIns="0" lIns="0" bIns="0" rIns="0">
            <a:spAutoFit/>
          </a:bodyPr>
          <a:lstStyle/>
          <a:p>
            <a:pPr algn="just" marL="496574" indent="-248287" lvl="1">
              <a:lnSpc>
                <a:spcPts val="4600"/>
              </a:lnSpc>
              <a:buAutoNum type="arabicPeriod" startAt="1"/>
            </a:pPr>
            <a:r>
              <a:rPr lang="en-US" sz="2300">
                <a:solidFill>
                  <a:srgbClr val="000000"/>
                </a:solidFill>
                <a:latin typeface="Gotham"/>
                <a:ea typeface="Gotham"/>
                <a:cs typeface="Gotham"/>
                <a:sym typeface="Gotham"/>
              </a:rPr>
              <a:t> P</a:t>
            </a:r>
            <a:r>
              <a:rPr lang="en-US" sz="2300">
                <a:solidFill>
                  <a:srgbClr val="000000"/>
                </a:solidFill>
                <a:latin typeface="Gotham"/>
                <a:ea typeface="Gotham"/>
                <a:cs typeface="Gotham"/>
                <a:sym typeface="Gotham"/>
              </a:rPr>
              <a:t>erpanjang data ke 3–5 tahun operasional.</a:t>
            </a:r>
          </a:p>
          <a:p>
            <a:pPr algn="just" marL="496574" indent="-248287" lvl="1">
              <a:lnSpc>
                <a:spcPts val="4600"/>
              </a:lnSpc>
              <a:buAutoNum type="arabicPeriod" startAt="1"/>
            </a:pPr>
            <a:r>
              <a:rPr lang="en-US" sz="2300">
                <a:solidFill>
                  <a:srgbClr val="000000"/>
                </a:solidFill>
                <a:latin typeface="Gotham"/>
                <a:ea typeface="Gotham"/>
                <a:cs typeface="Gotham"/>
                <a:sym typeface="Gotham"/>
              </a:rPr>
              <a:t>Tambahkan fitur gap_days pada model.</a:t>
            </a:r>
          </a:p>
          <a:p>
            <a:pPr algn="just" marL="496574" indent="-248287" lvl="1">
              <a:lnSpc>
                <a:spcPts val="4600"/>
              </a:lnSpc>
              <a:buAutoNum type="arabicPeriod" startAt="1"/>
            </a:pPr>
            <a:r>
              <a:rPr lang="en-US" sz="2300">
                <a:solidFill>
                  <a:srgbClr val="000000"/>
                </a:solidFill>
                <a:latin typeface="Gotham"/>
                <a:ea typeface="Gotham"/>
                <a:cs typeface="Gotham"/>
                <a:sym typeface="Gotham"/>
              </a:rPr>
              <a:t>Atasi cold start dengan transfer learning / model global.</a:t>
            </a:r>
          </a:p>
          <a:p>
            <a:pPr algn="just" marL="496574" indent="-248287" lvl="1">
              <a:lnSpc>
                <a:spcPts val="4600"/>
              </a:lnSpc>
              <a:buAutoNum type="arabicPeriod" startAt="1"/>
            </a:pPr>
            <a:r>
              <a:rPr lang="en-US" sz="2300">
                <a:solidFill>
                  <a:srgbClr val="000000"/>
                </a:solidFill>
                <a:latin typeface="Gotham"/>
                <a:ea typeface="Gotham"/>
                <a:cs typeface="Gotham"/>
                <a:sym typeface="Gotham"/>
              </a:rPr>
              <a:t>Kembangkan model hybrid (ARIMA-LSTM / LSTM-GRU).</a:t>
            </a:r>
          </a:p>
          <a:p>
            <a:pPr algn="just">
              <a:lnSpc>
                <a:spcPts val="4600"/>
              </a:lnSpc>
            </a:pP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bg>
      <p:bgPr>
        <a:solidFill>
          <a:srgbClr val="EEF1F1"/>
        </a:solidFill>
      </p:bgPr>
    </p:bg>
    <p:spTree>
      <p:nvGrpSpPr>
        <p:cNvPr id="1" name=""/>
        <p:cNvGrpSpPr/>
        <p:nvPr/>
      </p:nvGrpSpPr>
      <p:grpSpPr>
        <a:xfrm>
          <a:off x="0" y="0"/>
          <a:ext cx="0" cy="0"/>
          <a:chOff x="0" y="0"/>
          <a:chExt cx="0" cy="0"/>
        </a:xfrm>
      </p:grpSpPr>
      <p:sp>
        <p:nvSpPr>
          <p:cNvPr name="TextBox 2" id="2"/>
          <p:cNvSpPr txBox="true"/>
          <p:nvPr/>
        </p:nvSpPr>
        <p:spPr>
          <a:xfrm rot="0">
            <a:off x="378185" y="4058453"/>
            <a:ext cx="17531629" cy="2348317"/>
          </a:xfrm>
          <a:prstGeom prst="rect">
            <a:avLst/>
          </a:prstGeom>
        </p:spPr>
        <p:txBody>
          <a:bodyPr anchor="t" rtlCol="false" tIns="0" lIns="0" bIns="0" rIns="0">
            <a:spAutoFit/>
          </a:bodyPr>
          <a:lstStyle/>
          <a:p>
            <a:pPr algn="r" marL="0" indent="0" lvl="1">
              <a:lnSpc>
                <a:spcPts val="16785"/>
              </a:lnSpc>
            </a:pPr>
            <a:r>
              <a:rPr lang="en-US" b="true" sz="16785" spc="-335">
                <a:solidFill>
                  <a:srgbClr val="2E2C2B"/>
                </a:solidFill>
                <a:latin typeface="Hagrid Ultra-Bold"/>
                <a:ea typeface="Hagrid Ultra-Bold"/>
                <a:cs typeface="Hagrid Ultra-Bold"/>
                <a:sym typeface="Hagrid Ultra-Bold"/>
              </a:rPr>
              <a:t>TERIMA </a:t>
            </a:r>
            <a:r>
              <a:rPr lang="en-US" b="true" sz="16785" spc="-335">
                <a:solidFill>
                  <a:srgbClr val="2E2C2B"/>
                </a:solidFill>
                <a:latin typeface="Hagrid Ultra-Bold"/>
                <a:ea typeface="Hagrid Ultra-Bold"/>
                <a:cs typeface="Hagrid Ultra-Bold"/>
                <a:sym typeface="Hagrid Ultra-Bold"/>
              </a:rPr>
              <a:t>Kasih!</a:t>
            </a:r>
          </a:p>
        </p:txBody>
      </p:sp>
      <p:sp>
        <p:nvSpPr>
          <p:cNvPr name="AutoShape 3" id="3"/>
          <p:cNvSpPr/>
          <p:nvPr/>
        </p:nvSpPr>
        <p:spPr>
          <a:xfrm flipV="true">
            <a:off x="1028700" y="2191553"/>
            <a:ext cx="15220375" cy="0"/>
          </a:xfrm>
          <a:prstGeom prst="line">
            <a:avLst/>
          </a:prstGeom>
          <a:ln cap="flat" w="19050">
            <a:solidFill>
              <a:srgbClr val="2E2C2B"/>
            </a:solidFill>
            <a:prstDash val="solid"/>
            <a:headEnd type="none" len="sm" w="sm"/>
            <a:tailEnd type="none" len="sm" w="sm"/>
          </a:ln>
        </p:spPr>
      </p:sp>
      <p:sp>
        <p:nvSpPr>
          <p:cNvPr name="AutoShape 4" id="4"/>
          <p:cNvSpPr/>
          <p:nvPr/>
        </p:nvSpPr>
        <p:spPr>
          <a:xfrm>
            <a:off x="16115030" y="8369187"/>
            <a:ext cx="0" cy="2386551"/>
          </a:xfrm>
          <a:prstGeom prst="line">
            <a:avLst/>
          </a:prstGeom>
          <a:ln cap="flat" w="19050">
            <a:solidFill>
              <a:srgbClr val="2E2C2B"/>
            </a:solidFill>
            <a:prstDash val="solid"/>
            <a:headEnd type="none" len="sm" w="sm"/>
            <a:tailEnd type="none" len="sm" w="sm"/>
          </a:ln>
        </p:spPr>
      </p:sp>
      <p:sp>
        <p:nvSpPr>
          <p:cNvPr name="AutoShape 5" id="5"/>
          <p:cNvSpPr/>
          <p:nvPr/>
        </p:nvSpPr>
        <p:spPr>
          <a:xfrm>
            <a:off x="1028700" y="8378712"/>
            <a:ext cx="17778562" cy="0"/>
          </a:xfrm>
          <a:prstGeom prst="line">
            <a:avLst/>
          </a:prstGeom>
          <a:ln cap="flat" w="19050">
            <a:solidFill>
              <a:srgbClr val="2E2C2B"/>
            </a:solidFill>
            <a:prstDash val="solid"/>
            <a:headEnd type="none" len="sm" w="sm"/>
            <a:tailEnd type="none" len="sm" w="sm"/>
          </a:ln>
        </p:spPr>
      </p:sp>
      <p:sp>
        <p:nvSpPr>
          <p:cNvPr name="Freeform 6" id="6"/>
          <p:cNvSpPr/>
          <p:nvPr/>
        </p:nvSpPr>
        <p:spPr>
          <a:xfrm flipH="false" flipV="true" rot="0">
            <a:off x="16432276" y="54253"/>
            <a:ext cx="827024" cy="827024"/>
          </a:xfrm>
          <a:custGeom>
            <a:avLst/>
            <a:gdLst/>
            <a:ahLst/>
            <a:cxnLst/>
            <a:rect r="r" b="b" t="t" l="l"/>
            <a:pathLst>
              <a:path h="827024" w="827024">
                <a:moveTo>
                  <a:pt x="0" y="827024"/>
                </a:moveTo>
                <a:lnTo>
                  <a:pt x="827024" y="827024"/>
                </a:lnTo>
                <a:lnTo>
                  <a:pt x="827024" y="0"/>
                </a:lnTo>
                <a:lnTo>
                  <a:pt x="0" y="0"/>
                </a:lnTo>
                <a:lnTo>
                  <a:pt x="0" y="827024"/>
                </a:lnTo>
                <a:close/>
              </a:path>
            </a:pathLst>
          </a:custGeom>
          <a:blipFill>
            <a:blip r:embed="rId2">
              <a:extLst>
                <a:ext uri="{96DAC541-7B7A-43D3-8B79-37D633B846F1}">
                  <asvg:svgBlip xmlns:asvg="http://schemas.microsoft.com/office/drawing/2016/SVG/main" r:embed="rId3"/>
                </a:ext>
              </a:extLst>
            </a:blip>
            <a:stretch>
              <a:fillRect l="0" t="0" r="0" b="0"/>
            </a:stretch>
          </a:blipFill>
          <a:ln cap="sq">
            <a:noFill/>
            <a:prstDash val="solid"/>
            <a:miter/>
          </a:ln>
        </p:spPr>
      </p:sp>
      <p:sp>
        <p:nvSpPr>
          <p:cNvPr name="AutoShape 7" id="7"/>
          <p:cNvSpPr/>
          <p:nvPr/>
        </p:nvSpPr>
        <p:spPr>
          <a:xfrm>
            <a:off x="1028700" y="1019175"/>
            <a:ext cx="16230600" cy="0"/>
          </a:xfrm>
          <a:prstGeom prst="line">
            <a:avLst/>
          </a:prstGeom>
          <a:ln cap="flat" w="19050">
            <a:solidFill>
              <a:srgbClr val="2E2C2B"/>
            </a:solidFill>
            <a:prstDash val="solid"/>
            <a:headEnd type="none" len="sm" w="sm"/>
            <a:tailEnd type="none" len="sm" w="sm"/>
          </a:ln>
        </p:spPr>
      </p:sp>
      <p:sp>
        <p:nvSpPr>
          <p:cNvPr name="Freeform 8" id="8"/>
          <p:cNvSpPr/>
          <p:nvPr/>
        </p:nvSpPr>
        <p:spPr>
          <a:xfrm flipH="false" flipV="false" rot="0">
            <a:off x="1028700" y="44062"/>
            <a:ext cx="863108" cy="837215"/>
          </a:xfrm>
          <a:custGeom>
            <a:avLst/>
            <a:gdLst/>
            <a:ahLst/>
            <a:cxnLst/>
            <a:rect r="r" b="b" t="t" l="l"/>
            <a:pathLst>
              <a:path h="837215" w="863108">
                <a:moveTo>
                  <a:pt x="0" y="0"/>
                </a:moveTo>
                <a:lnTo>
                  <a:pt x="863108" y="0"/>
                </a:lnTo>
                <a:lnTo>
                  <a:pt x="863108" y="837215"/>
                </a:lnTo>
                <a:lnTo>
                  <a:pt x="0" y="837215"/>
                </a:lnTo>
                <a:lnTo>
                  <a:pt x="0" y="0"/>
                </a:lnTo>
                <a:close/>
              </a:path>
            </a:pathLst>
          </a:custGeom>
          <a:blipFill>
            <a:blip r:embed="rId4"/>
            <a:stretch>
              <a:fillRect l="0" t="0" r="0" b="0"/>
            </a:stretch>
          </a:blipFill>
        </p:spPr>
      </p:sp>
      <p:sp>
        <p:nvSpPr>
          <p:cNvPr name="TextBox 9" id="9"/>
          <p:cNvSpPr txBox="true"/>
          <p:nvPr/>
        </p:nvSpPr>
        <p:spPr>
          <a:xfrm rot="0">
            <a:off x="2144041" y="276932"/>
            <a:ext cx="7234755" cy="361950"/>
          </a:xfrm>
          <a:prstGeom prst="rect">
            <a:avLst/>
          </a:prstGeom>
        </p:spPr>
        <p:txBody>
          <a:bodyPr anchor="t" rtlCol="false" tIns="0" lIns="0" bIns="0" rIns="0">
            <a:spAutoFit/>
          </a:bodyPr>
          <a:lstStyle/>
          <a:p>
            <a:pPr algn="l" marL="0" indent="0" lvl="0">
              <a:lnSpc>
                <a:spcPts val="2847"/>
              </a:lnSpc>
              <a:spcBef>
                <a:spcPct val="0"/>
              </a:spcBef>
            </a:pPr>
            <a:r>
              <a:rPr lang="en-US" sz="2372">
                <a:solidFill>
                  <a:srgbClr val="2E2C2B"/>
                </a:solidFill>
                <a:latin typeface="Gotham"/>
                <a:ea typeface="Gotham"/>
                <a:cs typeface="Gotham"/>
                <a:sym typeface="Gotham"/>
              </a:rPr>
              <a:t>POLITEK</a:t>
            </a:r>
            <a:r>
              <a:rPr lang="en-US" sz="2372" strike="noStrike" u="none">
                <a:solidFill>
                  <a:srgbClr val="2E2C2B"/>
                </a:solidFill>
                <a:latin typeface="Gotham"/>
                <a:ea typeface="Gotham"/>
                <a:cs typeface="Gotham"/>
                <a:sym typeface="Gotham"/>
              </a:rPr>
              <a:t>NIK NEGERI LHOKSEUMAWE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DAHQ3szo2Pg</dc:identifier>
  <dcterms:modified xsi:type="dcterms:W3CDTF">2011-08-01T06:04:30Z</dcterms:modified>
  <cp:revision>1</cp:revision>
  <dc:title>PPT SIDANG - Kholis</dc:title>
</cp:coreProperties>
</file>