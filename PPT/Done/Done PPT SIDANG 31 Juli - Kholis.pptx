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Gotham" panose="020B0604020202020204" charset="0"/>
      <p:regular r:id="rId18"/>
    </p:embeddedFont>
    <p:embeddedFont>
      <p:font typeface="Gotham Bold" panose="020B0604020202020204" charset="0"/>
      <p:regular r:id="rId19"/>
    </p:embeddedFont>
    <p:embeddedFont>
      <p:font typeface="Gotham Italics" panose="020B0604020202020204" charset="0"/>
      <p:regular r:id="rId20"/>
    </p:embeddedFont>
    <p:embeddedFont>
      <p:font typeface="Hagrid" panose="020B0604020202020204" charset="0"/>
      <p:regular r:id="rId21"/>
    </p:embeddedFont>
    <p:embeddedFont>
      <p:font typeface="Hagrid Ultra-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3203" autoAdjust="0"/>
  </p:normalViewPr>
  <p:slideViewPr>
    <p:cSldViewPr>
      <p:cViewPr varScale="1">
        <p:scale>
          <a:sx n="38" d="100"/>
          <a:sy n="38" d="100"/>
        </p:scale>
        <p:origin x="159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F99AC2-A908-4CD2-B736-02FF01D80994}" type="datetimeFigureOut">
              <a:rPr lang="en-ID" smtClean="0"/>
              <a:t>31/07/2026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26BC92-7B7E-4B1C-A6F9-C81ECB5BA894}" type="slidenum">
              <a:rPr lang="en-ID" smtClean="0"/>
              <a:t>‹#›</a:t>
            </a:fld>
            <a:endParaRPr lang="en-ID"/>
          </a:p>
        </p:txBody>
      </p:sp>
    </p:spTree>
    <p:extLst>
      <p:ext uri="{BB962C8B-B14F-4D97-AF65-F5344CB8AC3E}">
        <p14:creationId xmlns:p14="http://schemas.microsoft.com/office/powerpoint/2010/main" val="1797275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Assalamualaikum</a:t>
            </a:r>
            <a:r>
              <a:rPr lang="en-US" dirty="0"/>
              <a:t> </a:t>
            </a:r>
            <a:r>
              <a:rPr lang="en-US" dirty="0" err="1"/>
              <a:t>wr</a:t>
            </a:r>
            <a:r>
              <a:rPr lang="en-US" dirty="0"/>
              <a:t> </a:t>
            </a:r>
            <a:r>
              <a:rPr lang="en-US" dirty="0" err="1"/>
              <a:t>wb</a:t>
            </a:r>
            <a:r>
              <a:rPr lang="en-US" dirty="0"/>
              <a:t>, </a:t>
            </a:r>
            <a:r>
              <a:rPr lang="en-US" dirty="0" err="1"/>
              <a:t>pertama</a:t>
            </a:r>
            <a:r>
              <a:rPr lang="en-US" dirty="0"/>
              <a:t> yang </a:t>
            </a:r>
            <a:r>
              <a:rPr lang="en-US" dirty="0" err="1"/>
              <a:t>saya</a:t>
            </a:r>
            <a:r>
              <a:rPr lang="en-US" dirty="0"/>
              <a:t> </a:t>
            </a:r>
            <a:r>
              <a:rPr lang="en-US" dirty="0" err="1"/>
              <a:t>hormati</a:t>
            </a:r>
            <a:r>
              <a:rPr lang="en-US" dirty="0"/>
              <a:t>  </a:t>
            </a:r>
            <a:r>
              <a:rPr lang="en-US" dirty="0" err="1"/>
              <a:t>bapak</a:t>
            </a:r>
            <a:r>
              <a:rPr lang="en-US" dirty="0"/>
              <a:t> </a:t>
            </a:r>
            <a:r>
              <a:rPr lang="en-US" dirty="0" err="1"/>
              <a:t>pembimbing</a:t>
            </a:r>
            <a:r>
              <a:rPr lang="en-US" dirty="0"/>
              <a:t> 1 (</a:t>
            </a:r>
            <a:r>
              <a:rPr lang="en-US" dirty="0" err="1"/>
              <a:t>nama+gelar</a:t>
            </a:r>
            <a:r>
              <a:rPr lang="en-US" dirty="0"/>
              <a:t>) yang </a:t>
            </a:r>
            <a:r>
              <a:rPr lang="en-US" dirty="0" err="1"/>
              <a:t>telah</a:t>
            </a:r>
            <a:r>
              <a:rPr lang="en-US" dirty="0"/>
              <a:t> </a:t>
            </a:r>
            <a:r>
              <a:rPr lang="en-US" dirty="0" err="1"/>
              <a:t>hadir</a:t>
            </a:r>
            <a:r>
              <a:rPr lang="en-US" dirty="0"/>
              <a:t> </a:t>
            </a:r>
            <a:r>
              <a:rPr lang="en-US" dirty="0" err="1"/>
              <a:t>dalam</a:t>
            </a:r>
            <a:r>
              <a:rPr lang="en-US" dirty="0"/>
              <a:t> </a:t>
            </a:r>
            <a:r>
              <a:rPr lang="en-US" dirty="0" err="1"/>
              <a:t>sidang</a:t>
            </a:r>
            <a:r>
              <a:rPr lang="en-US" dirty="0"/>
              <a:t> </a:t>
            </a:r>
            <a:r>
              <a:rPr lang="en-US" dirty="0" err="1"/>
              <a:t>saya</a:t>
            </a:r>
            <a:r>
              <a:rPr lang="en-US" dirty="0"/>
              <a:t> pada </a:t>
            </a:r>
            <a:r>
              <a:rPr lang="en-US" dirty="0" err="1"/>
              <a:t>hari</a:t>
            </a:r>
            <a:r>
              <a:rPr lang="en-US" dirty="0"/>
              <a:t> </a:t>
            </a:r>
            <a:r>
              <a:rPr lang="en-US" dirty="0" err="1"/>
              <a:t>ini</a:t>
            </a:r>
            <a:r>
              <a:rPr lang="en-US" dirty="0"/>
              <a:t>, yang </a:t>
            </a:r>
            <a:r>
              <a:rPr lang="en-US" dirty="0" err="1"/>
              <a:t>saya</a:t>
            </a:r>
            <a:r>
              <a:rPr lang="en-US" dirty="0"/>
              <a:t> </a:t>
            </a:r>
            <a:r>
              <a:rPr lang="en-US" dirty="0" err="1"/>
              <a:t>hormati</a:t>
            </a:r>
            <a:r>
              <a:rPr lang="en-US" dirty="0"/>
              <a:t> </a:t>
            </a:r>
            <a:r>
              <a:rPr lang="en-US" dirty="0" err="1"/>
              <a:t>bapak</a:t>
            </a:r>
            <a:r>
              <a:rPr lang="en-US" dirty="0"/>
              <a:t> </a:t>
            </a:r>
            <a:r>
              <a:rPr lang="en-US" dirty="0" err="1"/>
              <a:t>pembimbing</a:t>
            </a:r>
            <a:r>
              <a:rPr lang="en-US" dirty="0"/>
              <a:t> 2 (nama + </a:t>
            </a:r>
            <a:r>
              <a:rPr lang="en-US" dirty="0" err="1"/>
              <a:t>gelar</a:t>
            </a:r>
            <a:r>
              <a:rPr lang="en-US" dirty="0"/>
              <a:t>) yang </a:t>
            </a:r>
            <a:r>
              <a:rPr lang="en-US" dirty="0" err="1"/>
              <a:t>tidak</a:t>
            </a:r>
            <a:r>
              <a:rPr lang="en-US" dirty="0"/>
              <a:t> </a:t>
            </a:r>
            <a:r>
              <a:rPr lang="en-US" dirty="0" err="1"/>
              <a:t>dapat</a:t>
            </a:r>
            <a:r>
              <a:rPr lang="en-US" dirty="0"/>
              <a:t> </a:t>
            </a:r>
            <a:r>
              <a:rPr lang="en-US" dirty="0" err="1"/>
              <a:t>berhadir</a:t>
            </a:r>
            <a:r>
              <a:rPr lang="en-US" dirty="0"/>
              <a:t> pada </a:t>
            </a:r>
            <a:r>
              <a:rPr lang="en-US" dirty="0" err="1"/>
              <a:t>hari</a:t>
            </a:r>
            <a:r>
              <a:rPr lang="en-US" dirty="0"/>
              <a:t> </a:t>
            </a:r>
            <a:r>
              <a:rPr lang="en-US" dirty="0" err="1"/>
              <a:t>ini</a:t>
            </a:r>
            <a:r>
              <a:rPr lang="en-US" dirty="0"/>
              <a:t> , yang </a:t>
            </a:r>
            <a:r>
              <a:rPr lang="en-US" dirty="0" err="1"/>
              <a:t>saya</a:t>
            </a:r>
            <a:r>
              <a:rPr lang="en-US" dirty="0"/>
              <a:t> </a:t>
            </a:r>
            <a:r>
              <a:rPr lang="en-US" dirty="0" err="1"/>
              <a:t>hormati</a:t>
            </a:r>
            <a:r>
              <a:rPr lang="en-US" dirty="0"/>
              <a:t> juga </a:t>
            </a:r>
            <a:r>
              <a:rPr lang="en-US" dirty="0" err="1"/>
              <a:t>penguji</a:t>
            </a:r>
            <a:r>
              <a:rPr lang="en-US" dirty="0"/>
              <a:t> 1 </a:t>
            </a:r>
            <a:r>
              <a:rPr lang="en-US" dirty="0" err="1"/>
              <a:t>saya</a:t>
            </a:r>
            <a:r>
              <a:rPr lang="en-US" dirty="0"/>
              <a:t> </a:t>
            </a:r>
            <a:r>
              <a:rPr lang="en-US" dirty="0" err="1"/>
              <a:t>bapak</a:t>
            </a:r>
            <a:r>
              <a:rPr lang="en-US" dirty="0"/>
              <a:t> (nama + </a:t>
            </a:r>
            <a:r>
              <a:rPr lang="en-US" dirty="0" err="1"/>
              <a:t>gelar</a:t>
            </a:r>
            <a:r>
              <a:rPr lang="en-US" dirty="0"/>
              <a:t>) yang </a:t>
            </a:r>
            <a:r>
              <a:rPr lang="en-US" dirty="0" err="1"/>
              <a:t>telah</a:t>
            </a:r>
            <a:r>
              <a:rPr lang="en-US" dirty="0"/>
              <a:t> </a:t>
            </a:r>
            <a:r>
              <a:rPr lang="en-US" dirty="0" err="1"/>
              <a:t>hadir</a:t>
            </a:r>
            <a:r>
              <a:rPr lang="en-US" dirty="0"/>
              <a:t> pada </a:t>
            </a:r>
            <a:r>
              <a:rPr lang="en-US" dirty="0" err="1"/>
              <a:t>hari</a:t>
            </a:r>
            <a:r>
              <a:rPr lang="en-US" dirty="0"/>
              <a:t> </a:t>
            </a:r>
            <a:r>
              <a:rPr lang="en-US" dirty="0" err="1"/>
              <a:t>ini</a:t>
            </a:r>
            <a:r>
              <a:rPr lang="en-US" dirty="0"/>
              <a:t>, yang </a:t>
            </a:r>
            <a:r>
              <a:rPr lang="en-US" dirty="0" err="1"/>
              <a:t>saya</a:t>
            </a:r>
            <a:r>
              <a:rPr lang="en-US" dirty="0"/>
              <a:t> </a:t>
            </a:r>
            <a:r>
              <a:rPr lang="en-US" dirty="0" err="1"/>
              <a:t>hormati</a:t>
            </a:r>
            <a:r>
              <a:rPr lang="en-US" dirty="0"/>
              <a:t> juga </a:t>
            </a:r>
            <a:r>
              <a:rPr lang="en-US" dirty="0" err="1"/>
              <a:t>penguji</a:t>
            </a:r>
            <a:r>
              <a:rPr lang="en-US" dirty="0"/>
              <a:t> 2 (nama +</a:t>
            </a:r>
            <a:r>
              <a:rPr lang="en-US" dirty="0" err="1"/>
              <a:t>gelar</a:t>
            </a:r>
            <a:r>
              <a:rPr lang="en-US" dirty="0"/>
              <a:t>) yang </a:t>
            </a:r>
            <a:r>
              <a:rPr lang="en-US" dirty="0" err="1"/>
              <a:t>dapat</a:t>
            </a:r>
            <a:r>
              <a:rPr lang="en-US" dirty="0"/>
              <a:t> </a:t>
            </a:r>
            <a:r>
              <a:rPr lang="en-US" dirty="0" err="1"/>
              <a:t>hadir</a:t>
            </a:r>
            <a:r>
              <a:rPr lang="en-US" dirty="0"/>
              <a:t> pada </a:t>
            </a:r>
            <a:r>
              <a:rPr lang="en-US" dirty="0" err="1"/>
              <a:t>hari</a:t>
            </a:r>
            <a:r>
              <a:rPr lang="en-US" dirty="0"/>
              <a:t> </a:t>
            </a:r>
            <a:r>
              <a:rPr lang="en-US" dirty="0" err="1"/>
              <a:t>ini</a:t>
            </a:r>
            <a:r>
              <a:rPr lang="en-US" dirty="0"/>
              <a:t>, dan yang </a:t>
            </a:r>
            <a:r>
              <a:rPr lang="en-US" dirty="0" err="1"/>
              <a:t>terakhir</a:t>
            </a:r>
            <a:r>
              <a:rPr lang="en-US" dirty="0"/>
              <a:t> yang </a:t>
            </a:r>
            <a:r>
              <a:rPr lang="en-US" dirty="0" err="1"/>
              <a:t>saya</a:t>
            </a:r>
            <a:r>
              <a:rPr lang="en-US" dirty="0"/>
              <a:t> </a:t>
            </a:r>
            <a:r>
              <a:rPr lang="en-US" dirty="0" err="1"/>
              <a:t>hormati</a:t>
            </a:r>
            <a:r>
              <a:rPr lang="en-US" dirty="0"/>
              <a:t> </a:t>
            </a:r>
            <a:r>
              <a:rPr lang="en-US" dirty="0" err="1"/>
              <a:t>penguji</a:t>
            </a:r>
            <a:r>
              <a:rPr lang="en-US" dirty="0"/>
              <a:t> 3 (nama + </a:t>
            </a:r>
            <a:r>
              <a:rPr lang="en-US" dirty="0" err="1"/>
              <a:t>gelar</a:t>
            </a:r>
            <a:r>
              <a:rPr lang="en-US" dirty="0"/>
              <a:t>) yang </a:t>
            </a:r>
            <a:r>
              <a:rPr lang="en-US" dirty="0" err="1"/>
              <a:t>telah</a:t>
            </a:r>
            <a:r>
              <a:rPr lang="en-US" dirty="0"/>
              <a:t> </a:t>
            </a:r>
            <a:r>
              <a:rPr lang="en-US" dirty="0" err="1"/>
              <a:t>berhadir</a:t>
            </a:r>
            <a:r>
              <a:rPr lang="en-US" dirty="0"/>
              <a:t> pada </a:t>
            </a:r>
            <a:r>
              <a:rPr lang="en-US" dirty="0" err="1"/>
              <a:t>hari</a:t>
            </a:r>
            <a:r>
              <a:rPr lang="en-US" dirty="0"/>
              <a:t> </a:t>
            </a:r>
            <a:r>
              <a:rPr lang="en-US" dirty="0" err="1"/>
              <a:t>ini</a:t>
            </a:r>
            <a:r>
              <a:rPr lang="en-US" dirty="0"/>
              <a:t>.</a:t>
            </a:r>
            <a:br>
              <a:rPr lang="en-US" dirty="0"/>
            </a:br>
            <a:r>
              <a:rPr lang="en-US" dirty="0"/>
              <a:t>Baik </a:t>
            </a:r>
            <a:r>
              <a:rPr lang="en-US" dirty="0" err="1"/>
              <a:t>izinkan</a:t>
            </a:r>
            <a:r>
              <a:rPr lang="en-US" dirty="0"/>
              <a:t> </a:t>
            </a:r>
            <a:r>
              <a:rPr lang="en-US" dirty="0" err="1"/>
              <a:t>saya</a:t>
            </a:r>
            <a:r>
              <a:rPr lang="en-US" dirty="0"/>
              <a:t> </a:t>
            </a:r>
            <a:r>
              <a:rPr lang="en-US" dirty="0" err="1"/>
              <a:t>mempresentasikan</a:t>
            </a:r>
            <a:r>
              <a:rPr lang="en-US" dirty="0"/>
              <a:t> </a:t>
            </a:r>
            <a:r>
              <a:rPr lang="en-US" dirty="0" err="1"/>
              <a:t>hasil</a:t>
            </a:r>
            <a:r>
              <a:rPr lang="en-US" dirty="0"/>
              <a:t> </a:t>
            </a:r>
            <a:r>
              <a:rPr lang="en-US" dirty="0" err="1"/>
              <a:t>skripsi</a:t>
            </a:r>
            <a:r>
              <a:rPr lang="en-US" dirty="0"/>
              <a:t> </a:t>
            </a:r>
            <a:r>
              <a:rPr lang="en-US" dirty="0" err="1"/>
              <a:t>saya</a:t>
            </a:r>
            <a:r>
              <a:rPr lang="en-US" dirty="0"/>
              <a:t> yang </a:t>
            </a:r>
            <a:r>
              <a:rPr lang="en-US" dirty="0" err="1"/>
              <a:t>berjudul</a:t>
            </a:r>
            <a:r>
              <a:rPr lang="en-US" dirty="0"/>
              <a:t> …</a:t>
            </a:r>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1</a:t>
            </a:fld>
            <a:endParaRPr lang="en-ID"/>
          </a:p>
        </p:txBody>
      </p:sp>
    </p:spTree>
    <p:extLst>
      <p:ext uri="{BB962C8B-B14F-4D97-AF65-F5344CB8AC3E}">
        <p14:creationId xmlns:p14="http://schemas.microsoft.com/office/powerpoint/2010/main" val="2939061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a:t>Masuk </a:t>
            </a:r>
            <a:r>
              <a:rPr lang="en-ID" dirty="0" err="1"/>
              <a:t>ke</a:t>
            </a:r>
            <a:r>
              <a:rPr lang="en-ID" dirty="0"/>
              <a:t> </a:t>
            </a:r>
            <a:r>
              <a:rPr lang="en-ID" dirty="0" err="1"/>
              <a:t>latar</a:t>
            </a:r>
            <a:r>
              <a:rPr lang="en-ID" dirty="0"/>
              <a:t> </a:t>
            </a:r>
            <a:r>
              <a:rPr lang="en-ID" dirty="0" err="1"/>
              <a:t>belakang</a:t>
            </a:r>
            <a:r>
              <a:rPr lang="en-ID" dirty="0"/>
              <a:t>. </a:t>
            </a:r>
            <a:r>
              <a:rPr lang="en-ID" dirty="0" err="1"/>
              <a:t>Masalah</a:t>
            </a:r>
            <a:r>
              <a:rPr lang="en-ID" dirty="0"/>
              <a:t> </a:t>
            </a:r>
            <a:r>
              <a:rPr lang="en-ID" dirty="0" err="1"/>
              <a:t>utama</a:t>
            </a:r>
            <a:r>
              <a:rPr lang="en-ID" dirty="0"/>
              <a:t> yang </a:t>
            </a:r>
            <a:r>
              <a:rPr lang="en-ID" dirty="0" err="1"/>
              <a:t>saya</a:t>
            </a:r>
            <a:r>
              <a:rPr lang="en-ID" dirty="0"/>
              <a:t> </a:t>
            </a:r>
            <a:r>
              <a:rPr lang="en-ID" dirty="0" err="1"/>
              <a:t>angkat</a:t>
            </a:r>
            <a:r>
              <a:rPr lang="en-ID" dirty="0"/>
              <a:t> </a:t>
            </a:r>
            <a:r>
              <a:rPr lang="en-ID" dirty="0" err="1"/>
              <a:t>ada</a:t>
            </a:r>
            <a:r>
              <a:rPr lang="en-ID" dirty="0"/>
              <a:t> </a:t>
            </a:r>
            <a:r>
              <a:rPr lang="en-ID" dirty="0" err="1"/>
              <a:t>tiga</a:t>
            </a:r>
            <a:r>
              <a:rPr lang="en-ID" dirty="0"/>
              <a:t> lapis.</a:t>
            </a:r>
          </a:p>
          <a:p>
            <a:pPr rtl="0"/>
            <a:endParaRPr lang="en-ID" dirty="0"/>
          </a:p>
          <a:p>
            <a:pPr rtl="0"/>
            <a:r>
              <a:rPr lang="en-ID" dirty="0" err="1"/>
              <a:t>Pertama</a:t>
            </a:r>
            <a:r>
              <a:rPr lang="en-ID" dirty="0"/>
              <a:t>, </a:t>
            </a:r>
            <a:r>
              <a:rPr lang="en-ID" dirty="0" err="1"/>
              <a:t>aplikasi</a:t>
            </a:r>
            <a:r>
              <a:rPr lang="en-ID" dirty="0"/>
              <a:t> POS pada </a:t>
            </a:r>
            <a:r>
              <a:rPr lang="en-ID" dirty="0" err="1"/>
              <a:t>usaha</a:t>
            </a:r>
            <a:r>
              <a:rPr lang="en-ID" dirty="0"/>
              <a:t> </a:t>
            </a:r>
            <a:r>
              <a:rPr lang="en-ID" dirty="0" err="1"/>
              <a:t>kecil</a:t>
            </a:r>
            <a:r>
              <a:rPr lang="en-ID" dirty="0"/>
              <a:t> </a:t>
            </a:r>
            <a:r>
              <a:rPr lang="en-ID" dirty="0" err="1"/>
              <a:t>seperti</a:t>
            </a:r>
            <a:r>
              <a:rPr lang="en-ID" dirty="0"/>
              <a:t> </a:t>
            </a:r>
            <a:r>
              <a:rPr lang="en-ID" dirty="0" err="1"/>
              <a:t>kantin</a:t>
            </a:r>
            <a:r>
              <a:rPr lang="en-ID" dirty="0"/>
              <a:t> </a:t>
            </a:r>
            <a:r>
              <a:rPr lang="en-ID" dirty="0" err="1"/>
              <a:t>institusi</a:t>
            </a:r>
            <a:r>
              <a:rPr lang="en-ID" dirty="0"/>
              <a:t> </a:t>
            </a:r>
            <a:r>
              <a:rPr lang="en-ID" dirty="0" err="1"/>
              <a:t>umumnya</a:t>
            </a:r>
            <a:r>
              <a:rPr lang="en-ID" dirty="0"/>
              <a:t> </a:t>
            </a:r>
            <a:r>
              <a:rPr lang="en-ID" dirty="0" err="1"/>
              <a:t>hanya</a:t>
            </a:r>
            <a:r>
              <a:rPr lang="en-ID" dirty="0"/>
              <a:t> </a:t>
            </a:r>
            <a:r>
              <a:rPr lang="en-ID" dirty="0" err="1"/>
              <a:t>berfungsi</a:t>
            </a:r>
            <a:r>
              <a:rPr lang="en-ID" dirty="0"/>
              <a:t> </a:t>
            </a:r>
            <a:r>
              <a:rPr lang="en-ID" dirty="0" err="1"/>
              <a:t>mencatat</a:t>
            </a:r>
            <a:r>
              <a:rPr lang="en-ID" dirty="0"/>
              <a:t> </a:t>
            </a:r>
            <a:r>
              <a:rPr lang="en-ID" dirty="0" err="1"/>
              <a:t>transaksi</a:t>
            </a:r>
            <a:r>
              <a:rPr lang="en-ID" dirty="0"/>
              <a:t>. Data </a:t>
            </a:r>
            <a:r>
              <a:rPr lang="en-ID" dirty="0" err="1"/>
              <a:t>harian</a:t>
            </a:r>
            <a:r>
              <a:rPr lang="en-ID" dirty="0"/>
              <a:t> yang </a:t>
            </a:r>
            <a:r>
              <a:rPr lang="en-ID" dirty="0" err="1"/>
              <a:t>terkumpul</a:t>
            </a:r>
            <a:r>
              <a:rPr lang="en-ID" dirty="0"/>
              <a:t> </a:t>
            </a:r>
            <a:r>
              <a:rPr lang="en-ID" dirty="0" err="1"/>
              <a:t>berhenti</a:t>
            </a:r>
            <a:r>
              <a:rPr lang="en-ID" dirty="0"/>
              <a:t> </a:t>
            </a:r>
            <a:r>
              <a:rPr lang="en-ID" dirty="0" err="1"/>
              <a:t>sebagai</a:t>
            </a:r>
            <a:r>
              <a:rPr lang="en-ID" dirty="0"/>
              <a:t> </a:t>
            </a:r>
            <a:r>
              <a:rPr lang="en-ID" dirty="0" err="1"/>
              <a:t>arsip</a:t>
            </a:r>
            <a:r>
              <a:rPr lang="en-ID" dirty="0"/>
              <a:t> </a:t>
            </a:r>
            <a:r>
              <a:rPr lang="en-ID" dirty="0" err="1"/>
              <a:t>pelaporan</a:t>
            </a:r>
            <a:r>
              <a:rPr lang="en-ID" dirty="0"/>
              <a:t>, </a:t>
            </a:r>
            <a:r>
              <a:rPr lang="en-ID" dirty="0" err="1"/>
              <a:t>belum</a:t>
            </a:r>
            <a:r>
              <a:rPr lang="en-ID" dirty="0"/>
              <a:t> </a:t>
            </a:r>
            <a:r>
              <a:rPr lang="en-ID" dirty="0" err="1"/>
              <a:t>menjadi</a:t>
            </a:r>
            <a:r>
              <a:rPr lang="en-ID" dirty="0"/>
              <a:t> basis </a:t>
            </a:r>
            <a:r>
              <a:rPr lang="en-ID" dirty="0" err="1"/>
              <a:t>pengambilan</a:t>
            </a:r>
            <a:r>
              <a:rPr lang="en-ID" dirty="0"/>
              <a:t> </a:t>
            </a:r>
            <a:r>
              <a:rPr lang="en-ID" dirty="0" err="1"/>
              <a:t>keputusan</a:t>
            </a:r>
            <a:r>
              <a:rPr lang="en-ID" dirty="0"/>
              <a:t>. </a:t>
            </a:r>
            <a:r>
              <a:rPr lang="en-ID" dirty="0" err="1"/>
              <a:t>Akibatnya</a:t>
            </a:r>
            <a:r>
              <a:rPr lang="en-ID" dirty="0"/>
              <a:t> </a:t>
            </a:r>
            <a:r>
              <a:rPr lang="en-ID" dirty="0" err="1"/>
              <a:t>penentuan</a:t>
            </a:r>
            <a:r>
              <a:rPr lang="en-ID" dirty="0"/>
              <a:t> </a:t>
            </a:r>
            <a:r>
              <a:rPr lang="en-ID" dirty="0" err="1"/>
              <a:t>jumlah</a:t>
            </a:r>
            <a:r>
              <a:rPr lang="en-ID" dirty="0"/>
              <a:t> </a:t>
            </a:r>
            <a:r>
              <a:rPr lang="en-ID" dirty="0" err="1"/>
              <a:t>produksi</a:t>
            </a:r>
            <a:r>
              <a:rPr lang="en-ID" dirty="0"/>
              <a:t>, </a:t>
            </a:r>
            <a:r>
              <a:rPr lang="en-ID" dirty="0" err="1"/>
              <a:t>pembelian</a:t>
            </a:r>
            <a:r>
              <a:rPr lang="en-ID" dirty="0"/>
              <a:t> </a:t>
            </a:r>
            <a:r>
              <a:rPr lang="en-ID" dirty="0" err="1"/>
              <a:t>bahan</a:t>
            </a:r>
            <a:r>
              <a:rPr lang="en-ID" dirty="0"/>
              <a:t> </a:t>
            </a:r>
            <a:r>
              <a:rPr lang="en-ID" dirty="0" err="1"/>
              <a:t>baku</a:t>
            </a:r>
            <a:r>
              <a:rPr lang="en-ID" dirty="0"/>
              <a:t>, dan </a:t>
            </a:r>
            <a:r>
              <a:rPr lang="en-ID" dirty="0" err="1"/>
              <a:t>penjadwalan</a:t>
            </a:r>
            <a:r>
              <a:rPr lang="en-ID" dirty="0"/>
              <a:t> </a:t>
            </a:r>
            <a:r>
              <a:rPr lang="en-ID" dirty="0" err="1"/>
              <a:t>tenaga</a:t>
            </a:r>
            <a:r>
              <a:rPr lang="en-ID" dirty="0"/>
              <a:t> </a:t>
            </a:r>
            <a:r>
              <a:rPr lang="en-ID" dirty="0" err="1"/>
              <a:t>kerja</a:t>
            </a:r>
            <a:r>
              <a:rPr lang="en-ID" dirty="0"/>
              <a:t> </a:t>
            </a:r>
            <a:r>
              <a:rPr lang="en-ID" dirty="0" err="1"/>
              <a:t>masih</a:t>
            </a:r>
            <a:r>
              <a:rPr lang="en-ID" dirty="0"/>
              <a:t> </a:t>
            </a:r>
            <a:r>
              <a:rPr lang="en-ID" dirty="0" err="1"/>
              <a:t>bertumpu</a:t>
            </a:r>
            <a:r>
              <a:rPr lang="en-ID" dirty="0"/>
              <a:t> pada </a:t>
            </a:r>
            <a:r>
              <a:rPr lang="en-ID" dirty="0" err="1"/>
              <a:t>intuisi</a:t>
            </a:r>
            <a:r>
              <a:rPr lang="en-ID" dirty="0"/>
              <a:t> </a:t>
            </a:r>
            <a:r>
              <a:rPr lang="en-ID" dirty="0" err="1"/>
              <a:t>pengelola</a:t>
            </a:r>
            <a:r>
              <a:rPr lang="en-ID" dirty="0"/>
              <a:t>.</a:t>
            </a:r>
          </a:p>
          <a:p>
            <a:pPr rtl="0"/>
            <a:endParaRPr lang="en-ID" dirty="0"/>
          </a:p>
          <a:p>
            <a:pPr rtl="0"/>
            <a:r>
              <a:rPr lang="en-ID" dirty="0" err="1"/>
              <a:t>Kedua</a:t>
            </a:r>
            <a:r>
              <a:rPr lang="en-ID" dirty="0"/>
              <a:t>, </a:t>
            </a:r>
            <a:r>
              <a:rPr lang="en-ID" dirty="0" err="1"/>
              <a:t>dari</a:t>
            </a:r>
            <a:r>
              <a:rPr lang="en-ID" dirty="0"/>
              <a:t> </a:t>
            </a:r>
            <a:r>
              <a:rPr lang="en-ID" dirty="0" err="1"/>
              <a:t>sisi</a:t>
            </a:r>
            <a:r>
              <a:rPr lang="en-ID" dirty="0"/>
              <a:t> </a:t>
            </a:r>
            <a:r>
              <a:rPr lang="en-ID" dirty="0" err="1"/>
              <a:t>literatur</a:t>
            </a:r>
            <a:r>
              <a:rPr lang="en-ID" dirty="0"/>
              <a:t>, </a:t>
            </a:r>
            <a:r>
              <a:rPr lang="en-ID" dirty="0" err="1"/>
              <a:t>penelitian</a:t>
            </a:r>
            <a:r>
              <a:rPr lang="en-ID" dirty="0"/>
              <a:t> LSTM yang </a:t>
            </a:r>
            <a:r>
              <a:rPr lang="en-ID" dirty="0" err="1"/>
              <a:t>melaporkan</a:t>
            </a:r>
            <a:r>
              <a:rPr lang="en-ID" dirty="0"/>
              <a:t> </a:t>
            </a:r>
            <a:r>
              <a:rPr lang="en-ID" dirty="0" err="1"/>
              <a:t>akurasi</a:t>
            </a:r>
            <a:r>
              <a:rPr lang="en-ID" dirty="0"/>
              <a:t> </a:t>
            </a:r>
            <a:r>
              <a:rPr lang="en-ID" dirty="0" err="1"/>
              <a:t>tinggi</a:t>
            </a:r>
            <a:r>
              <a:rPr lang="en-ID" dirty="0"/>
              <a:t> </a:t>
            </a:r>
            <a:r>
              <a:rPr lang="en-ID" dirty="0" err="1"/>
              <a:t>umumnya</a:t>
            </a:r>
            <a:r>
              <a:rPr lang="en-ID" dirty="0"/>
              <a:t> </a:t>
            </a:r>
            <a:r>
              <a:rPr lang="en-ID" dirty="0" err="1"/>
              <a:t>bertumpu</a:t>
            </a:r>
            <a:r>
              <a:rPr lang="en-ID" dirty="0"/>
              <a:t> pada data </a:t>
            </a:r>
            <a:r>
              <a:rPr lang="en-ID" dirty="0" err="1"/>
              <a:t>bertahun-tahun</a:t>
            </a:r>
            <a:r>
              <a:rPr lang="en-ID" dirty="0"/>
              <a:t> </a:t>
            </a:r>
            <a:r>
              <a:rPr lang="en-ID" dirty="0" err="1"/>
              <a:t>atau</a:t>
            </a:r>
            <a:r>
              <a:rPr lang="en-ID" dirty="0"/>
              <a:t> </a:t>
            </a:r>
            <a:r>
              <a:rPr lang="en-ID" dirty="0" err="1"/>
              <a:t>variabel</a:t>
            </a:r>
            <a:r>
              <a:rPr lang="en-ID" dirty="0"/>
              <a:t> </a:t>
            </a:r>
            <a:r>
              <a:rPr lang="en-ID" dirty="0" err="1"/>
              <a:t>eksogen</a:t>
            </a:r>
            <a:r>
              <a:rPr lang="en-ID" dirty="0"/>
              <a:t> </a:t>
            </a:r>
            <a:r>
              <a:rPr lang="en-ID" dirty="0" err="1"/>
              <a:t>seperti</a:t>
            </a:r>
            <a:r>
              <a:rPr lang="en-ID" dirty="0"/>
              <a:t> </a:t>
            </a:r>
            <a:r>
              <a:rPr lang="en-ID" dirty="0" err="1"/>
              <a:t>cuaca</a:t>
            </a:r>
            <a:r>
              <a:rPr lang="en-ID" dirty="0"/>
              <a:t> dan </a:t>
            </a:r>
            <a:r>
              <a:rPr lang="en-ID" dirty="0" err="1"/>
              <a:t>promosi</a:t>
            </a:r>
            <a:r>
              <a:rPr lang="en-ID" dirty="0"/>
              <a:t> yang </a:t>
            </a:r>
            <a:r>
              <a:rPr lang="en-ID" dirty="0" err="1"/>
              <a:t>tidak</a:t>
            </a:r>
            <a:r>
              <a:rPr lang="en-ID" dirty="0"/>
              <a:t> </a:t>
            </a:r>
            <a:r>
              <a:rPr lang="en-ID" dirty="0" err="1"/>
              <a:t>selalu</a:t>
            </a:r>
            <a:r>
              <a:rPr lang="en-ID" dirty="0"/>
              <a:t> </a:t>
            </a:r>
            <a:r>
              <a:rPr lang="en-ID" dirty="0" err="1"/>
              <a:t>tersedia</a:t>
            </a:r>
            <a:r>
              <a:rPr lang="en-ID" dirty="0"/>
              <a:t> di </a:t>
            </a:r>
            <a:r>
              <a:rPr lang="en-ID" dirty="0" err="1"/>
              <a:t>lapangan</a:t>
            </a:r>
            <a:r>
              <a:rPr lang="en-ID" dirty="0"/>
              <a:t>. Sebagian </a:t>
            </a:r>
            <a:r>
              <a:rPr lang="en-ID" dirty="0" err="1"/>
              <a:t>besar</a:t>
            </a:r>
            <a:r>
              <a:rPr lang="en-ID" dirty="0"/>
              <a:t> juga </a:t>
            </a:r>
            <a:r>
              <a:rPr lang="en-ID" dirty="0" err="1"/>
              <a:t>tidak</a:t>
            </a:r>
            <a:r>
              <a:rPr lang="en-ID" dirty="0"/>
              <a:t> </a:t>
            </a:r>
            <a:r>
              <a:rPr lang="en-ID" dirty="0" err="1"/>
              <a:t>pernah</a:t>
            </a:r>
            <a:r>
              <a:rPr lang="en-ID" dirty="0"/>
              <a:t> </a:t>
            </a:r>
            <a:r>
              <a:rPr lang="en-ID" dirty="0" err="1"/>
              <a:t>diuji</a:t>
            </a:r>
            <a:r>
              <a:rPr lang="en-ID" dirty="0"/>
              <a:t> </a:t>
            </a:r>
            <a:r>
              <a:rPr lang="en-ID" dirty="0" err="1"/>
              <a:t>terhadap</a:t>
            </a:r>
            <a:r>
              <a:rPr lang="en-ID" dirty="0"/>
              <a:t> baseline </a:t>
            </a:r>
            <a:r>
              <a:rPr lang="en-ID" dirty="0" err="1"/>
              <a:t>sederhana</a:t>
            </a:r>
            <a:r>
              <a:rPr lang="en-ID" dirty="0"/>
              <a:t>, dan </a:t>
            </a:r>
            <a:r>
              <a:rPr lang="en-ID" dirty="0" err="1"/>
              <a:t>jarang</a:t>
            </a:r>
            <a:r>
              <a:rPr lang="en-ID" dirty="0"/>
              <a:t> </a:t>
            </a:r>
            <a:r>
              <a:rPr lang="en-ID" dirty="0" err="1"/>
              <a:t>benar-benar</a:t>
            </a:r>
            <a:r>
              <a:rPr lang="en-ID" dirty="0"/>
              <a:t> </a:t>
            </a:r>
            <a:r>
              <a:rPr lang="en-ID" dirty="0" err="1"/>
              <a:t>menyatu</a:t>
            </a:r>
            <a:r>
              <a:rPr lang="en-ID" dirty="0"/>
              <a:t> </a:t>
            </a:r>
            <a:r>
              <a:rPr lang="en-ID" dirty="0" err="1"/>
              <a:t>ke</a:t>
            </a:r>
            <a:r>
              <a:rPr lang="en-ID" dirty="0"/>
              <a:t> </a:t>
            </a:r>
            <a:r>
              <a:rPr lang="en-ID" dirty="0" err="1"/>
              <a:t>aplikasi</a:t>
            </a:r>
            <a:r>
              <a:rPr lang="en-ID" dirty="0"/>
              <a:t> yang </a:t>
            </a:r>
            <a:r>
              <a:rPr lang="en-ID" dirty="0" err="1"/>
              <a:t>dipakai</a:t>
            </a:r>
            <a:r>
              <a:rPr lang="en-ID" dirty="0"/>
              <a:t> </a:t>
            </a:r>
            <a:r>
              <a:rPr lang="en-ID" dirty="0" err="1"/>
              <a:t>pengguna</a:t>
            </a:r>
            <a:r>
              <a:rPr lang="en-ID" dirty="0"/>
              <a:t>.</a:t>
            </a:r>
          </a:p>
          <a:p>
            <a:pPr rtl="0"/>
            <a:endParaRPr lang="en-ID" dirty="0"/>
          </a:p>
          <a:p>
            <a:pPr rtl="0"/>
            <a:r>
              <a:rPr lang="en-ID" dirty="0" err="1"/>
              <a:t>Dampaknya</a:t>
            </a:r>
            <a:r>
              <a:rPr lang="en-ID" dirty="0"/>
              <a:t>, </a:t>
            </a:r>
            <a:r>
              <a:rPr lang="en-ID" dirty="0" err="1"/>
              <a:t>ketidakpastian</a:t>
            </a:r>
            <a:r>
              <a:rPr lang="en-ID" dirty="0"/>
              <a:t> </a:t>
            </a:r>
            <a:r>
              <a:rPr lang="en-ID" dirty="0" err="1"/>
              <a:t>estimasi</a:t>
            </a:r>
            <a:r>
              <a:rPr lang="en-ID" dirty="0"/>
              <a:t> </a:t>
            </a:r>
            <a:r>
              <a:rPr lang="en-ID" dirty="0" err="1"/>
              <a:t>penjualan</a:t>
            </a:r>
            <a:r>
              <a:rPr lang="en-ID" dirty="0"/>
              <a:t> </a:t>
            </a:r>
            <a:r>
              <a:rPr lang="en-ID" dirty="0" err="1"/>
              <a:t>memicu</a:t>
            </a:r>
            <a:r>
              <a:rPr lang="en-ID" dirty="0"/>
              <a:t> </a:t>
            </a:r>
            <a:r>
              <a:rPr lang="en-ID" dirty="0" err="1"/>
              <a:t>ketidakseimbangan</a:t>
            </a:r>
            <a:r>
              <a:rPr lang="en-ID" dirty="0"/>
              <a:t> </a:t>
            </a:r>
            <a:r>
              <a:rPr lang="en-ID" dirty="0" err="1"/>
              <a:t>stok</a:t>
            </a:r>
            <a:r>
              <a:rPr lang="en-ID" dirty="0"/>
              <a:t> — </a:t>
            </a:r>
            <a:r>
              <a:rPr lang="en-ID" dirty="0" err="1"/>
              <a:t>produksi</a:t>
            </a:r>
            <a:r>
              <a:rPr lang="en-ID" dirty="0"/>
              <a:t> </a:t>
            </a:r>
            <a:r>
              <a:rPr lang="en-ID" dirty="0" err="1"/>
              <a:t>terlalu</a:t>
            </a:r>
            <a:r>
              <a:rPr lang="en-ID" dirty="0"/>
              <a:t> </a:t>
            </a:r>
            <a:r>
              <a:rPr lang="en-ID" dirty="0" err="1"/>
              <a:t>sedikit</a:t>
            </a:r>
            <a:r>
              <a:rPr lang="en-ID" dirty="0"/>
              <a:t> </a:t>
            </a:r>
            <a:r>
              <a:rPr lang="en-ID" dirty="0" err="1"/>
              <a:t>menimbulkan</a:t>
            </a:r>
            <a:r>
              <a:rPr lang="en-ID" dirty="0"/>
              <a:t> stockout, </a:t>
            </a:r>
            <a:r>
              <a:rPr lang="en-ID" dirty="0" err="1"/>
              <a:t>terlalu</a:t>
            </a:r>
            <a:r>
              <a:rPr lang="en-ID" dirty="0"/>
              <a:t> </a:t>
            </a:r>
            <a:r>
              <a:rPr lang="en-ID" dirty="0" err="1"/>
              <a:t>banyak</a:t>
            </a:r>
            <a:r>
              <a:rPr lang="en-ID" dirty="0"/>
              <a:t> </a:t>
            </a:r>
            <a:r>
              <a:rPr lang="en-ID" dirty="0" err="1"/>
              <a:t>menimbulkan</a:t>
            </a:r>
            <a:r>
              <a:rPr lang="en-ID" dirty="0"/>
              <a:t> overstock dan </a:t>
            </a:r>
            <a:r>
              <a:rPr lang="en-ID" dirty="0" err="1"/>
              <a:t>kerugian</a:t>
            </a:r>
            <a:r>
              <a:rPr lang="en-ID" dirty="0"/>
              <a:t> </a:t>
            </a:r>
            <a:r>
              <a:rPr lang="en-ID" dirty="0" err="1"/>
              <a:t>bahan</a:t>
            </a:r>
            <a:r>
              <a:rPr lang="en-ID" dirty="0"/>
              <a:t> </a:t>
            </a:r>
            <a:r>
              <a:rPr lang="en-ID" dirty="0" err="1"/>
              <a:t>baku</a:t>
            </a:r>
            <a:r>
              <a:rPr lang="en-ID" dirty="0"/>
              <a:t>. </a:t>
            </a:r>
            <a:r>
              <a:rPr lang="en-ID" dirty="0" err="1"/>
              <a:t>Sementara</a:t>
            </a:r>
            <a:r>
              <a:rPr lang="en-ID" dirty="0"/>
              <a:t> </a:t>
            </a:r>
            <a:r>
              <a:rPr lang="en-ID" dirty="0" err="1"/>
              <a:t>klaim</a:t>
            </a:r>
            <a:r>
              <a:rPr lang="en-ID" dirty="0"/>
              <a:t> </a:t>
            </a:r>
            <a:r>
              <a:rPr lang="en-ID" dirty="0" err="1"/>
              <a:t>keunggulan</a:t>
            </a:r>
            <a:r>
              <a:rPr lang="en-ID" dirty="0"/>
              <a:t> deep learning </a:t>
            </a:r>
            <a:r>
              <a:rPr lang="en-ID" dirty="0" err="1"/>
              <a:t>tanpa</a:t>
            </a:r>
            <a:r>
              <a:rPr lang="en-ID" dirty="0"/>
              <a:t> </a:t>
            </a:r>
            <a:r>
              <a:rPr lang="en-ID" dirty="0" err="1"/>
              <a:t>kontrol</a:t>
            </a:r>
            <a:r>
              <a:rPr lang="en-ID" dirty="0"/>
              <a:t> baseline </a:t>
            </a:r>
            <a:r>
              <a:rPr lang="en-ID" dirty="0" err="1"/>
              <a:t>berisiko</a:t>
            </a:r>
            <a:r>
              <a:rPr lang="en-ID" dirty="0"/>
              <a:t> </a:t>
            </a:r>
            <a:r>
              <a:rPr lang="en-ID" dirty="0" err="1"/>
              <a:t>menyesatkan</a:t>
            </a:r>
            <a:r>
              <a:rPr lang="en-ID" dirty="0"/>
              <a:t>.</a:t>
            </a:r>
          </a:p>
          <a:p>
            <a:pPr rtl="0"/>
            <a:endParaRPr lang="en-ID" dirty="0"/>
          </a:p>
          <a:p>
            <a:pPr rtl="0"/>
            <a:r>
              <a:rPr lang="en-ID" dirty="0"/>
              <a:t>Karena </a:t>
            </a:r>
            <a:r>
              <a:rPr lang="en-ID" dirty="0" err="1"/>
              <a:t>itu</a:t>
            </a:r>
            <a:r>
              <a:rPr lang="en-ID" dirty="0"/>
              <a:t> </a:t>
            </a:r>
            <a:r>
              <a:rPr lang="en-ID" dirty="0" err="1"/>
              <a:t>solusi</a:t>
            </a:r>
            <a:r>
              <a:rPr lang="en-ID" dirty="0"/>
              <a:t> yang </a:t>
            </a:r>
            <a:r>
              <a:rPr lang="en-ID" dirty="0" err="1"/>
              <a:t>saya</a:t>
            </a:r>
            <a:r>
              <a:rPr lang="en-ID" dirty="0"/>
              <a:t> </a:t>
            </a:r>
            <a:r>
              <a:rPr lang="en-ID" dirty="0" err="1"/>
              <a:t>tawarkan</a:t>
            </a:r>
            <a:r>
              <a:rPr lang="en-ID" dirty="0"/>
              <a:t> </a:t>
            </a:r>
            <a:r>
              <a:rPr lang="en-ID" dirty="0" err="1"/>
              <a:t>ada</a:t>
            </a:r>
            <a:r>
              <a:rPr lang="en-ID" dirty="0"/>
              <a:t> </a:t>
            </a:r>
            <a:r>
              <a:rPr lang="en-ID" dirty="0" err="1"/>
              <a:t>tiga</a:t>
            </a:r>
            <a:r>
              <a:rPr lang="en-ID" dirty="0"/>
              <a:t>: </a:t>
            </a:r>
            <a:r>
              <a:rPr lang="en-ID" dirty="0" err="1"/>
              <a:t>membangun</a:t>
            </a:r>
            <a:r>
              <a:rPr lang="en-ID" dirty="0"/>
              <a:t> </a:t>
            </a:r>
            <a:r>
              <a:rPr lang="en-ID" dirty="0" err="1"/>
              <a:t>aplikasi</a:t>
            </a:r>
            <a:r>
              <a:rPr lang="en-ID" dirty="0"/>
              <a:t> POS mobile yang </a:t>
            </a:r>
            <a:r>
              <a:rPr lang="en-ID" dirty="0" err="1"/>
              <a:t>mengintegrasikan</a:t>
            </a:r>
            <a:r>
              <a:rPr lang="en-ID" dirty="0"/>
              <a:t> </a:t>
            </a:r>
            <a:r>
              <a:rPr lang="en-ID" dirty="0" err="1"/>
              <a:t>prediksi</a:t>
            </a:r>
            <a:r>
              <a:rPr lang="en-ID" dirty="0"/>
              <a:t> </a:t>
            </a:r>
            <a:r>
              <a:rPr lang="en-ID" dirty="0" err="1"/>
              <a:t>ke</a:t>
            </a:r>
            <a:r>
              <a:rPr lang="en-ID" dirty="0"/>
              <a:t> </a:t>
            </a:r>
            <a:r>
              <a:rPr lang="en-ID" dirty="0" err="1"/>
              <a:t>dalam</a:t>
            </a:r>
            <a:r>
              <a:rPr lang="en-ID" dirty="0"/>
              <a:t> </a:t>
            </a:r>
            <a:r>
              <a:rPr lang="en-ID" dirty="0" err="1"/>
              <a:t>alur</a:t>
            </a:r>
            <a:r>
              <a:rPr lang="en-ID" dirty="0"/>
              <a:t> </a:t>
            </a:r>
            <a:r>
              <a:rPr lang="en-ID" dirty="0" err="1"/>
              <a:t>kerja</a:t>
            </a:r>
            <a:r>
              <a:rPr lang="en-ID" dirty="0"/>
              <a:t> </a:t>
            </a:r>
            <a:r>
              <a:rPr lang="en-ID" dirty="0" err="1"/>
              <a:t>transaksi</a:t>
            </a:r>
            <a:r>
              <a:rPr lang="en-ID" dirty="0"/>
              <a:t>; </a:t>
            </a:r>
            <a:r>
              <a:rPr lang="en-ID" dirty="0" err="1"/>
              <a:t>mengevaluasi</a:t>
            </a:r>
            <a:r>
              <a:rPr lang="en-ID" dirty="0"/>
              <a:t> </a:t>
            </a:r>
            <a:r>
              <a:rPr lang="en-ID" dirty="0" err="1"/>
              <a:t>secara</a:t>
            </a:r>
            <a:r>
              <a:rPr lang="en-ID" dirty="0"/>
              <a:t> </a:t>
            </a:r>
            <a:r>
              <a:rPr lang="en-ID" dirty="0" err="1"/>
              <a:t>empiris</a:t>
            </a:r>
            <a:r>
              <a:rPr lang="en-ID" dirty="0"/>
              <a:t> </a:t>
            </a:r>
            <a:r>
              <a:rPr lang="en-ID" dirty="0" err="1"/>
              <a:t>pengaruh</a:t>
            </a:r>
            <a:r>
              <a:rPr lang="en-ID" dirty="0"/>
              <a:t> </a:t>
            </a:r>
            <a:r>
              <a:rPr lang="en-ID" dirty="0" err="1"/>
              <a:t>augmentasi</a:t>
            </a:r>
            <a:r>
              <a:rPr lang="en-ID" dirty="0"/>
              <a:t> data </a:t>
            </a:r>
            <a:r>
              <a:rPr lang="en-ID" dirty="0" err="1"/>
              <a:t>sintetis</a:t>
            </a:r>
            <a:r>
              <a:rPr lang="en-ID" dirty="0"/>
              <a:t> </a:t>
            </a:r>
            <a:r>
              <a:rPr lang="en-ID" dirty="0" err="1"/>
              <a:t>TimeGAN</a:t>
            </a:r>
            <a:r>
              <a:rPr lang="en-ID" dirty="0"/>
              <a:t> pada dataset </a:t>
            </a:r>
            <a:r>
              <a:rPr lang="en-ID" dirty="0" err="1"/>
              <a:t>berskala</a:t>
            </a:r>
            <a:r>
              <a:rPr lang="en-ID" dirty="0"/>
              <a:t> </a:t>
            </a:r>
            <a:r>
              <a:rPr lang="en-ID" dirty="0" err="1"/>
              <a:t>kecil</a:t>
            </a:r>
            <a:r>
              <a:rPr lang="en-ID" dirty="0"/>
              <a:t>; dan </a:t>
            </a:r>
            <a:r>
              <a:rPr lang="en-ID" dirty="0" err="1"/>
              <a:t>membandingkan</a:t>
            </a:r>
            <a:r>
              <a:rPr lang="en-ID" dirty="0"/>
              <a:t> model </a:t>
            </a:r>
            <a:r>
              <a:rPr lang="en-ID" dirty="0" err="1"/>
              <a:t>terhadap</a:t>
            </a:r>
            <a:r>
              <a:rPr lang="en-ID" dirty="0"/>
              <a:t> baseline seasonal-naive </a:t>
            </a:r>
            <a:r>
              <a:rPr lang="en-ID" dirty="0" err="1"/>
              <a:t>sebagai</a:t>
            </a:r>
            <a:r>
              <a:rPr lang="en-ID" dirty="0"/>
              <a:t> </a:t>
            </a:r>
            <a:r>
              <a:rPr lang="en-ID" dirty="0" err="1"/>
              <a:t>kontrol</a:t>
            </a:r>
            <a:r>
              <a:rPr lang="en-ID" dirty="0"/>
              <a:t> </a:t>
            </a:r>
            <a:r>
              <a:rPr lang="en-ID" dirty="0" err="1"/>
              <a:t>metodologis</a:t>
            </a:r>
            <a:r>
              <a:rPr lang="en-ID" dirty="0"/>
              <a:t>, </a:t>
            </a:r>
            <a:r>
              <a:rPr lang="en-ID" dirty="0" err="1"/>
              <a:t>dengan</a:t>
            </a:r>
            <a:r>
              <a:rPr lang="en-ID" dirty="0"/>
              <a:t> </a:t>
            </a:r>
            <a:r>
              <a:rPr lang="en-ID" dirty="0" err="1"/>
              <a:t>studi</a:t>
            </a:r>
            <a:r>
              <a:rPr lang="en-ID" dirty="0"/>
              <a:t> </a:t>
            </a:r>
            <a:r>
              <a:rPr lang="en-ID" dirty="0" err="1"/>
              <a:t>kasus</a:t>
            </a:r>
            <a:r>
              <a:rPr lang="en-ID" dirty="0"/>
              <a:t> </a:t>
            </a:r>
            <a:r>
              <a:rPr lang="en-ID" dirty="0" err="1"/>
              <a:t>EatsTEDI</a:t>
            </a:r>
            <a:r>
              <a:rPr lang="en-ID" dirty="0"/>
              <a:t>, DTEDI Universitas Gadjah Mada."</a:t>
            </a:r>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2</a:t>
            </a:fld>
            <a:endParaRPr lang="en-ID"/>
          </a:p>
        </p:txBody>
      </p:sp>
    </p:spTree>
    <p:extLst>
      <p:ext uri="{BB962C8B-B14F-4D97-AF65-F5344CB8AC3E}">
        <p14:creationId xmlns:p14="http://schemas.microsoft.com/office/powerpoint/2010/main" val="882970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a:t>Dari </a:t>
            </a:r>
            <a:r>
              <a:rPr lang="en-ID" dirty="0" err="1"/>
              <a:t>latar</a:t>
            </a:r>
            <a:r>
              <a:rPr lang="en-ID" dirty="0"/>
              <a:t> </a:t>
            </a:r>
            <a:r>
              <a:rPr lang="en-ID" dirty="0" err="1"/>
              <a:t>belakang</a:t>
            </a:r>
            <a:r>
              <a:rPr lang="en-ID" dirty="0"/>
              <a:t> </a:t>
            </a:r>
            <a:r>
              <a:rPr lang="en-ID" dirty="0" err="1"/>
              <a:t>tersebut</a:t>
            </a:r>
            <a:r>
              <a:rPr lang="en-ID" dirty="0"/>
              <a:t>, </a:t>
            </a:r>
            <a:r>
              <a:rPr lang="en-ID" dirty="0" err="1"/>
              <a:t>saya</a:t>
            </a:r>
            <a:r>
              <a:rPr lang="en-ID" dirty="0"/>
              <a:t> </a:t>
            </a:r>
            <a:r>
              <a:rPr lang="en-ID" dirty="0" err="1"/>
              <a:t>merumuskan</a:t>
            </a:r>
            <a:r>
              <a:rPr lang="en-ID" dirty="0"/>
              <a:t> </a:t>
            </a:r>
            <a:r>
              <a:rPr lang="en-ID" dirty="0" err="1"/>
              <a:t>tiga</a:t>
            </a:r>
            <a:r>
              <a:rPr lang="en-ID" dirty="0"/>
              <a:t> </a:t>
            </a:r>
            <a:r>
              <a:rPr lang="en-ID" dirty="0" err="1"/>
              <a:t>permasalahan</a:t>
            </a:r>
            <a:r>
              <a:rPr lang="en-ID" dirty="0"/>
              <a:t>.</a:t>
            </a:r>
          </a:p>
          <a:p>
            <a:pPr rtl="0"/>
            <a:endParaRPr lang="en-ID" dirty="0"/>
          </a:p>
          <a:p>
            <a:pPr rtl="0"/>
            <a:r>
              <a:rPr lang="en-ID" dirty="0" err="1"/>
              <a:t>Pertama</a:t>
            </a:r>
            <a:r>
              <a:rPr lang="en-ID" dirty="0"/>
              <a:t>, </a:t>
            </a:r>
            <a:r>
              <a:rPr lang="en-ID" dirty="0" err="1"/>
              <a:t>bagaimana</a:t>
            </a:r>
            <a:r>
              <a:rPr lang="en-ID" dirty="0"/>
              <a:t> </a:t>
            </a:r>
            <a:r>
              <a:rPr lang="en-ID" dirty="0" err="1"/>
              <a:t>merancang</a:t>
            </a:r>
            <a:r>
              <a:rPr lang="en-ID" dirty="0"/>
              <a:t> dan </a:t>
            </a:r>
            <a:r>
              <a:rPr lang="en-ID" dirty="0" err="1"/>
              <a:t>membangun</a:t>
            </a:r>
            <a:r>
              <a:rPr lang="en-ID" dirty="0"/>
              <a:t> </a:t>
            </a:r>
            <a:r>
              <a:rPr lang="en-ID" dirty="0" err="1"/>
              <a:t>aplikasi</a:t>
            </a:r>
            <a:r>
              <a:rPr lang="en-ID" dirty="0"/>
              <a:t> Point of Sale yang </a:t>
            </a:r>
            <a:r>
              <a:rPr lang="en-ID" dirty="0" err="1"/>
              <a:t>mengintegrasikan</a:t>
            </a:r>
            <a:r>
              <a:rPr lang="en-ID" dirty="0"/>
              <a:t> </a:t>
            </a:r>
            <a:r>
              <a:rPr lang="en-ID" dirty="0" err="1"/>
              <a:t>fitur</a:t>
            </a:r>
            <a:r>
              <a:rPr lang="en-ID" dirty="0"/>
              <a:t> </a:t>
            </a:r>
            <a:r>
              <a:rPr lang="en-ID" dirty="0" err="1"/>
              <a:t>prediksi</a:t>
            </a:r>
            <a:r>
              <a:rPr lang="en-ID" dirty="0"/>
              <a:t> </a:t>
            </a:r>
            <a:r>
              <a:rPr lang="en-ID" dirty="0" err="1"/>
              <a:t>penjualan</a:t>
            </a:r>
            <a:r>
              <a:rPr lang="en-ID" dirty="0"/>
              <a:t> </a:t>
            </a:r>
            <a:r>
              <a:rPr lang="en-ID" dirty="0" err="1"/>
              <a:t>harian</a:t>
            </a:r>
            <a:r>
              <a:rPr lang="en-ID" dirty="0"/>
              <a:t> </a:t>
            </a:r>
            <a:r>
              <a:rPr lang="en-ID" dirty="0" err="1"/>
              <a:t>ke</a:t>
            </a:r>
            <a:r>
              <a:rPr lang="en-ID" dirty="0"/>
              <a:t> </a:t>
            </a:r>
            <a:r>
              <a:rPr lang="en-ID" dirty="0" err="1"/>
              <a:t>dalam</a:t>
            </a:r>
            <a:r>
              <a:rPr lang="en-ID" dirty="0"/>
              <a:t> </a:t>
            </a:r>
            <a:r>
              <a:rPr lang="en-ID" dirty="0" err="1"/>
              <a:t>alur</a:t>
            </a:r>
            <a:r>
              <a:rPr lang="en-ID" dirty="0"/>
              <a:t> </a:t>
            </a:r>
            <a:r>
              <a:rPr lang="en-ID" dirty="0" err="1"/>
              <a:t>kerja</a:t>
            </a:r>
            <a:r>
              <a:rPr lang="en-ID" dirty="0"/>
              <a:t> </a:t>
            </a:r>
            <a:r>
              <a:rPr lang="en-ID" dirty="0" err="1"/>
              <a:t>transaksi</a:t>
            </a:r>
            <a:r>
              <a:rPr lang="en-ID" dirty="0"/>
              <a:t>, </a:t>
            </a:r>
            <a:r>
              <a:rPr lang="en-ID" dirty="0" err="1"/>
              <a:t>sehingga</a:t>
            </a:r>
            <a:r>
              <a:rPr lang="en-ID" dirty="0"/>
              <a:t> </a:t>
            </a:r>
            <a:r>
              <a:rPr lang="en-ID" dirty="0" err="1"/>
              <a:t>hasil</a:t>
            </a:r>
            <a:r>
              <a:rPr lang="en-ID" dirty="0"/>
              <a:t> </a:t>
            </a:r>
            <a:r>
              <a:rPr lang="en-ID" dirty="0" err="1"/>
              <a:t>peramalan</a:t>
            </a:r>
            <a:r>
              <a:rPr lang="en-ID" dirty="0"/>
              <a:t> </a:t>
            </a:r>
            <a:r>
              <a:rPr lang="en-ID" dirty="0" err="1"/>
              <a:t>dapat</a:t>
            </a:r>
            <a:r>
              <a:rPr lang="en-ID" dirty="0"/>
              <a:t> </a:t>
            </a:r>
            <a:r>
              <a:rPr lang="en-ID" dirty="0" err="1"/>
              <a:t>langsung</a:t>
            </a:r>
            <a:r>
              <a:rPr lang="en-ID" dirty="0"/>
              <a:t> </a:t>
            </a:r>
            <a:r>
              <a:rPr lang="en-ID" dirty="0" err="1"/>
              <a:t>dimanfaatkan</a:t>
            </a:r>
            <a:r>
              <a:rPr lang="en-ID" dirty="0"/>
              <a:t> </a:t>
            </a:r>
            <a:r>
              <a:rPr lang="en-ID" dirty="0" err="1"/>
              <a:t>pengelola</a:t>
            </a:r>
            <a:r>
              <a:rPr lang="en-ID" dirty="0"/>
              <a:t> </a:t>
            </a:r>
            <a:r>
              <a:rPr lang="en-ID" dirty="0" err="1"/>
              <a:t>usaha</a:t>
            </a:r>
            <a:r>
              <a:rPr lang="en-ID" dirty="0"/>
              <a:t>.</a:t>
            </a:r>
          </a:p>
          <a:p>
            <a:pPr rtl="0"/>
            <a:r>
              <a:rPr lang="en-ID" dirty="0" err="1"/>
              <a:t>Kedua</a:t>
            </a:r>
            <a:r>
              <a:rPr lang="en-ID" dirty="0"/>
              <a:t>, </a:t>
            </a:r>
            <a:r>
              <a:rPr lang="en-ID" dirty="0" err="1"/>
              <a:t>bagaimana</a:t>
            </a:r>
            <a:r>
              <a:rPr lang="en-ID" dirty="0"/>
              <a:t> </a:t>
            </a:r>
            <a:r>
              <a:rPr lang="en-ID" dirty="0" err="1"/>
              <a:t>menerapkan</a:t>
            </a:r>
            <a:r>
              <a:rPr lang="en-ID" dirty="0"/>
              <a:t> model Long Short-Term Memory </a:t>
            </a:r>
            <a:r>
              <a:rPr lang="en-ID" dirty="0" err="1"/>
              <a:t>untuk</a:t>
            </a:r>
            <a:r>
              <a:rPr lang="en-ID" dirty="0"/>
              <a:t> </a:t>
            </a:r>
            <a:r>
              <a:rPr lang="en-ID" dirty="0" err="1"/>
              <a:t>memprediksi</a:t>
            </a:r>
            <a:r>
              <a:rPr lang="en-ID" dirty="0"/>
              <a:t> </a:t>
            </a:r>
            <a:r>
              <a:rPr lang="en-ID" dirty="0" err="1"/>
              <a:t>penjualan</a:t>
            </a:r>
            <a:r>
              <a:rPr lang="en-ID" dirty="0"/>
              <a:t> </a:t>
            </a:r>
            <a:r>
              <a:rPr lang="en-ID" dirty="0" err="1"/>
              <a:t>harian</a:t>
            </a:r>
            <a:r>
              <a:rPr lang="en-ID" dirty="0"/>
              <a:t> pada dataset </a:t>
            </a:r>
            <a:r>
              <a:rPr lang="en-ID" dirty="0" err="1"/>
              <a:t>EatsTEDI</a:t>
            </a:r>
            <a:r>
              <a:rPr lang="en-ID" dirty="0"/>
              <a:t> yang </a:t>
            </a:r>
            <a:r>
              <a:rPr lang="en-ID" dirty="0" err="1"/>
              <a:t>hanya</a:t>
            </a:r>
            <a:r>
              <a:rPr lang="en-ID" dirty="0"/>
              <a:t> </a:t>
            </a:r>
            <a:r>
              <a:rPr lang="en-ID" dirty="0" err="1"/>
              <a:t>berjumlah</a:t>
            </a:r>
            <a:r>
              <a:rPr lang="en-ID" dirty="0"/>
              <a:t> 313 </a:t>
            </a:r>
            <a:r>
              <a:rPr lang="en-ID" dirty="0" err="1"/>
              <a:t>titik</a:t>
            </a:r>
            <a:r>
              <a:rPr lang="en-ID" dirty="0"/>
              <a:t> </a:t>
            </a:r>
            <a:r>
              <a:rPr lang="en-ID" dirty="0" err="1"/>
              <a:t>pengamatan</a:t>
            </a:r>
            <a:r>
              <a:rPr lang="en-ID" dirty="0"/>
              <a:t>, </a:t>
            </a:r>
            <a:r>
              <a:rPr lang="en-ID" dirty="0" err="1"/>
              <a:t>serta</a:t>
            </a:r>
            <a:r>
              <a:rPr lang="en-ID" dirty="0"/>
              <a:t> </a:t>
            </a:r>
            <a:r>
              <a:rPr lang="en-ID" dirty="0" err="1"/>
              <a:t>bagaimana</a:t>
            </a:r>
            <a:r>
              <a:rPr lang="en-ID" dirty="0"/>
              <a:t> </a:t>
            </a:r>
            <a:r>
              <a:rPr lang="en-ID" dirty="0" err="1"/>
              <a:t>pengaruh</a:t>
            </a:r>
            <a:r>
              <a:rPr lang="en-ID" dirty="0"/>
              <a:t> </a:t>
            </a:r>
            <a:r>
              <a:rPr lang="en-ID" dirty="0" err="1"/>
              <a:t>augmentasi</a:t>
            </a:r>
            <a:r>
              <a:rPr lang="en-ID" dirty="0"/>
              <a:t> </a:t>
            </a:r>
            <a:r>
              <a:rPr lang="en-ID" dirty="0" err="1"/>
              <a:t>TimeGAN</a:t>
            </a:r>
            <a:r>
              <a:rPr lang="en-ID" dirty="0"/>
              <a:t> </a:t>
            </a:r>
            <a:r>
              <a:rPr lang="en-ID" dirty="0" err="1"/>
              <a:t>terhadap</a:t>
            </a:r>
            <a:r>
              <a:rPr lang="en-ID" dirty="0"/>
              <a:t> </a:t>
            </a:r>
            <a:r>
              <a:rPr lang="en-ID" dirty="0" err="1"/>
              <a:t>akurasi</a:t>
            </a:r>
            <a:r>
              <a:rPr lang="en-ID" dirty="0"/>
              <a:t> model </a:t>
            </a:r>
            <a:r>
              <a:rPr lang="en-ID" dirty="0" err="1"/>
              <a:t>tersebut</a:t>
            </a:r>
            <a:r>
              <a:rPr lang="en-ID" dirty="0"/>
              <a:t>.</a:t>
            </a:r>
          </a:p>
          <a:p>
            <a:pPr rtl="0"/>
            <a:r>
              <a:rPr lang="en-ID" dirty="0"/>
              <a:t>Dan </a:t>
            </a:r>
            <a:r>
              <a:rPr lang="en-ID" dirty="0" err="1"/>
              <a:t>ketiga</a:t>
            </a:r>
            <a:r>
              <a:rPr lang="en-ID" dirty="0"/>
              <a:t>, </a:t>
            </a:r>
            <a:r>
              <a:rPr lang="en-ID" dirty="0" err="1"/>
              <a:t>bagaimana</a:t>
            </a:r>
            <a:r>
              <a:rPr lang="en-ID" dirty="0"/>
              <a:t> </a:t>
            </a:r>
            <a:r>
              <a:rPr lang="en-ID" dirty="0" err="1"/>
              <a:t>tingkat</a:t>
            </a:r>
            <a:r>
              <a:rPr lang="en-ID" dirty="0"/>
              <a:t> </a:t>
            </a:r>
            <a:r>
              <a:rPr lang="en-ID" dirty="0" err="1"/>
              <a:t>akurasi</a:t>
            </a:r>
            <a:r>
              <a:rPr lang="en-ID" dirty="0"/>
              <a:t> LSTM </a:t>
            </a:r>
            <a:r>
              <a:rPr lang="en-ID" dirty="0" err="1"/>
              <a:t>bila</a:t>
            </a:r>
            <a:r>
              <a:rPr lang="en-ID" dirty="0"/>
              <a:t> </a:t>
            </a:r>
            <a:r>
              <a:rPr lang="en-ID" dirty="0" err="1"/>
              <a:t>dibandingkan</a:t>
            </a:r>
            <a:r>
              <a:rPr lang="en-ID" dirty="0"/>
              <a:t> </a:t>
            </a:r>
            <a:r>
              <a:rPr lang="en-ID" dirty="0" err="1"/>
              <a:t>terhadap</a:t>
            </a:r>
            <a:r>
              <a:rPr lang="en-ID" dirty="0"/>
              <a:t> baseline seasonal-naive pada </a:t>
            </a:r>
            <a:r>
              <a:rPr lang="en-ID" dirty="0" err="1"/>
              <a:t>beberapa</a:t>
            </a:r>
            <a:r>
              <a:rPr lang="en-ID" dirty="0"/>
              <a:t> horizon </a:t>
            </a:r>
            <a:r>
              <a:rPr lang="en-ID" dirty="0" err="1"/>
              <a:t>peramalan</a:t>
            </a:r>
            <a:endParaRPr lang="en-ID" dirty="0"/>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3</a:t>
            </a:fld>
            <a:endParaRPr lang="en-ID"/>
          </a:p>
        </p:txBody>
      </p:sp>
    </p:spTree>
    <p:extLst>
      <p:ext uri="{BB962C8B-B14F-4D97-AF65-F5344CB8AC3E}">
        <p14:creationId xmlns:p14="http://schemas.microsoft.com/office/powerpoint/2010/main" val="2641889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a:t>Tujuan </a:t>
            </a:r>
            <a:r>
              <a:rPr lang="en-ID" dirty="0" err="1"/>
              <a:t>penelitian</a:t>
            </a:r>
            <a:r>
              <a:rPr lang="en-ID" dirty="0"/>
              <a:t> </a:t>
            </a:r>
            <a:r>
              <a:rPr lang="en-ID" dirty="0" err="1"/>
              <a:t>ini</a:t>
            </a:r>
            <a:r>
              <a:rPr lang="en-ID" dirty="0"/>
              <a:t> </a:t>
            </a:r>
            <a:r>
              <a:rPr lang="en-ID" dirty="0" err="1"/>
              <a:t>menjawab</a:t>
            </a:r>
            <a:r>
              <a:rPr lang="en-ID" dirty="0"/>
              <a:t> </a:t>
            </a:r>
            <a:r>
              <a:rPr lang="en-ID" dirty="0" err="1"/>
              <a:t>langsung</a:t>
            </a:r>
            <a:r>
              <a:rPr lang="en-ID" dirty="0"/>
              <a:t> </a:t>
            </a:r>
            <a:r>
              <a:rPr lang="en-ID" dirty="0" err="1"/>
              <a:t>ketiga</a:t>
            </a:r>
            <a:r>
              <a:rPr lang="en-ID" dirty="0"/>
              <a:t> </a:t>
            </a:r>
            <a:r>
              <a:rPr lang="en-ID" dirty="0" err="1"/>
              <a:t>rumusan</a:t>
            </a:r>
            <a:r>
              <a:rPr lang="en-ID" dirty="0"/>
              <a:t> </a:t>
            </a:r>
            <a:r>
              <a:rPr lang="en-ID" dirty="0" err="1"/>
              <a:t>tadi</a:t>
            </a:r>
            <a:r>
              <a:rPr lang="en-ID" dirty="0"/>
              <a:t>.</a:t>
            </a:r>
          </a:p>
          <a:p>
            <a:pPr rtl="0"/>
            <a:endParaRPr lang="en-ID" dirty="0"/>
          </a:p>
          <a:p>
            <a:pPr rtl="0"/>
            <a:r>
              <a:rPr lang="en-ID" dirty="0" err="1"/>
              <a:t>Pertama</a:t>
            </a:r>
            <a:r>
              <a:rPr lang="en-ID" dirty="0"/>
              <a:t>, </a:t>
            </a:r>
            <a:r>
              <a:rPr lang="en-ID" dirty="0" err="1"/>
              <a:t>merancang</a:t>
            </a:r>
            <a:r>
              <a:rPr lang="en-ID" dirty="0"/>
              <a:t> dan </a:t>
            </a:r>
            <a:r>
              <a:rPr lang="en-ID" dirty="0" err="1"/>
              <a:t>membangun</a:t>
            </a:r>
            <a:r>
              <a:rPr lang="en-ID" dirty="0"/>
              <a:t> </a:t>
            </a:r>
            <a:r>
              <a:rPr lang="en-ID" dirty="0" err="1"/>
              <a:t>aplikasi</a:t>
            </a:r>
            <a:r>
              <a:rPr lang="en-ID" dirty="0"/>
              <a:t> POS </a:t>
            </a:r>
            <a:r>
              <a:rPr lang="en-ID" dirty="0" err="1"/>
              <a:t>berbasis</a:t>
            </a:r>
            <a:r>
              <a:rPr lang="en-ID" dirty="0"/>
              <a:t> mobile yang </a:t>
            </a:r>
            <a:r>
              <a:rPr lang="en-ID" dirty="0" err="1"/>
              <a:t>mengintegrasikan</a:t>
            </a:r>
            <a:r>
              <a:rPr lang="en-ID" dirty="0"/>
              <a:t> </a:t>
            </a:r>
            <a:r>
              <a:rPr lang="en-ID" dirty="0" err="1"/>
              <a:t>fitur</a:t>
            </a:r>
            <a:r>
              <a:rPr lang="en-ID" dirty="0"/>
              <a:t> </a:t>
            </a:r>
            <a:r>
              <a:rPr lang="en-ID" dirty="0" err="1"/>
              <a:t>prediksi</a:t>
            </a:r>
            <a:r>
              <a:rPr lang="en-ID" dirty="0"/>
              <a:t>, </a:t>
            </a:r>
            <a:r>
              <a:rPr lang="en-ID" dirty="0" err="1"/>
              <a:t>sekaligus</a:t>
            </a:r>
            <a:r>
              <a:rPr lang="en-ID" dirty="0"/>
              <a:t> </a:t>
            </a:r>
            <a:r>
              <a:rPr lang="en-ID" dirty="0" err="1"/>
              <a:t>menguji</a:t>
            </a:r>
            <a:r>
              <a:rPr lang="en-ID" dirty="0"/>
              <a:t> </a:t>
            </a:r>
            <a:r>
              <a:rPr lang="en-ID" dirty="0" err="1"/>
              <a:t>fungsionalitasnya</a:t>
            </a:r>
            <a:r>
              <a:rPr lang="en-ID" dirty="0"/>
              <a:t> </a:t>
            </a:r>
            <a:r>
              <a:rPr lang="en-ID" dirty="0" err="1"/>
              <a:t>melalui</a:t>
            </a:r>
            <a:r>
              <a:rPr lang="en-ID" dirty="0"/>
              <a:t> </a:t>
            </a:r>
            <a:r>
              <a:rPr lang="en-ID" dirty="0" err="1"/>
              <a:t>pengujian</a:t>
            </a:r>
            <a:r>
              <a:rPr lang="en-ID" dirty="0"/>
              <a:t> </a:t>
            </a:r>
            <a:r>
              <a:rPr lang="en-ID" dirty="0" err="1"/>
              <a:t>sistem</a:t>
            </a:r>
            <a:r>
              <a:rPr lang="en-ID" dirty="0"/>
              <a:t>.</a:t>
            </a:r>
          </a:p>
          <a:p>
            <a:pPr rtl="0"/>
            <a:r>
              <a:rPr lang="en-ID" dirty="0" err="1"/>
              <a:t>Kedua</a:t>
            </a:r>
            <a:r>
              <a:rPr lang="en-ID" dirty="0"/>
              <a:t>, </a:t>
            </a:r>
            <a:r>
              <a:rPr lang="en-ID" dirty="0" err="1"/>
              <a:t>menerapkan</a:t>
            </a:r>
            <a:r>
              <a:rPr lang="en-ID" dirty="0"/>
              <a:t> model LSTM </a:t>
            </a:r>
            <a:r>
              <a:rPr lang="en-ID" dirty="0" err="1"/>
              <a:t>untuk</a:t>
            </a:r>
            <a:r>
              <a:rPr lang="en-ID" dirty="0"/>
              <a:t> </a:t>
            </a:r>
            <a:r>
              <a:rPr lang="en-ID" dirty="0" err="1"/>
              <a:t>prediksi</a:t>
            </a:r>
            <a:r>
              <a:rPr lang="en-ID" dirty="0"/>
              <a:t> </a:t>
            </a:r>
            <a:r>
              <a:rPr lang="en-ID" dirty="0" err="1"/>
              <a:t>penjualan</a:t>
            </a:r>
            <a:r>
              <a:rPr lang="en-ID" dirty="0"/>
              <a:t> </a:t>
            </a:r>
            <a:r>
              <a:rPr lang="en-ID" dirty="0" err="1"/>
              <a:t>harian</a:t>
            </a:r>
            <a:r>
              <a:rPr lang="en-ID" dirty="0"/>
              <a:t> pada dataset </a:t>
            </a:r>
            <a:r>
              <a:rPr lang="en-ID" dirty="0" err="1"/>
              <a:t>EatsTEDI</a:t>
            </a:r>
            <a:r>
              <a:rPr lang="en-ID" dirty="0"/>
              <a:t> dan </a:t>
            </a:r>
            <a:r>
              <a:rPr lang="en-ID" dirty="0" err="1"/>
              <a:t>menganalisis</a:t>
            </a:r>
            <a:r>
              <a:rPr lang="en-ID" dirty="0"/>
              <a:t> </a:t>
            </a:r>
            <a:r>
              <a:rPr lang="en-ID" dirty="0" err="1"/>
              <a:t>pengaruh</a:t>
            </a:r>
            <a:r>
              <a:rPr lang="en-ID" dirty="0"/>
              <a:t> </a:t>
            </a:r>
            <a:r>
              <a:rPr lang="en-ID" dirty="0" err="1"/>
              <a:t>augmentasi</a:t>
            </a:r>
            <a:r>
              <a:rPr lang="en-ID" dirty="0"/>
              <a:t> </a:t>
            </a:r>
            <a:r>
              <a:rPr lang="en-ID" dirty="0" err="1"/>
              <a:t>TimeGAN</a:t>
            </a:r>
            <a:r>
              <a:rPr lang="en-ID" dirty="0"/>
              <a:t> pada </a:t>
            </a:r>
            <a:r>
              <a:rPr lang="en-ID" dirty="0" err="1"/>
              <a:t>kondisi</a:t>
            </a:r>
            <a:r>
              <a:rPr lang="en-ID" dirty="0"/>
              <a:t> data </a:t>
            </a:r>
            <a:r>
              <a:rPr lang="en-ID" dirty="0" err="1"/>
              <a:t>pelatihan</a:t>
            </a:r>
            <a:r>
              <a:rPr lang="en-ID" dirty="0"/>
              <a:t> yang </a:t>
            </a:r>
            <a:r>
              <a:rPr lang="en-ID" dirty="0" err="1"/>
              <a:t>terbatas</a:t>
            </a:r>
            <a:r>
              <a:rPr lang="en-ID" dirty="0"/>
              <a:t>.</a:t>
            </a:r>
          </a:p>
          <a:p>
            <a:pPr rtl="0"/>
            <a:r>
              <a:rPr lang="en-ID" dirty="0" err="1"/>
              <a:t>Ketiga</a:t>
            </a:r>
            <a:r>
              <a:rPr lang="en-ID" dirty="0"/>
              <a:t>, </a:t>
            </a:r>
            <a:r>
              <a:rPr lang="en-ID" dirty="0" err="1"/>
              <a:t>mengukur</a:t>
            </a:r>
            <a:r>
              <a:rPr lang="en-ID" dirty="0"/>
              <a:t> </a:t>
            </a:r>
            <a:r>
              <a:rPr lang="en-ID" dirty="0" err="1"/>
              <a:t>akurasi</a:t>
            </a:r>
            <a:r>
              <a:rPr lang="en-ID" dirty="0"/>
              <a:t> LSTM </a:t>
            </a:r>
            <a:r>
              <a:rPr lang="en-ID" dirty="0" err="1"/>
              <a:t>terhadap</a:t>
            </a:r>
            <a:r>
              <a:rPr lang="en-ID" dirty="0"/>
              <a:t> baseline seasonal-naive pada </a:t>
            </a:r>
            <a:r>
              <a:rPr lang="en-ID" dirty="0" err="1"/>
              <a:t>beberapa</a:t>
            </a:r>
            <a:r>
              <a:rPr lang="en-ID" dirty="0"/>
              <a:t> horizon </a:t>
            </a:r>
            <a:r>
              <a:rPr lang="en-ID" dirty="0" err="1"/>
              <a:t>peramalan</a:t>
            </a:r>
            <a:r>
              <a:rPr lang="en-ID" dirty="0"/>
              <a:t>, guna </a:t>
            </a:r>
            <a:r>
              <a:rPr lang="en-ID" dirty="0" err="1"/>
              <a:t>menghasilkan</a:t>
            </a:r>
            <a:r>
              <a:rPr lang="en-ID" dirty="0"/>
              <a:t> </a:t>
            </a:r>
            <a:r>
              <a:rPr lang="en-ID" dirty="0" err="1"/>
              <a:t>rekomendasi</a:t>
            </a:r>
            <a:r>
              <a:rPr lang="en-ID" dirty="0"/>
              <a:t> </a:t>
            </a:r>
            <a:r>
              <a:rPr lang="en-ID" dirty="0" err="1"/>
              <a:t>kelayakan</a:t>
            </a:r>
            <a:r>
              <a:rPr lang="en-ID" dirty="0"/>
              <a:t> </a:t>
            </a:r>
            <a:r>
              <a:rPr lang="en-ID" dirty="0" err="1"/>
              <a:t>penerapan</a:t>
            </a:r>
            <a:r>
              <a:rPr lang="en-ID" dirty="0"/>
              <a:t> deep learning pada </a:t>
            </a:r>
            <a:r>
              <a:rPr lang="en-ID" dirty="0" err="1"/>
              <a:t>usaha</a:t>
            </a:r>
            <a:r>
              <a:rPr lang="en-ID" dirty="0"/>
              <a:t> </a:t>
            </a:r>
            <a:r>
              <a:rPr lang="en-ID" dirty="0" err="1"/>
              <a:t>kuliner</a:t>
            </a:r>
            <a:r>
              <a:rPr lang="en-ID" dirty="0"/>
              <a:t> </a:t>
            </a:r>
            <a:r>
              <a:rPr lang="en-ID" dirty="0" err="1"/>
              <a:t>berskala</a:t>
            </a:r>
            <a:r>
              <a:rPr lang="en-ID" dirty="0"/>
              <a:t> </a:t>
            </a:r>
            <a:r>
              <a:rPr lang="en-ID" dirty="0" err="1"/>
              <a:t>kecil</a:t>
            </a:r>
            <a:endParaRPr lang="en-ID" dirty="0"/>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4</a:t>
            </a:fld>
            <a:endParaRPr lang="en-ID"/>
          </a:p>
        </p:txBody>
      </p:sp>
    </p:spTree>
    <p:extLst>
      <p:ext uri="{BB962C8B-B14F-4D97-AF65-F5344CB8AC3E}">
        <p14:creationId xmlns:p14="http://schemas.microsoft.com/office/powerpoint/2010/main" val="2449601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a:t>Agar </a:t>
            </a:r>
            <a:r>
              <a:rPr lang="en-ID" dirty="0" err="1"/>
              <a:t>penelitian</a:t>
            </a:r>
            <a:r>
              <a:rPr lang="en-ID" dirty="0"/>
              <a:t> </a:t>
            </a:r>
            <a:r>
              <a:rPr lang="en-ID" dirty="0" err="1"/>
              <a:t>ini</a:t>
            </a:r>
            <a:r>
              <a:rPr lang="en-ID" dirty="0"/>
              <a:t> </a:t>
            </a:r>
            <a:r>
              <a:rPr lang="en-ID" dirty="0" err="1"/>
              <a:t>terarah</a:t>
            </a:r>
            <a:r>
              <a:rPr lang="en-ID" dirty="0"/>
              <a:t>, </a:t>
            </a:r>
            <a:r>
              <a:rPr lang="en-ID" dirty="0" err="1"/>
              <a:t>saya</a:t>
            </a:r>
            <a:r>
              <a:rPr lang="en-ID" dirty="0"/>
              <a:t> </a:t>
            </a:r>
            <a:r>
              <a:rPr lang="en-ID" dirty="0" err="1"/>
              <a:t>menetapkan</a:t>
            </a:r>
            <a:r>
              <a:rPr lang="en-ID" dirty="0"/>
              <a:t> lima </a:t>
            </a:r>
            <a:r>
              <a:rPr lang="en-ID" dirty="0" err="1"/>
              <a:t>batasan</a:t>
            </a:r>
            <a:r>
              <a:rPr lang="en-ID" dirty="0"/>
              <a:t>.</a:t>
            </a:r>
          </a:p>
          <a:p>
            <a:pPr rtl="0"/>
            <a:endParaRPr lang="en-ID" dirty="0"/>
          </a:p>
          <a:p>
            <a:pPr rtl="0"/>
            <a:r>
              <a:rPr lang="en-ID" dirty="0" err="1"/>
              <a:t>Pertama</a:t>
            </a:r>
            <a:r>
              <a:rPr lang="en-ID" dirty="0"/>
              <a:t>, data yang </a:t>
            </a:r>
            <a:r>
              <a:rPr lang="en-ID" dirty="0" err="1"/>
              <a:t>digunakan</a:t>
            </a:r>
            <a:r>
              <a:rPr lang="en-ID" dirty="0"/>
              <a:t> </a:t>
            </a:r>
            <a:r>
              <a:rPr lang="en-ID" dirty="0" err="1"/>
              <a:t>adalah</a:t>
            </a:r>
            <a:r>
              <a:rPr lang="en-ID" dirty="0"/>
              <a:t> </a:t>
            </a:r>
            <a:r>
              <a:rPr lang="en-ID" dirty="0" err="1"/>
              <a:t>transaksi</a:t>
            </a:r>
            <a:r>
              <a:rPr lang="en-ID" dirty="0"/>
              <a:t> </a:t>
            </a:r>
            <a:r>
              <a:rPr lang="en-ID" dirty="0" err="1"/>
              <a:t>EatsTEDI</a:t>
            </a:r>
            <a:r>
              <a:rPr lang="en-ID" dirty="0"/>
              <a:t> DTEDI UGM </a:t>
            </a:r>
            <a:r>
              <a:rPr lang="en-ID" dirty="0" err="1"/>
              <a:t>dengan</a:t>
            </a:r>
            <a:r>
              <a:rPr lang="en-ID" dirty="0"/>
              <a:t> </a:t>
            </a:r>
            <a:r>
              <a:rPr lang="en-ID" dirty="0" err="1"/>
              <a:t>rentang</a:t>
            </a:r>
            <a:r>
              <a:rPr lang="en-ID" dirty="0"/>
              <a:t> </a:t>
            </a:r>
            <a:r>
              <a:rPr lang="en-ID" dirty="0" err="1"/>
              <a:t>efektif</a:t>
            </a:r>
            <a:r>
              <a:rPr lang="en-ID" dirty="0"/>
              <a:t> 26 Agustus 2024 </a:t>
            </a:r>
            <a:r>
              <a:rPr lang="en-ID" dirty="0" err="1"/>
              <a:t>sampai</a:t>
            </a:r>
            <a:r>
              <a:rPr lang="en-ID" dirty="0"/>
              <a:t> 20 Juni 2026, </a:t>
            </a:r>
            <a:r>
              <a:rPr lang="en-ID" dirty="0" err="1"/>
              <a:t>sebanyak</a:t>
            </a:r>
            <a:r>
              <a:rPr lang="en-ID" dirty="0"/>
              <a:t> 313 </a:t>
            </a:r>
            <a:r>
              <a:rPr lang="en-ID" dirty="0" err="1"/>
              <a:t>hari</a:t>
            </a:r>
            <a:r>
              <a:rPr lang="en-ID" dirty="0"/>
              <a:t> </a:t>
            </a:r>
            <a:r>
              <a:rPr lang="en-ID" dirty="0" err="1"/>
              <a:t>transaksi</a:t>
            </a:r>
            <a:r>
              <a:rPr lang="en-ID" dirty="0"/>
              <a:t>. </a:t>
            </a:r>
            <a:r>
              <a:rPr lang="en-ID" dirty="0" err="1"/>
              <a:t>Pemodelan</a:t>
            </a:r>
            <a:r>
              <a:rPr lang="en-ID" dirty="0"/>
              <a:t> </a:t>
            </a:r>
            <a:r>
              <a:rPr lang="en-ID" dirty="0" err="1"/>
              <a:t>bersifat</a:t>
            </a:r>
            <a:r>
              <a:rPr lang="en-ID" dirty="0"/>
              <a:t> </a:t>
            </a:r>
            <a:r>
              <a:rPr lang="en-ID" dirty="0" err="1"/>
              <a:t>univariat</a:t>
            </a:r>
            <a:r>
              <a:rPr lang="en-ID" dirty="0"/>
              <a:t>, </a:t>
            </a:r>
            <a:r>
              <a:rPr lang="en-ID" dirty="0" err="1"/>
              <a:t>yaitu</a:t>
            </a:r>
            <a:r>
              <a:rPr lang="en-ID" dirty="0"/>
              <a:t> </a:t>
            </a:r>
            <a:r>
              <a:rPr lang="en-ID" dirty="0" err="1"/>
              <a:t>hanya</a:t>
            </a:r>
            <a:r>
              <a:rPr lang="en-ID" dirty="0"/>
              <a:t> total </a:t>
            </a:r>
            <a:r>
              <a:rPr lang="en-ID" dirty="0" err="1"/>
              <a:t>penjualan</a:t>
            </a:r>
            <a:r>
              <a:rPr lang="en-ID" dirty="0"/>
              <a:t> </a:t>
            </a:r>
            <a:r>
              <a:rPr lang="en-ID" dirty="0" err="1"/>
              <a:t>harian</a:t>
            </a:r>
            <a:r>
              <a:rPr lang="en-ID" dirty="0"/>
              <a:t>, </a:t>
            </a:r>
            <a:r>
              <a:rPr lang="en-ID" dirty="0" err="1"/>
              <a:t>tanpa</a:t>
            </a:r>
            <a:r>
              <a:rPr lang="en-ID" dirty="0"/>
              <a:t> </a:t>
            </a:r>
            <a:r>
              <a:rPr lang="en-ID" dirty="0" err="1"/>
              <a:t>variabel</a:t>
            </a:r>
            <a:r>
              <a:rPr lang="en-ID" dirty="0"/>
              <a:t> </a:t>
            </a:r>
            <a:r>
              <a:rPr lang="en-ID" dirty="0" err="1"/>
              <a:t>eksogen</a:t>
            </a:r>
            <a:r>
              <a:rPr lang="en-ID" dirty="0"/>
              <a:t> </a:t>
            </a:r>
            <a:r>
              <a:rPr lang="en-ID" dirty="0" err="1"/>
              <a:t>seperti</a:t>
            </a:r>
            <a:r>
              <a:rPr lang="en-ID" dirty="0"/>
              <a:t> </a:t>
            </a:r>
            <a:r>
              <a:rPr lang="en-ID" dirty="0" err="1"/>
              <a:t>cuaca</a:t>
            </a:r>
            <a:r>
              <a:rPr lang="en-ID" dirty="0"/>
              <a:t>, </a:t>
            </a:r>
            <a:r>
              <a:rPr lang="en-ID" dirty="0" err="1"/>
              <a:t>promosi</a:t>
            </a:r>
            <a:r>
              <a:rPr lang="en-ID" dirty="0"/>
              <a:t>, </a:t>
            </a:r>
            <a:r>
              <a:rPr lang="en-ID" dirty="0" err="1"/>
              <a:t>atau</a:t>
            </a:r>
            <a:r>
              <a:rPr lang="en-ID" dirty="0"/>
              <a:t> </a:t>
            </a:r>
            <a:r>
              <a:rPr lang="en-ID" dirty="0" err="1"/>
              <a:t>harga</a:t>
            </a:r>
            <a:r>
              <a:rPr lang="en-ID" dirty="0"/>
              <a:t>.</a:t>
            </a:r>
          </a:p>
          <a:p>
            <a:pPr rtl="0"/>
            <a:r>
              <a:rPr lang="en-ID" dirty="0" err="1"/>
              <a:t>Kedua</a:t>
            </a:r>
            <a:r>
              <a:rPr lang="en-ID" dirty="0"/>
              <a:t>, </a:t>
            </a:r>
            <a:r>
              <a:rPr lang="en-ID" dirty="0" err="1"/>
              <a:t>prediksi</a:t>
            </a:r>
            <a:r>
              <a:rPr lang="en-ID" dirty="0"/>
              <a:t> </a:t>
            </a:r>
            <a:r>
              <a:rPr lang="en-ID" dirty="0" err="1"/>
              <a:t>dilakukan</a:t>
            </a:r>
            <a:r>
              <a:rPr lang="en-ID" dirty="0"/>
              <a:t> pada </a:t>
            </a:r>
            <a:r>
              <a:rPr lang="en-ID" dirty="0" err="1"/>
              <a:t>tingkat</a:t>
            </a:r>
            <a:r>
              <a:rPr lang="en-ID" dirty="0"/>
              <a:t> </a:t>
            </a:r>
            <a:r>
              <a:rPr lang="en-ID" dirty="0" err="1"/>
              <a:t>agregat</a:t>
            </a:r>
            <a:r>
              <a:rPr lang="en-ID" dirty="0"/>
              <a:t> </a:t>
            </a:r>
            <a:r>
              <a:rPr lang="en-ID" dirty="0" err="1"/>
              <a:t>penjualan</a:t>
            </a:r>
            <a:r>
              <a:rPr lang="en-ID" dirty="0"/>
              <a:t> </a:t>
            </a:r>
            <a:r>
              <a:rPr lang="en-ID" dirty="0" err="1"/>
              <a:t>harian</a:t>
            </a:r>
            <a:r>
              <a:rPr lang="en-ID" dirty="0"/>
              <a:t>, </a:t>
            </a:r>
            <a:r>
              <a:rPr lang="en-ID" dirty="0" err="1"/>
              <a:t>bukan</a:t>
            </a:r>
            <a:r>
              <a:rPr lang="en-ID" dirty="0"/>
              <a:t> per item </a:t>
            </a:r>
            <a:r>
              <a:rPr lang="en-ID" dirty="0" err="1"/>
              <a:t>atau</a:t>
            </a:r>
            <a:r>
              <a:rPr lang="en-ID" dirty="0"/>
              <a:t> per </a:t>
            </a:r>
            <a:r>
              <a:rPr lang="en-ID" dirty="0" err="1"/>
              <a:t>kategori</a:t>
            </a:r>
            <a:r>
              <a:rPr lang="en-ID" dirty="0"/>
              <a:t> </a:t>
            </a:r>
            <a:r>
              <a:rPr lang="en-ID" dirty="0" err="1"/>
              <a:t>produk</a:t>
            </a:r>
            <a:r>
              <a:rPr lang="en-ID" dirty="0"/>
              <a:t>.</a:t>
            </a:r>
          </a:p>
          <a:p>
            <a:pPr rtl="0"/>
            <a:r>
              <a:rPr lang="en-ID" dirty="0" err="1"/>
              <a:t>Ketiga</a:t>
            </a:r>
            <a:r>
              <a:rPr lang="en-ID" dirty="0"/>
              <a:t>, </a:t>
            </a:r>
            <a:r>
              <a:rPr lang="en-ID" dirty="0" err="1"/>
              <a:t>metode</a:t>
            </a:r>
            <a:r>
              <a:rPr lang="en-ID" dirty="0"/>
              <a:t> yang </a:t>
            </a:r>
            <a:r>
              <a:rPr lang="en-ID" dirty="0" err="1"/>
              <a:t>diuji</a:t>
            </a:r>
            <a:r>
              <a:rPr lang="en-ID" dirty="0"/>
              <a:t> </a:t>
            </a:r>
            <a:r>
              <a:rPr lang="en-ID" dirty="0" err="1"/>
              <a:t>adalah</a:t>
            </a:r>
            <a:r>
              <a:rPr lang="en-ID" dirty="0"/>
              <a:t> LSTM </a:t>
            </a:r>
            <a:r>
              <a:rPr lang="en-ID" dirty="0" err="1"/>
              <a:t>dengan</a:t>
            </a:r>
            <a:r>
              <a:rPr lang="en-ID" dirty="0"/>
              <a:t> </a:t>
            </a:r>
            <a:r>
              <a:rPr lang="en-ID" dirty="0" err="1"/>
              <a:t>augmentasi</a:t>
            </a:r>
            <a:r>
              <a:rPr lang="en-ID" dirty="0"/>
              <a:t> </a:t>
            </a:r>
            <a:r>
              <a:rPr lang="en-ID" dirty="0" err="1"/>
              <a:t>TimeGAN</a:t>
            </a:r>
            <a:r>
              <a:rPr lang="en-ID" dirty="0"/>
              <a:t>, </a:t>
            </a:r>
            <a:r>
              <a:rPr lang="en-ID" dirty="0" err="1"/>
              <a:t>dibandingkan</a:t>
            </a:r>
            <a:r>
              <a:rPr lang="en-ID" dirty="0"/>
              <a:t> </a:t>
            </a:r>
            <a:r>
              <a:rPr lang="en-ID" dirty="0" err="1"/>
              <a:t>terhadap</a:t>
            </a:r>
            <a:r>
              <a:rPr lang="en-ID" dirty="0"/>
              <a:t> Naive, Mean-7, Seasonal-Naive, dan SARIMA. </a:t>
            </a:r>
            <a:r>
              <a:rPr lang="en-ID" dirty="0" err="1"/>
              <a:t>Arsitektur</a:t>
            </a:r>
            <a:r>
              <a:rPr lang="en-ID" dirty="0"/>
              <a:t> </a:t>
            </a:r>
            <a:r>
              <a:rPr lang="en-ID" dirty="0" err="1"/>
              <a:t>seperti</a:t>
            </a:r>
            <a:r>
              <a:rPr lang="en-ID" dirty="0"/>
              <a:t> Transformer dan TFT, </a:t>
            </a:r>
            <a:r>
              <a:rPr lang="en-ID" dirty="0" err="1"/>
              <a:t>serta</a:t>
            </a:r>
            <a:r>
              <a:rPr lang="en-ID" dirty="0"/>
              <a:t> </a:t>
            </a:r>
            <a:r>
              <a:rPr lang="en-ID" dirty="0" err="1"/>
              <a:t>teknik</a:t>
            </a:r>
            <a:r>
              <a:rPr lang="en-ID" dirty="0"/>
              <a:t> </a:t>
            </a:r>
            <a:r>
              <a:rPr lang="en-ID" dirty="0" err="1"/>
              <a:t>augmentasi</a:t>
            </a:r>
            <a:r>
              <a:rPr lang="en-ID" dirty="0"/>
              <a:t> jittering dan window warping, </a:t>
            </a:r>
            <a:r>
              <a:rPr lang="en-ID" dirty="0" err="1"/>
              <a:t>berada</a:t>
            </a:r>
            <a:r>
              <a:rPr lang="en-ID" dirty="0"/>
              <a:t> di </a:t>
            </a:r>
            <a:r>
              <a:rPr lang="en-ID" dirty="0" err="1"/>
              <a:t>luar</a:t>
            </a:r>
            <a:r>
              <a:rPr lang="en-ID" dirty="0"/>
              <a:t> </a:t>
            </a:r>
            <a:r>
              <a:rPr lang="en-ID" dirty="0" err="1"/>
              <a:t>cakupan</a:t>
            </a:r>
            <a:r>
              <a:rPr lang="en-ID" dirty="0"/>
              <a:t>.</a:t>
            </a:r>
          </a:p>
          <a:p>
            <a:pPr rtl="0"/>
            <a:r>
              <a:rPr lang="en-ID" dirty="0" err="1"/>
              <a:t>Keempat</a:t>
            </a:r>
            <a:r>
              <a:rPr lang="en-ID" dirty="0"/>
              <a:t>, </a:t>
            </a:r>
            <a:r>
              <a:rPr lang="en-ID" dirty="0" err="1"/>
              <a:t>metrik</a:t>
            </a:r>
            <a:r>
              <a:rPr lang="en-ID" dirty="0"/>
              <a:t> </a:t>
            </a:r>
            <a:r>
              <a:rPr lang="en-ID" dirty="0" err="1"/>
              <a:t>evaluasi</a:t>
            </a:r>
            <a:r>
              <a:rPr lang="en-ID" dirty="0"/>
              <a:t> yang </a:t>
            </a:r>
            <a:r>
              <a:rPr lang="en-ID" dirty="0" err="1"/>
              <a:t>digunakan</a:t>
            </a:r>
            <a:r>
              <a:rPr lang="en-ID" dirty="0"/>
              <a:t> </a:t>
            </a:r>
            <a:r>
              <a:rPr lang="en-ID" dirty="0" err="1"/>
              <a:t>adalah</a:t>
            </a:r>
            <a:r>
              <a:rPr lang="en-ID" dirty="0"/>
              <a:t> MAE, RMSE, </a:t>
            </a:r>
            <a:r>
              <a:rPr lang="en-ID" dirty="0" err="1"/>
              <a:t>sMAPE</a:t>
            </a:r>
            <a:r>
              <a:rPr lang="en-ID" dirty="0"/>
              <a:t>, dan MASE. MAPE </a:t>
            </a:r>
            <a:r>
              <a:rPr lang="en-ID" dirty="0" err="1"/>
              <a:t>konvensional</a:t>
            </a:r>
            <a:r>
              <a:rPr lang="en-ID" dirty="0"/>
              <a:t> </a:t>
            </a:r>
            <a:r>
              <a:rPr lang="en-ID" dirty="0" err="1"/>
              <a:t>sengaja</a:t>
            </a:r>
            <a:r>
              <a:rPr lang="en-ID" dirty="0"/>
              <a:t> </a:t>
            </a:r>
            <a:r>
              <a:rPr lang="en-ID" dirty="0" err="1"/>
              <a:t>tidak</a:t>
            </a:r>
            <a:r>
              <a:rPr lang="en-ID" dirty="0"/>
              <a:t> </a:t>
            </a:r>
            <a:r>
              <a:rPr lang="en-ID" dirty="0" err="1"/>
              <a:t>digunakan</a:t>
            </a:r>
            <a:r>
              <a:rPr lang="en-ID" dirty="0"/>
              <a:t> </a:t>
            </a:r>
            <a:r>
              <a:rPr lang="en-ID" dirty="0" err="1"/>
              <a:t>karena</a:t>
            </a:r>
            <a:r>
              <a:rPr lang="en-ID" dirty="0"/>
              <a:t> </a:t>
            </a:r>
            <a:r>
              <a:rPr lang="en-ID" dirty="0" err="1"/>
              <a:t>rentan</a:t>
            </a:r>
            <a:r>
              <a:rPr lang="en-ID" dirty="0"/>
              <a:t> </a:t>
            </a:r>
            <a:r>
              <a:rPr lang="en-ID" dirty="0" err="1"/>
              <a:t>menghasilkan</a:t>
            </a:r>
            <a:r>
              <a:rPr lang="en-ID" dirty="0"/>
              <a:t> </a:t>
            </a:r>
            <a:r>
              <a:rPr lang="en-ID" dirty="0" err="1"/>
              <a:t>galat</a:t>
            </a:r>
            <a:r>
              <a:rPr lang="en-ID" dirty="0"/>
              <a:t> </a:t>
            </a:r>
            <a:r>
              <a:rPr lang="en-ID" dirty="0" err="1"/>
              <a:t>persentase</a:t>
            </a:r>
            <a:r>
              <a:rPr lang="en-ID" dirty="0"/>
              <a:t> yang </a:t>
            </a:r>
            <a:r>
              <a:rPr lang="en-ID" dirty="0" err="1"/>
              <a:t>tidak</a:t>
            </a:r>
            <a:r>
              <a:rPr lang="en-ID" dirty="0"/>
              <a:t> </a:t>
            </a:r>
            <a:r>
              <a:rPr lang="en-ID" dirty="0" err="1"/>
              <a:t>representatif</a:t>
            </a:r>
            <a:r>
              <a:rPr lang="en-ID" dirty="0"/>
              <a:t> pada </a:t>
            </a:r>
            <a:r>
              <a:rPr lang="en-ID" dirty="0" err="1"/>
              <a:t>hari-hari</a:t>
            </a:r>
            <a:r>
              <a:rPr lang="en-ID" dirty="0"/>
              <a:t> </a:t>
            </a:r>
            <a:r>
              <a:rPr lang="en-ID" dirty="0" err="1"/>
              <a:t>berpendapatan</a:t>
            </a:r>
            <a:r>
              <a:rPr lang="en-ID" dirty="0"/>
              <a:t> sangat </a:t>
            </a:r>
            <a:r>
              <a:rPr lang="en-ID" dirty="0" err="1"/>
              <a:t>rendah</a:t>
            </a:r>
            <a:r>
              <a:rPr lang="en-ID" dirty="0"/>
              <a:t>.</a:t>
            </a:r>
          </a:p>
          <a:p>
            <a:pPr rtl="0"/>
            <a:endParaRPr lang="en-ID" dirty="0"/>
          </a:p>
          <a:p>
            <a:pPr rtl="0"/>
            <a:r>
              <a:rPr lang="en-ID" dirty="0" err="1"/>
              <a:t>Kelima</a:t>
            </a:r>
            <a:r>
              <a:rPr lang="en-ID" dirty="0"/>
              <a:t>, </a:t>
            </a:r>
            <a:r>
              <a:rPr lang="en-ID" dirty="0" err="1"/>
              <a:t>aplikasi</a:t>
            </a:r>
            <a:r>
              <a:rPr lang="en-ID" dirty="0"/>
              <a:t> </a:t>
            </a:r>
            <a:r>
              <a:rPr lang="en-ID" dirty="0" err="1"/>
              <a:t>dibangun</a:t>
            </a:r>
            <a:r>
              <a:rPr lang="en-ID" dirty="0"/>
              <a:t> </a:t>
            </a:r>
            <a:r>
              <a:rPr lang="en-ID" dirty="0" err="1"/>
              <a:t>untuk</a:t>
            </a:r>
            <a:r>
              <a:rPr lang="en-ID" dirty="0"/>
              <a:t> Android </a:t>
            </a:r>
            <a:r>
              <a:rPr lang="en-ID" dirty="0" err="1"/>
              <a:t>menggunakan</a:t>
            </a:r>
            <a:r>
              <a:rPr lang="en-ID" dirty="0"/>
              <a:t> Flutter; model </a:t>
            </a:r>
            <a:r>
              <a:rPr lang="en-ID" dirty="0" err="1"/>
              <a:t>dilatih</a:t>
            </a:r>
            <a:r>
              <a:rPr lang="en-ID" dirty="0"/>
              <a:t> </a:t>
            </a:r>
            <a:r>
              <a:rPr lang="en-ID" dirty="0" err="1"/>
              <a:t>secara</a:t>
            </a:r>
            <a:r>
              <a:rPr lang="en-ID" dirty="0"/>
              <a:t> luring </a:t>
            </a:r>
            <a:r>
              <a:rPr lang="en-ID" dirty="0" err="1"/>
              <a:t>lalu</a:t>
            </a:r>
            <a:r>
              <a:rPr lang="en-ID" dirty="0"/>
              <a:t> </a:t>
            </a:r>
            <a:r>
              <a:rPr lang="en-ID" dirty="0" err="1"/>
              <a:t>diintegrasikan</a:t>
            </a:r>
            <a:r>
              <a:rPr lang="en-ID" dirty="0"/>
              <a:t> </a:t>
            </a:r>
            <a:r>
              <a:rPr lang="en-ID" dirty="0" err="1"/>
              <a:t>sebagai</a:t>
            </a:r>
            <a:r>
              <a:rPr lang="en-ID" dirty="0"/>
              <a:t> </a:t>
            </a:r>
            <a:r>
              <a:rPr lang="en-ID" dirty="0" err="1"/>
              <a:t>layanan</a:t>
            </a:r>
            <a:r>
              <a:rPr lang="en-ID" dirty="0"/>
              <a:t> </a:t>
            </a:r>
            <a:r>
              <a:rPr lang="en-ID" dirty="0" err="1"/>
              <a:t>prediksi</a:t>
            </a:r>
            <a:r>
              <a:rPr lang="en-ID" dirty="0"/>
              <a:t>. iOS dan online learning di </a:t>
            </a:r>
            <a:r>
              <a:rPr lang="en-ID" dirty="0" err="1"/>
              <a:t>luar</a:t>
            </a:r>
            <a:r>
              <a:rPr lang="en-ID" dirty="0"/>
              <a:t> </a:t>
            </a:r>
            <a:r>
              <a:rPr lang="en-ID" dirty="0" err="1"/>
              <a:t>cakupan</a:t>
            </a:r>
            <a:r>
              <a:rPr lang="en-ID" dirty="0"/>
              <a:t>, dan </a:t>
            </a:r>
            <a:r>
              <a:rPr lang="en-ID" dirty="0" err="1"/>
              <a:t>pengujian</a:t>
            </a:r>
            <a:r>
              <a:rPr lang="en-ID" dirty="0"/>
              <a:t> </a:t>
            </a:r>
            <a:r>
              <a:rPr lang="en-ID" dirty="0" err="1"/>
              <a:t>dibatasi</a:t>
            </a:r>
            <a:r>
              <a:rPr lang="en-ID" dirty="0"/>
              <a:t> pada </a:t>
            </a:r>
            <a:r>
              <a:rPr lang="en-ID" dirty="0" err="1"/>
              <a:t>aspek</a:t>
            </a:r>
            <a:r>
              <a:rPr lang="en-ID" dirty="0"/>
              <a:t> </a:t>
            </a:r>
            <a:r>
              <a:rPr lang="en-ID" dirty="0" err="1"/>
              <a:t>fungsional</a:t>
            </a:r>
            <a:r>
              <a:rPr lang="en-ID" dirty="0"/>
              <a:t>, </a:t>
            </a:r>
            <a:r>
              <a:rPr lang="en-ID" dirty="0" err="1"/>
              <a:t>struktural</a:t>
            </a:r>
            <a:r>
              <a:rPr lang="en-ID" dirty="0"/>
              <a:t>, </a:t>
            </a:r>
            <a:r>
              <a:rPr lang="en-ID" dirty="0" err="1"/>
              <a:t>serta</a:t>
            </a:r>
            <a:r>
              <a:rPr lang="en-ID" dirty="0"/>
              <a:t> </a:t>
            </a:r>
            <a:r>
              <a:rPr lang="en-ID" dirty="0" err="1"/>
              <a:t>akurasi</a:t>
            </a:r>
            <a:r>
              <a:rPr lang="en-ID" dirty="0"/>
              <a:t> model </a:t>
            </a:r>
            <a:r>
              <a:rPr lang="en-ID" dirty="0" err="1"/>
              <a:t>tanpa</a:t>
            </a:r>
            <a:r>
              <a:rPr lang="en-ID" dirty="0"/>
              <a:t> </a:t>
            </a:r>
            <a:r>
              <a:rPr lang="en-ID" dirty="0" err="1"/>
              <a:t>pengukuran</a:t>
            </a:r>
            <a:r>
              <a:rPr lang="en-ID" dirty="0"/>
              <a:t> </a:t>
            </a:r>
            <a:r>
              <a:rPr lang="en-ID" dirty="0" err="1"/>
              <a:t>dampak</a:t>
            </a:r>
            <a:r>
              <a:rPr lang="en-ID" dirty="0"/>
              <a:t> </a:t>
            </a:r>
            <a:r>
              <a:rPr lang="en-ID" dirty="0" err="1"/>
              <a:t>ekonomi</a:t>
            </a:r>
            <a:endParaRPr lang="en-ID" dirty="0"/>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5</a:t>
            </a:fld>
            <a:endParaRPr lang="en-ID"/>
          </a:p>
        </p:txBody>
      </p:sp>
    </p:spTree>
    <p:extLst>
      <p:ext uri="{BB962C8B-B14F-4D97-AF65-F5344CB8AC3E}">
        <p14:creationId xmlns:p14="http://schemas.microsoft.com/office/powerpoint/2010/main" val="2081704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err="1"/>
              <a:t>Berikutnya</a:t>
            </a:r>
            <a:r>
              <a:rPr lang="en-ID" dirty="0"/>
              <a:t> </a:t>
            </a:r>
            <a:r>
              <a:rPr lang="en-ID" dirty="0" err="1"/>
              <a:t>posisi</a:t>
            </a:r>
            <a:r>
              <a:rPr lang="en-ID" dirty="0"/>
              <a:t> </a:t>
            </a:r>
            <a:r>
              <a:rPr lang="en-ID" dirty="0" err="1"/>
              <a:t>penelitian</a:t>
            </a:r>
            <a:r>
              <a:rPr lang="en-ID" dirty="0"/>
              <a:t> </a:t>
            </a:r>
            <a:r>
              <a:rPr lang="en-ID" dirty="0" err="1"/>
              <a:t>ini</a:t>
            </a:r>
            <a:r>
              <a:rPr lang="en-ID" dirty="0"/>
              <a:t> </a:t>
            </a:r>
            <a:r>
              <a:rPr lang="en-ID" dirty="0" err="1"/>
              <a:t>terhadap</a:t>
            </a:r>
            <a:r>
              <a:rPr lang="en-ID" dirty="0"/>
              <a:t> </a:t>
            </a:r>
            <a:r>
              <a:rPr lang="en-ID" dirty="0" err="1"/>
              <a:t>penelitian</a:t>
            </a:r>
            <a:r>
              <a:rPr lang="en-ID" dirty="0"/>
              <a:t> </a:t>
            </a:r>
            <a:r>
              <a:rPr lang="en-ID" dirty="0" err="1"/>
              <a:t>terdahulu</a:t>
            </a:r>
            <a:r>
              <a:rPr lang="en-ID" dirty="0"/>
              <a:t>.</a:t>
            </a:r>
          </a:p>
          <a:p>
            <a:pPr rtl="0"/>
            <a:endParaRPr lang="en-ID" dirty="0"/>
          </a:p>
          <a:p>
            <a:pPr rtl="0"/>
            <a:r>
              <a:rPr lang="en-ID" dirty="0" err="1"/>
              <a:t>Penelitian</a:t>
            </a:r>
            <a:r>
              <a:rPr lang="en-ID" dirty="0"/>
              <a:t> </a:t>
            </a:r>
            <a:r>
              <a:rPr lang="en-ID" dirty="0" err="1"/>
              <a:t>pertama</a:t>
            </a:r>
            <a:r>
              <a:rPr lang="en-ID" dirty="0"/>
              <a:t> oleh Mansur dan </a:t>
            </a:r>
            <a:r>
              <a:rPr lang="en-ID" dirty="0" err="1"/>
              <a:t>kawan-kawan</a:t>
            </a:r>
            <a:r>
              <a:rPr lang="en-ID" dirty="0"/>
              <a:t> </a:t>
            </a:r>
            <a:r>
              <a:rPr lang="en-ID" dirty="0" err="1"/>
              <a:t>tahun</a:t>
            </a:r>
            <a:r>
              <a:rPr lang="en-ID" dirty="0"/>
              <a:t> 2025 </a:t>
            </a:r>
            <a:r>
              <a:rPr lang="en-ID" dirty="0" err="1"/>
              <a:t>menggunakan</a:t>
            </a:r>
            <a:r>
              <a:rPr lang="en-ID" dirty="0"/>
              <a:t> </a:t>
            </a:r>
            <a:r>
              <a:rPr lang="en-ID" dirty="0" err="1"/>
              <a:t>hibrida</a:t>
            </a:r>
            <a:r>
              <a:rPr lang="en-ID" dirty="0"/>
              <a:t> CNN-LSTM </a:t>
            </a:r>
            <a:r>
              <a:rPr lang="en-ID" dirty="0" err="1"/>
              <a:t>dengan</a:t>
            </a:r>
            <a:r>
              <a:rPr lang="en-ID" dirty="0"/>
              <a:t> </a:t>
            </a:r>
            <a:r>
              <a:rPr lang="en-ID" dirty="0" err="1"/>
              <a:t>variabel</a:t>
            </a:r>
            <a:r>
              <a:rPr lang="en-ID" dirty="0"/>
              <a:t> </a:t>
            </a:r>
            <a:r>
              <a:rPr lang="en-ID" dirty="0" err="1"/>
              <a:t>eksogen</a:t>
            </a:r>
            <a:r>
              <a:rPr lang="en-ID" dirty="0"/>
              <a:t> — </a:t>
            </a:r>
            <a:r>
              <a:rPr lang="en-ID" dirty="0" err="1"/>
              <a:t>cuaca</a:t>
            </a:r>
            <a:r>
              <a:rPr lang="en-ID" dirty="0"/>
              <a:t>, </a:t>
            </a:r>
            <a:r>
              <a:rPr lang="en-ID" dirty="0" err="1"/>
              <a:t>hari</a:t>
            </a:r>
            <a:r>
              <a:rPr lang="en-ID" dirty="0"/>
              <a:t> </a:t>
            </a:r>
            <a:r>
              <a:rPr lang="en-ID" dirty="0" err="1"/>
              <a:t>libur</a:t>
            </a:r>
            <a:r>
              <a:rPr lang="en-ID" dirty="0"/>
              <a:t>, </a:t>
            </a:r>
            <a:r>
              <a:rPr lang="en-ID" dirty="0" err="1"/>
              <a:t>hari</a:t>
            </a:r>
            <a:r>
              <a:rPr lang="en-ID" dirty="0"/>
              <a:t> </a:t>
            </a:r>
            <a:r>
              <a:rPr lang="en-ID" dirty="0" err="1"/>
              <a:t>gajian</a:t>
            </a:r>
            <a:r>
              <a:rPr lang="en-ID" dirty="0"/>
              <a:t>, </a:t>
            </a:r>
            <a:r>
              <a:rPr lang="en-ID" dirty="0" err="1"/>
              <a:t>bahkan</a:t>
            </a:r>
            <a:r>
              <a:rPr lang="en-ID" dirty="0"/>
              <a:t> </a:t>
            </a:r>
            <a:r>
              <a:rPr lang="en-ID" dirty="0" err="1"/>
              <a:t>unjuk</a:t>
            </a:r>
            <a:r>
              <a:rPr lang="en-ID" dirty="0"/>
              <a:t> rasa — pada data </a:t>
            </a:r>
            <a:r>
              <a:rPr lang="en-ID" dirty="0" err="1"/>
              <a:t>penjualan</a:t>
            </a:r>
            <a:r>
              <a:rPr lang="en-ID" dirty="0"/>
              <a:t> </a:t>
            </a:r>
            <a:r>
              <a:rPr lang="en-ID" dirty="0" err="1"/>
              <a:t>harian</a:t>
            </a:r>
            <a:r>
              <a:rPr lang="en-ID" dirty="0"/>
              <a:t> </a:t>
            </a:r>
            <a:r>
              <a:rPr lang="en-ID" dirty="0" err="1"/>
              <a:t>enam</a:t>
            </a:r>
            <a:r>
              <a:rPr lang="en-ID" dirty="0"/>
              <a:t> </a:t>
            </a:r>
            <a:r>
              <a:rPr lang="en-ID" dirty="0" err="1"/>
              <a:t>bulan</a:t>
            </a:r>
            <a:r>
              <a:rPr lang="en-ID" dirty="0"/>
              <a:t> </a:t>
            </a:r>
            <a:r>
              <a:rPr lang="en-ID" dirty="0" err="1"/>
              <a:t>satu</a:t>
            </a:r>
            <a:r>
              <a:rPr lang="en-ID" dirty="0"/>
              <a:t> </a:t>
            </a:r>
            <a:r>
              <a:rPr lang="en-ID" dirty="0" err="1"/>
              <a:t>gerai</a:t>
            </a:r>
            <a:r>
              <a:rPr lang="en-ID" dirty="0"/>
              <a:t>, dan </a:t>
            </a:r>
            <a:r>
              <a:rPr lang="en-ID" dirty="0" err="1"/>
              <a:t>mencapai</a:t>
            </a:r>
            <a:r>
              <a:rPr lang="en-ID" dirty="0"/>
              <a:t> MAPE 4,16 </a:t>
            </a:r>
            <a:r>
              <a:rPr lang="en-ID" dirty="0" err="1"/>
              <a:t>persen</a:t>
            </a:r>
            <a:r>
              <a:rPr lang="en-ID" dirty="0"/>
              <a:t>. </a:t>
            </a:r>
            <a:r>
              <a:rPr lang="en-ID" dirty="0" err="1"/>
              <a:t>Namun</a:t>
            </a:r>
            <a:r>
              <a:rPr lang="en-ID" dirty="0"/>
              <a:t> </a:t>
            </a:r>
            <a:r>
              <a:rPr lang="en-ID" dirty="0" err="1"/>
              <a:t>keberhasilan</a:t>
            </a:r>
            <a:r>
              <a:rPr lang="en-ID" dirty="0"/>
              <a:t> </a:t>
            </a:r>
            <a:r>
              <a:rPr lang="en-ID" dirty="0" err="1"/>
              <a:t>itu</a:t>
            </a:r>
            <a:r>
              <a:rPr lang="en-ID" dirty="0"/>
              <a:t> </a:t>
            </a:r>
            <a:r>
              <a:rPr lang="en-ID" dirty="0" err="1"/>
              <a:t>bertumpu</a:t>
            </a:r>
            <a:r>
              <a:rPr lang="en-ID" dirty="0"/>
              <a:t> pada </a:t>
            </a:r>
            <a:r>
              <a:rPr lang="en-ID" dirty="0" err="1"/>
              <a:t>tujuh</a:t>
            </a:r>
            <a:r>
              <a:rPr lang="en-ID" dirty="0"/>
              <a:t> </a:t>
            </a:r>
            <a:r>
              <a:rPr lang="en-ID" dirty="0" err="1"/>
              <a:t>variabel</a:t>
            </a:r>
            <a:r>
              <a:rPr lang="en-ID" dirty="0"/>
              <a:t> </a:t>
            </a:r>
            <a:r>
              <a:rPr lang="en-ID" dirty="0" err="1"/>
              <a:t>eksogen</a:t>
            </a:r>
            <a:r>
              <a:rPr lang="en-ID" dirty="0"/>
              <a:t> yang </a:t>
            </a:r>
            <a:r>
              <a:rPr lang="en-ID" dirty="0" err="1"/>
              <a:t>tidak</a:t>
            </a:r>
            <a:r>
              <a:rPr lang="en-ID" dirty="0"/>
              <a:t> </a:t>
            </a:r>
            <a:r>
              <a:rPr lang="en-ID" dirty="0" err="1"/>
              <a:t>tersedia</a:t>
            </a:r>
            <a:r>
              <a:rPr lang="en-ID" dirty="0"/>
              <a:t> pada dataset </a:t>
            </a:r>
            <a:r>
              <a:rPr lang="en-ID" dirty="0" err="1"/>
              <a:t>penelitian</a:t>
            </a:r>
            <a:r>
              <a:rPr lang="en-ID" dirty="0"/>
              <a:t> </a:t>
            </a:r>
            <a:r>
              <a:rPr lang="en-ID" dirty="0" err="1"/>
              <a:t>saya</a:t>
            </a:r>
            <a:r>
              <a:rPr lang="en-ID" dirty="0"/>
              <a:t>; </a:t>
            </a:r>
            <a:r>
              <a:rPr lang="en-ID" dirty="0" err="1"/>
              <a:t>penulisnya</a:t>
            </a:r>
            <a:r>
              <a:rPr lang="en-ID" dirty="0"/>
              <a:t> </a:t>
            </a:r>
            <a:r>
              <a:rPr lang="en-ID" dirty="0" err="1"/>
              <a:t>sendiri</a:t>
            </a:r>
            <a:r>
              <a:rPr lang="en-ID" dirty="0"/>
              <a:t> </a:t>
            </a:r>
            <a:r>
              <a:rPr lang="en-ID" dirty="0" err="1"/>
              <a:t>mencatat</a:t>
            </a:r>
            <a:r>
              <a:rPr lang="en-ID" dirty="0"/>
              <a:t> </a:t>
            </a:r>
            <a:r>
              <a:rPr lang="en-ID" dirty="0" err="1"/>
              <a:t>indikasi</a:t>
            </a:r>
            <a:r>
              <a:rPr lang="en-ID" dirty="0"/>
              <a:t> overfitting, dan </a:t>
            </a:r>
            <a:r>
              <a:rPr lang="en-ID" dirty="0" err="1"/>
              <a:t>tidak</a:t>
            </a:r>
            <a:r>
              <a:rPr lang="en-ID" dirty="0"/>
              <a:t> </a:t>
            </a:r>
            <a:r>
              <a:rPr lang="en-ID" dirty="0" err="1"/>
              <a:t>menguji</a:t>
            </a:r>
            <a:r>
              <a:rPr lang="en-ID" dirty="0"/>
              <a:t> baseline </a:t>
            </a:r>
            <a:r>
              <a:rPr lang="en-ID" dirty="0" err="1"/>
              <a:t>sederhana</a:t>
            </a:r>
            <a:r>
              <a:rPr lang="en-ID" dirty="0"/>
              <a:t>.</a:t>
            </a:r>
          </a:p>
          <a:p>
            <a:pPr rtl="0"/>
            <a:endParaRPr lang="en-ID" dirty="0"/>
          </a:p>
          <a:p>
            <a:pPr rtl="0"/>
            <a:r>
              <a:rPr lang="en-ID" dirty="0" err="1"/>
              <a:t>Penelitian</a:t>
            </a:r>
            <a:r>
              <a:rPr lang="en-ID" dirty="0"/>
              <a:t> </a:t>
            </a:r>
            <a:r>
              <a:rPr lang="en-ID" dirty="0" err="1"/>
              <a:t>kedua</a:t>
            </a:r>
            <a:r>
              <a:rPr lang="en-ID" dirty="0"/>
              <a:t> oleh Yadav dan Barde </a:t>
            </a:r>
            <a:r>
              <a:rPr lang="en-ID" dirty="0" err="1"/>
              <a:t>tahun</a:t>
            </a:r>
            <a:r>
              <a:rPr lang="en-ID" dirty="0"/>
              <a:t> 2025 </a:t>
            </a:r>
            <a:r>
              <a:rPr lang="en-ID" dirty="0" err="1"/>
              <a:t>mengombinasikan</a:t>
            </a:r>
            <a:r>
              <a:rPr lang="en-ID" dirty="0"/>
              <a:t> LSTM </a:t>
            </a:r>
            <a:r>
              <a:rPr lang="en-ID" dirty="0" err="1"/>
              <a:t>dengan</a:t>
            </a:r>
            <a:r>
              <a:rPr lang="en-ID" dirty="0"/>
              <a:t> </a:t>
            </a:r>
            <a:r>
              <a:rPr lang="en-ID" dirty="0" err="1"/>
              <a:t>XGBoost</a:t>
            </a:r>
            <a:r>
              <a:rPr lang="en-ID" dirty="0"/>
              <a:t> dan </a:t>
            </a:r>
            <a:r>
              <a:rPr lang="en-ID" dirty="0" err="1"/>
              <a:t>mengintegrasikannya</a:t>
            </a:r>
            <a:r>
              <a:rPr lang="en-ID" dirty="0"/>
              <a:t> </a:t>
            </a:r>
            <a:r>
              <a:rPr lang="en-ID" dirty="0" err="1"/>
              <a:t>ke</a:t>
            </a:r>
            <a:r>
              <a:rPr lang="en-ID" dirty="0"/>
              <a:t> </a:t>
            </a:r>
            <a:r>
              <a:rPr lang="en-ID" dirty="0" err="1"/>
              <a:t>sistem</a:t>
            </a:r>
            <a:r>
              <a:rPr lang="en-ID" dirty="0"/>
              <a:t> POS </a:t>
            </a:r>
            <a:r>
              <a:rPr lang="en-ID" dirty="0" err="1"/>
              <a:t>berbasis</a:t>
            </a:r>
            <a:r>
              <a:rPr lang="en-ID" dirty="0"/>
              <a:t> web. </a:t>
            </a:r>
            <a:r>
              <a:rPr lang="en-ID" dirty="0" err="1"/>
              <a:t>Fokusnya</a:t>
            </a:r>
            <a:r>
              <a:rPr lang="en-ID" dirty="0"/>
              <a:t> pada </a:t>
            </a:r>
            <a:r>
              <a:rPr lang="en-ID" dirty="0" err="1"/>
              <a:t>pendekatan</a:t>
            </a:r>
            <a:r>
              <a:rPr lang="en-ID" dirty="0"/>
              <a:t> </a:t>
            </a:r>
            <a:r>
              <a:rPr lang="en-ID" dirty="0" err="1"/>
              <a:t>hibrida</a:t>
            </a:r>
            <a:r>
              <a:rPr lang="en-ID" dirty="0"/>
              <a:t> </a:t>
            </a:r>
            <a:r>
              <a:rPr lang="en-ID" dirty="0" err="1"/>
              <a:t>berbasis</a:t>
            </a:r>
            <a:r>
              <a:rPr lang="en-ID" dirty="0"/>
              <a:t> web, </a:t>
            </a:r>
            <a:r>
              <a:rPr lang="en-ID" dirty="0" err="1"/>
              <a:t>sedangkan</a:t>
            </a:r>
            <a:r>
              <a:rPr lang="en-ID" dirty="0"/>
              <a:t> </a:t>
            </a:r>
            <a:r>
              <a:rPr lang="en-ID" dirty="0" err="1"/>
              <a:t>penelitian</a:t>
            </a:r>
            <a:r>
              <a:rPr lang="en-ID" dirty="0"/>
              <a:t> </a:t>
            </a:r>
            <a:r>
              <a:rPr lang="en-ID" dirty="0" err="1"/>
              <a:t>saya</a:t>
            </a:r>
            <a:r>
              <a:rPr lang="en-ID" dirty="0"/>
              <a:t> </a:t>
            </a:r>
            <a:r>
              <a:rPr lang="en-ID" dirty="0" err="1"/>
              <a:t>menggunakan</a:t>
            </a:r>
            <a:r>
              <a:rPr lang="en-ID" dirty="0"/>
              <a:t> LSTM </a:t>
            </a:r>
            <a:r>
              <a:rPr lang="en-ID" dirty="0" err="1"/>
              <a:t>murni</a:t>
            </a:r>
            <a:r>
              <a:rPr lang="en-ID" dirty="0"/>
              <a:t> pada </a:t>
            </a:r>
            <a:r>
              <a:rPr lang="en-ID" dirty="0" err="1"/>
              <a:t>aplikasi</a:t>
            </a:r>
            <a:r>
              <a:rPr lang="en-ID" dirty="0"/>
              <a:t> mobile dan </a:t>
            </a:r>
            <a:r>
              <a:rPr lang="en-ID" dirty="0" err="1"/>
              <a:t>menguji</a:t>
            </a:r>
            <a:r>
              <a:rPr lang="en-ID" dirty="0"/>
              <a:t> </a:t>
            </a:r>
            <a:r>
              <a:rPr lang="en-ID" dirty="0" err="1"/>
              <a:t>augmentasi</a:t>
            </a:r>
            <a:r>
              <a:rPr lang="en-ID" dirty="0"/>
              <a:t> </a:t>
            </a:r>
            <a:r>
              <a:rPr lang="en-ID" dirty="0" err="1"/>
              <a:t>TimeGAN</a:t>
            </a:r>
            <a:r>
              <a:rPr lang="en-ID" dirty="0"/>
              <a:t>.</a:t>
            </a:r>
          </a:p>
          <a:p>
            <a:pPr rtl="0"/>
            <a:endParaRPr lang="en-ID" dirty="0"/>
          </a:p>
          <a:p>
            <a:pPr rtl="0"/>
            <a:r>
              <a:rPr lang="en-ID" dirty="0" err="1"/>
              <a:t>Sehingga</a:t>
            </a:r>
            <a:r>
              <a:rPr lang="en-ID" dirty="0"/>
              <a:t> </a:t>
            </a:r>
            <a:r>
              <a:rPr lang="en-ID" dirty="0" err="1"/>
              <a:t>kebaruan</a:t>
            </a:r>
            <a:r>
              <a:rPr lang="en-ID" dirty="0"/>
              <a:t> </a:t>
            </a:r>
            <a:r>
              <a:rPr lang="en-ID" dirty="0" err="1"/>
              <a:t>penelitian</a:t>
            </a:r>
            <a:r>
              <a:rPr lang="en-ID" dirty="0"/>
              <a:t> </a:t>
            </a:r>
            <a:r>
              <a:rPr lang="en-ID" dirty="0" err="1"/>
              <a:t>ini</a:t>
            </a:r>
            <a:r>
              <a:rPr lang="en-ID" dirty="0"/>
              <a:t> </a:t>
            </a:r>
            <a:r>
              <a:rPr lang="en-ID" dirty="0" err="1"/>
              <a:t>terletak</a:t>
            </a:r>
            <a:r>
              <a:rPr lang="en-ID" dirty="0"/>
              <a:t> pada </a:t>
            </a:r>
            <a:r>
              <a:rPr lang="en-ID" dirty="0" err="1"/>
              <a:t>penerapan</a:t>
            </a:r>
            <a:r>
              <a:rPr lang="en-ID" dirty="0"/>
              <a:t> LSTM di dataset </a:t>
            </a:r>
            <a:r>
              <a:rPr lang="en-ID" dirty="0" err="1"/>
              <a:t>berskala</a:t>
            </a:r>
            <a:r>
              <a:rPr lang="en-ID" dirty="0"/>
              <a:t> </a:t>
            </a:r>
            <a:r>
              <a:rPr lang="en-ID" dirty="0" err="1"/>
              <a:t>kecil</a:t>
            </a:r>
            <a:r>
              <a:rPr lang="en-ID" dirty="0"/>
              <a:t> </a:t>
            </a:r>
            <a:r>
              <a:rPr lang="en-ID" dirty="0" err="1"/>
              <a:t>dengan</a:t>
            </a:r>
            <a:r>
              <a:rPr lang="en-ID" dirty="0"/>
              <a:t> </a:t>
            </a:r>
            <a:r>
              <a:rPr lang="en-ID" dirty="0" err="1"/>
              <a:t>deret</a:t>
            </a:r>
            <a:r>
              <a:rPr lang="en-ID" dirty="0"/>
              <a:t> yang </a:t>
            </a:r>
            <a:r>
              <a:rPr lang="en-ID" dirty="0" err="1"/>
              <a:t>tidak</a:t>
            </a:r>
            <a:r>
              <a:rPr lang="en-ID" dirty="0"/>
              <a:t> </a:t>
            </a:r>
            <a:r>
              <a:rPr lang="en-ID" dirty="0" err="1"/>
              <a:t>sinambung</a:t>
            </a:r>
            <a:r>
              <a:rPr lang="en-ID" dirty="0"/>
              <a:t>, </a:t>
            </a:r>
            <a:r>
              <a:rPr lang="en-ID" dirty="0" err="1"/>
              <a:t>pengujian</a:t>
            </a:r>
            <a:r>
              <a:rPr lang="en-ID" dirty="0"/>
              <a:t> </a:t>
            </a:r>
            <a:r>
              <a:rPr lang="en-ID" dirty="0" err="1"/>
              <a:t>kontribusi</a:t>
            </a:r>
            <a:r>
              <a:rPr lang="en-ID" dirty="0"/>
              <a:t> </a:t>
            </a:r>
            <a:r>
              <a:rPr lang="en-ID" dirty="0" err="1"/>
              <a:t>augmentasi</a:t>
            </a:r>
            <a:r>
              <a:rPr lang="en-ID" dirty="0"/>
              <a:t> </a:t>
            </a:r>
            <a:r>
              <a:rPr lang="en-ID" dirty="0" err="1"/>
              <a:t>TimeGAN</a:t>
            </a:r>
            <a:r>
              <a:rPr lang="en-ID" dirty="0"/>
              <a:t>, </a:t>
            </a:r>
            <a:r>
              <a:rPr lang="en-ID" dirty="0" err="1"/>
              <a:t>sekaligus</a:t>
            </a:r>
            <a:r>
              <a:rPr lang="en-ID" dirty="0"/>
              <a:t> </a:t>
            </a:r>
            <a:r>
              <a:rPr lang="en-ID" dirty="0" err="1"/>
              <a:t>integrasi</a:t>
            </a:r>
            <a:r>
              <a:rPr lang="en-ID" dirty="0"/>
              <a:t> model </a:t>
            </a:r>
            <a:r>
              <a:rPr lang="en-ID" dirty="0" err="1"/>
              <a:t>ke</a:t>
            </a:r>
            <a:r>
              <a:rPr lang="en-ID" dirty="0"/>
              <a:t> </a:t>
            </a:r>
            <a:r>
              <a:rPr lang="en-ID" dirty="0" err="1"/>
              <a:t>aplikasi</a:t>
            </a:r>
            <a:r>
              <a:rPr lang="en-ID" dirty="0"/>
              <a:t> POS </a:t>
            </a:r>
            <a:r>
              <a:rPr lang="en-ID" dirty="0" err="1"/>
              <a:t>nyata</a:t>
            </a:r>
            <a:r>
              <a:rPr lang="en-ID" dirty="0"/>
              <a:t> dan </a:t>
            </a:r>
            <a:r>
              <a:rPr lang="en-ID" dirty="0" err="1"/>
              <a:t>evaluasinya</a:t>
            </a:r>
            <a:r>
              <a:rPr lang="en-ID" dirty="0"/>
              <a:t> </a:t>
            </a:r>
            <a:r>
              <a:rPr lang="en-ID" dirty="0" err="1"/>
              <a:t>terhadap</a:t>
            </a:r>
            <a:r>
              <a:rPr lang="en-ID" dirty="0"/>
              <a:t> baseline seasonal-naive — </a:t>
            </a:r>
            <a:r>
              <a:rPr lang="en-ID" dirty="0" err="1"/>
              <a:t>ketiganya</a:t>
            </a:r>
            <a:r>
              <a:rPr lang="en-ID" dirty="0"/>
              <a:t> </a:t>
            </a:r>
            <a:r>
              <a:rPr lang="en-ID" dirty="0" err="1"/>
              <a:t>belum</a:t>
            </a:r>
            <a:r>
              <a:rPr lang="en-ID" dirty="0"/>
              <a:t> </a:t>
            </a:r>
            <a:r>
              <a:rPr lang="en-ID" dirty="0" err="1"/>
              <a:t>pernah</a:t>
            </a:r>
            <a:r>
              <a:rPr lang="en-ID" dirty="0"/>
              <a:t> </a:t>
            </a:r>
            <a:r>
              <a:rPr lang="en-ID" dirty="0" err="1"/>
              <a:t>dilakukan</a:t>
            </a:r>
            <a:r>
              <a:rPr lang="en-ID" dirty="0"/>
              <a:t> </a:t>
            </a:r>
            <a:r>
              <a:rPr lang="en-ID" dirty="0" err="1"/>
              <a:t>secara</a:t>
            </a:r>
            <a:r>
              <a:rPr lang="en-ID" dirty="0"/>
              <a:t> </a:t>
            </a:r>
            <a:r>
              <a:rPr lang="en-ID" dirty="0" err="1"/>
              <a:t>bersamaan</a:t>
            </a:r>
            <a:r>
              <a:rPr lang="en-ID" dirty="0"/>
              <a:t> pada </a:t>
            </a:r>
            <a:r>
              <a:rPr lang="en-ID" dirty="0" err="1"/>
              <a:t>penelitian</a:t>
            </a:r>
            <a:r>
              <a:rPr lang="en-ID" dirty="0"/>
              <a:t> </a:t>
            </a:r>
            <a:r>
              <a:rPr lang="en-ID" dirty="0" err="1"/>
              <a:t>terdahulu</a:t>
            </a:r>
            <a:r>
              <a:rPr lang="en-ID" dirty="0"/>
              <a:t>.</a:t>
            </a:r>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6</a:t>
            </a:fld>
            <a:endParaRPr lang="en-ID"/>
          </a:p>
        </p:txBody>
      </p:sp>
    </p:spTree>
    <p:extLst>
      <p:ext uri="{BB962C8B-B14F-4D97-AF65-F5344CB8AC3E}">
        <p14:creationId xmlns:p14="http://schemas.microsoft.com/office/powerpoint/2010/main" val="404269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t>Slide </a:t>
            </a:r>
            <a:r>
              <a:rPr lang="en-ID" dirty="0" err="1"/>
              <a:t>ini</a:t>
            </a:r>
            <a:r>
              <a:rPr lang="en-ID" dirty="0"/>
              <a:t> </a:t>
            </a:r>
            <a:r>
              <a:rPr lang="en-ID" dirty="0" err="1"/>
              <a:t>menampilkan</a:t>
            </a:r>
            <a:r>
              <a:rPr lang="en-ID" dirty="0"/>
              <a:t> </a:t>
            </a:r>
            <a:r>
              <a:rPr lang="en-ID" dirty="0" err="1"/>
              <a:t>alur</a:t>
            </a:r>
            <a:r>
              <a:rPr lang="en-ID" dirty="0"/>
              <a:t> </a:t>
            </a:r>
            <a:r>
              <a:rPr lang="en-ID" dirty="0" err="1"/>
              <a:t>penelitian</a:t>
            </a:r>
            <a:r>
              <a:rPr lang="en-ID" dirty="0"/>
              <a:t> yang </a:t>
            </a:r>
            <a:r>
              <a:rPr lang="en-ID" dirty="0" err="1"/>
              <a:t>saya</a:t>
            </a:r>
            <a:r>
              <a:rPr lang="en-ID" dirty="0"/>
              <a:t> </a:t>
            </a:r>
            <a:r>
              <a:rPr lang="en-ID" dirty="0" err="1"/>
              <a:t>jalankan</a:t>
            </a:r>
            <a:r>
              <a:rPr lang="en-ID" dirty="0"/>
              <a:t>.</a:t>
            </a:r>
          </a:p>
          <a:p>
            <a:r>
              <a:rPr lang="en-ID" dirty="0" err="1"/>
              <a:t>Dimulai</a:t>
            </a:r>
            <a:r>
              <a:rPr lang="en-ID" dirty="0"/>
              <a:t> </a:t>
            </a:r>
            <a:r>
              <a:rPr lang="en-ID" dirty="0" err="1"/>
              <a:t>dari</a:t>
            </a:r>
            <a:r>
              <a:rPr lang="en-ID" dirty="0"/>
              <a:t> </a:t>
            </a:r>
            <a:r>
              <a:rPr lang="en-ID" dirty="0" err="1"/>
              <a:t>studi</a:t>
            </a:r>
            <a:r>
              <a:rPr lang="en-ID" dirty="0"/>
              <a:t> </a:t>
            </a:r>
            <a:r>
              <a:rPr lang="en-ID" dirty="0" err="1"/>
              <a:t>literatur</a:t>
            </a:r>
            <a:r>
              <a:rPr lang="en-ID" dirty="0"/>
              <a:t> dan </a:t>
            </a:r>
            <a:r>
              <a:rPr lang="en-ID" dirty="0" err="1"/>
              <a:t>pengumpulan</a:t>
            </a:r>
            <a:r>
              <a:rPr lang="en-ID" dirty="0"/>
              <a:t> data, </a:t>
            </a:r>
            <a:r>
              <a:rPr lang="en-ID" dirty="0" err="1"/>
              <a:t>kemudian</a:t>
            </a:r>
            <a:r>
              <a:rPr lang="en-ID" dirty="0"/>
              <a:t> </a:t>
            </a:r>
            <a:r>
              <a:rPr lang="en-ID" dirty="0" err="1"/>
              <a:t>praproses</a:t>
            </a:r>
            <a:r>
              <a:rPr lang="en-ID" dirty="0"/>
              <a:t> data yang </a:t>
            </a:r>
            <a:r>
              <a:rPr lang="en-ID" dirty="0" err="1"/>
              <a:t>mencakup</a:t>
            </a:r>
            <a:r>
              <a:rPr lang="en-ID" dirty="0"/>
              <a:t> </a:t>
            </a:r>
            <a:r>
              <a:rPr lang="en-ID" dirty="0" err="1"/>
              <a:t>penyaringan</a:t>
            </a:r>
            <a:r>
              <a:rPr lang="en-ID" dirty="0"/>
              <a:t> </a:t>
            </a:r>
            <a:r>
              <a:rPr lang="en-ID" dirty="0" err="1"/>
              <a:t>transaksi</a:t>
            </a:r>
            <a:r>
              <a:rPr lang="en-ID" dirty="0"/>
              <a:t> </a:t>
            </a:r>
            <a:r>
              <a:rPr lang="en-ID" dirty="0" err="1"/>
              <a:t>lunas</a:t>
            </a:r>
            <a:r>
              <a:rPr lang="en-ID" dirty="0"/>
              <a:t>, </a:t>
            </a:r>
            <a:r>
              <a:rPr lang="en-ID" dirty="0" err="1"/>
              <a:t>agregasi</a:t>
            </a:r>
            <a:r>
              <a:rPr lang="en-ID" dirty="0"/>
              <a:t> </a:t>
            </a:r>
            <a:r>
              <a:rPr lang="en-ID" dirty="0" err="1"/>
              <a:t>harian</a:t>
            </a:r>
            <a:r>
              <a:rPr lang="en-ID" dirty="0"/>
              <a:t>, </a:t>
            </a:r>
            <a:r>
              <a:rPr lang="en-ID" dirty="0" err="1"/>
              <a:t>normalisasi</a:t>
            </a:r>
            <a:r>
              <a:rPr lang="en-ID" dirty="0"/>
              <a:t>, dan </a:t>
            </a:r>
            <a:r>
              <a:rPr lang="en-ID" dirty="0" err="1"/>
              <a:t>pembentukan</a:t>
            </a:r>
            <a:r>
              <a:rPr lang="en-ID" dirty="0"/>
              <a:t> sliding window. </a:t>
            </a:r>
            <a:r>
              <a:rPr lang="en-ID" dirty="0" err="1"/>
              <a:t>Selanjutnya</a:t>
            </a:r>
            <a:r>
              <a:rPr lang="en-ID" dirty="0"/>
              <a:t> </a:t>
            </a:r>
            <a:r>
              <a:rPr lang="en-ID" dirty="0" err="1"/>
              <a:t>masuk</a:t>
            </a:r>
            <a:r>
              <a:rPr lang="en-ID" dirty="0"/>
              <a:t> </a:t>
            </a:r>
            <a:r>
              <a:rPr lang="en-ID" dirty="0" err="1"/>
              <a:t>ke</a:t>
            </a:r>
            <a:r>
              <a:rPr lang="en-ID" dirty="0"/>
              <a:t> </a:t>
            </a:r>
            <a:r>
              <a:rPr lang="en-ID" dirty="0" err="1"/>
              <a:t>tahap</a:t>
            </a:r>
            <a:r>
              <a:rPr lang="en-ID" dirty="0"/>
              <a:t> </a:t>
            </a:r>
            <a:r>
              <a:rPr lang="en-ID" dirty="0" err="1"/>
              <a:t>pelatihan</a:t>
            </a:r>
            <a:r>
              <a:rPr lang="en-ID" dirty="0"/>
              <a:t> model LSTM </a:t>
            </a:r>
            <a:r>
              <a:rPr lang="en-ID" dirty="0" err="1"/>
              <a:t>beserta</a:t>
            </a:r>
            <a:r>
              <a:rPr lang="en-ID" dirty="0"/>
              <a:t> </a:t>
            </a:r>
            <a:r>
              <a:rPr lang="en-ID" dirty="0" err="1"/>
              <a:t>skenario</a:t>
            </a:r>
            <a:r>
              <a:rPr lang="en-ID" dirty="0"/>
              <a:t> </a:t>
            </a:r>
            <a:r>
              <a:rPr lang="en-ID" dirty="0" err="1"/>
              <a:t>augmentasi</a:t>
            </a:r>
            <a:r>
              <a:rPr lang="en-ID" dirty="0"/>
              <a:t> </a:t>
            </a:r>
            <a:r>
              <a:rPr lang="en-ID" dirty="0" err="1"/>
              <a:t>TimeGAN</a:t>
            </a:r>
            <a:r>
              <a:rPr lang="en-ID" dirty="0"/>
              <a:t>, </a:t>
            </a:r>
            <a:r>
              <a:rPr lang="en-ID" dirty="0" err="1"/>
              <a:t>lalu</a:t>
            </a:r>
            <a:r>
              <a:rPr lang="en-ID" dirty="0"/>
              <a:t> </a:t>
            </a:r>
            <a:r>
              <a:rPr lang="en-ID" dirty="0" err="1"/>
              <a:t>evaluasi</a:t>
            </a:r>
            <a:r>
              <a:rPr lang="en-ID" dirty="0"/>
              <a:t> </a:t>
            </a:r>
            <a:r>
              <a:rPr lang="en-ID" dirty="0" err="1"/>
              <a:t>terhadap</a:t>
            </a:r>
            <a:r>
              <a:rPr lang="en-ID" dirty="0"/>
              <a:t> baseline </a:t>
            </a:r>
            <a:r>
              <a:rPr lang="en-ID" dirty="0" err="1"/>
              <a:t>menggunakan</a:t>
            </a:r>
            <a:r>
              <a:rPr lang="en-ID" dirty="0"/>
              <a:t> </a:t>
            </a:r>
            <a:r>
              <a:rPr lang="en-ID" dirty="0" err="1"/>
              <a:t>metrik</a:t>
            </a:r>
            <a:r>
              <a:rPr lang="en-ID" dirty="0"/>
              <a:t> yang </a:t>
            </a:r>
            <a:r>
              <a:rPr lang="en-ID" dirty="0" err="1"/>
              <a:t>sudah</a:t>
            </a:r>
            <a:r>
              <a:rPr lang="en-ID" dirty="0"/>
              <a:t> </a:t>
            </a:r>
            <a:r>
              <a:rPr lang="en-ID" dirty="0" err="1"/>
              <a:t>disebutkan</a:t>
            </a:r>
            <a:r>
              <a:rPr lang="en-ID" dirty="0"/>
              <a:t>.</a:t>
            </a:r>
          </a:p>
          <a:p>
            <a:r>
              <a:rPr lang="en-ID" dirty="0" err="1"/>
              <a:t>Tahap</a:t>
            </a:r>
            <a:r>
              <a:rPr lang="en-ID" dirty="0"/>
              <a:t> </a:t>
            </a:r>
            <a:r>
              <a:rPr lang="en-ID" dirty="0" err="1"/>
              <a:t>terakhir</a:t>
            </a:r>
            <a:r>
              <a:rPr lang="en-ID" dirty="0"/>
              <a:t> </a:t>
            </a:r>
            <a:r>
              <a:rPr lang="en-ID" dirty="0" err="1"/>
              <a:t>adalah</a:t>
            </a:r>
            <a:r>
              <a:rPr lang="en-ID" dirty="0"/>
              <a:t> </a:t>
            </a:r>
            <a:r>
              <a:rPr lang="en-ID" dirty="0" err="1"/>
              <a:t>integrasi</a:t>
            </a:r>
            <a:r>
              <a:rPr lang="en-ID" dirty="0"/>
              <a:t> model </a:t>
            </a:r>
            <a:r>
              <a:rPr lang="en-ID" dirty="0" err="1"/>
              <a:t>ke</a:t>
            </a:r>
            <a:r>
              <a:rPr lang="en-ID" dirty="0"/>
              <a:t> </a:t>
            </a:r>
            <a:r>
              <a:rPr lang="en-ID" dirty="0" err="1"/>
              <a:t>aplikasi</a:t>
            </a:r>
            <a:r>
              <a:rPr lang="en-ID" dirty="0"/>
              <a:t> POS dan </a:t>
            </a:r>
            <a:r>
              <a:rPr lang="en-ID" dirty="0" err="1"/>
              <a:t>pengujian</a:t>
            </a:r>
            <a:r>
              <a:rPr lang="en-ID" dirty="0"/>
              <a:t> </a:t>
            </a:r>
            <a:r>
              <a:rPr lang="en-ID" dirty="0" err="1"/>
              <a:t>sistem</a:t>
            </a:r>
            <a:r>
              <a:rPr lang="en-ID" dirty="0"/>
              <a:t>, </a:t>
            </a:r>
            <a:r>
              <a:rPr lang="en-ID" dirty="0" err="1"/>
              <a:t>sebelum</a:t>
            </a:r>
            <a:r>
              <a:rPr lang="en-ID" dirty="0"/>
              <a:t> </a:t>
            </a:r>
            <a:r>
              <a:rPr lang="en-ID" dirty="0" err="1"/>
              <a:t>akhirnya</a:t>
            </a:r>
            <a:r>
              <a:rPr lang="en-ID" dirty="0"/>
              <a:t> </a:t>
            </a:r>
            <a:r>
              <a:rPr lang="en-ID" dirty="0" err="1"/>
              <a:t>penarikan</a:t>
            </a:r>
            <a:r>
              <a:rPr lang="en-ID" dirty="0"/>
              <a:t> </a:t>
            </a:r>
            <a:r>
              <a:rPr lang="en-ID" dirty="0" err="1"/>
              <a:t>simpulan</a:t>
            </a:r>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7</a:t>
            </a:fld>
            <a:endParaRPr lang="en-ID"/>
          </a:p>
        </p:txBody>
      </p:sp>
    </p:spTree>
    <p:extLst>
      <p:ext uri="{BB962C8B-B14F-4D97-AF65-F5344CB8AC3E}">
        <p14:creationId xmlns:p14="http://schemas.microsoft.com/office/powerpoint/2010/main" val="2192850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err="1"/>
              <a:t>Selanjutnya</a:t>
            </a:r>
            <a:r>
              <a:rPr lang="en-ID" dirty="0"/>
              <a:t> </a:t>
            </a:r>
            <a:r>
              <a:rPr lang="en-ID" dirty="0" err="1"/>
              <a:t>arsitektur</a:t>
            </a:r>
            <a:r>
              <a:rPr lang="en-ID" dirty="0"/>
              <a:t> </a:t>
            </a:r>
            <a:r>
              <a:rPr lang="en-ID" dirty="0" err="1"/>
              <a:t>sistem</a:t>
            </a:r>
            <a:r>
              <a:rPr lang="en-ID" dirty="0"/>
              <a:t> yang </a:t>
            </a:r>
            <a:r>
              <a:rPr lang="en-ID" dirty="0" err="1"/>
              <a:t>dibangun</a:t>
            </a:r>
            <a:r>
              <a:rPr lang="en-ID" dirty="0"/>
              <a:t>.</a:t>
            </a:r>
          </a:p>
          <a:p>
            <a:pPr rtl="0"/>
            <a:endParaRPr lang="en-ID" dirty="0"/>
          </a:p>
          <a:p>
            <a:pPr rtl="0"/>
            <a:r>
              <a:rPr lang="en-ID" dirty="0"/>
              <a:t>Aplikasi POS </a:t>
            </a:r>
            <a:r>
              <a:rPr lang="en-ID" dirty="0" err="1"/>
              <a:t>dibangun</a:t>
            </a:r>
            <a:r>
              <a:rPr lang="en-ID" dirty="0"/>
              <a:t> </a:t>
            </a:r>
            <a:r>
              <a:rPr lang="en-ID" dirty="0" err="1"/>
              <a:t>dengan</a:t>
            </a:r>
            <a:r>
              <a:rPr lang="en-ID" dirty="0"/>
              <a:t> Flutter </a:t>
            </a:r>
            <a:r>
              <a:rPr lang="en-ID" dirty="0" err="1"/>
              <a:t>untuk</a:t>
            </a:r>
            <a:r>
              <a:rPr lang="en-ID" dirty="0"/>
              <a:t> Android, </a:t>
            </a:r>
            <a:r>
              <a:rPr lang="en-ID" dirty="0" err="1"/>
              <a:t>menggunakan</a:t>
            </a:r>
            <a:r>
              <a:rPr lang="en-ID" dirty="0"/>
              <a:t> </a:t>
            </a:r>
            <a:r>
              <a:rPr lang="en-ID" dirty="0" err="1"/>
              <a:t>arsitektur</a:t>
            </a:r>
            <a:r>
              <a:rPr lang="en-ID" dirty="0"/>
              <a:t> offline-first — </a:t>
            </a:r>
            <a:r>
              <a:rPr lang="en-ID" dirty="0" err="1"/>
              <a:t>artinya</a:t>
            </a:r>
            <a:r>
              <a:rPr lang="en-ID" dirty="0"/>
              <a:t> </a:t>
            </a:r>
            <a:r>
              <a:rPr lang="en-ID" dirty="0" err="1"/>
              <a:t>kasir</a:t>
            </a:r>
            <a:r>
              <a:rPr lang="en-ID" dirty="0"/>
              <a:t> </a:t>
            </a:r>
            <a:r>
              <a:rPr lang="en-ID" dirty="0" err="1"/>
              <a:t>tetap</a:t>
            </a:r>
            <a:r>
              <a:rPr lang="en-ID" dirty="0"/>
              <a:t> </a:t>
            </a:r>
            <a:r>
              <a:rPr lang="en-ID" dirty="0" err="1"/>
              <a:t>dapat</a:t>
            </a:r>
            <a:r>
              <a:rPr lang="en-ID" dirty="0"/>
              <a:t> </a:t>
            </a:r>
            <a:r>
              <a:rPr lang="en-ID" dirty="0" err="1"/>
              <a:t>bertransaksi</a:t>
            </a:r>
            <a:r>
              <a:rPr lang="en-ID" dirty="0"/>
              <a:t> </a:t>
            </a:r>
            <a:r>
              <a:rPr lang="en-ID" dirty="0" err="1"/>
              <a:t>meskipun</a:t>
            </a:r>
            <a:r>
              <a:rPr lang="en-ID" dirty="0"/>
              <a:t> </a:t>
            </a:r>
            <a:r>
              <a:rPr lang="en-ID" dirty="0" err="1"/>
              <a:t>tanpa</a:t>
            </a:r>
            <a:r>
              <a:rPr lang="en-ID" dirty="0"/>
              <a:t> </a:t>
            </a:r>
            <a:r>
              <a:rPr lang="en-ID" dirty="0" err="1"/>
              <a:t>koneksi</a:t>
            </a:r>
            <a:r>
              <a:rPr lang="en-ID" dirty="0"/>
              <a:t> internet. Data </a:t>
            </a:r>
            <a:r>
              <a:rPr lang="en-ID" dirty="0" err="1"/>
              <a:t>transaksi</a:t>
            </a:r>
            <a:r>
              <a:rPr lang="en-ID" dirty="0"/>
              <a:t> </a:t>
            </a:r>
            <a:r>
              <a:rPr lang="en-ID" dirty="0" err="1"/>
              <a:t>disimpan</a:t>
            </a:r>
            <a:r>
              <a:rPr lang="en-ID" dirty="0"/>
              <a:t> </a:t>
            </a:r>
            <a:r>
              <a:rPr lang="en-ID" dirty="0" err="1"/>
              <a:t>sementara</a:t>
            </a:r>
            <a:r>
              <a:rPr lang="en-ID" dirty="0"/>
              <a:t> di Isar DB </a:t>
            </a:r>
            <a:r>
              <a:rPr lang="en-ID" dirty="0" err="1"/>
              <a:t>sebagai</a:t>
            </a:r>
            <a:r>
              <a:rPr lang="en-ID" dirty="0"/>
              <a:t> </a:t>
            </a:r>
            <a:r>
              <a:rPr lang="en-ID" dirty="0" err="1"/>
              <a:t>penyimpanan</a:t>
            </a:r>
            <a:r>
              <a:rPr lang="en-ID" dirty="0"/>
              <a:t> </a:t>
            </a:r>
            <a:r>
              <a:rPr lang="en-ID" dirty="0" err="1"/>
              <a:t>lokal</a:t>
            </a:r>
            <a:r>
              <a:rPr lang="en-ID" dirty="0"/>
              <a:t>, </a:t>
            </a:r>
            <a:r>
              <a:rPr lang="en-ID" dirty="0" err="1"/>
              <a:t>kemudian</a:t>
            </a:r>
            <a:r>
              <a:rPr lang="en-ID" dirty="0"/>
              <a:t> </a:t>
            </a:r>
            <a:r>
              <a:rPr lang="en-ID" dirty="0" err="1"/>
              <a:t>disinkronkan</a:t>
            </a:r>
            <a:r>
              <a:rPr lang="en-ID" dirty="0"/>
              <a:t> </a:t>
            </a:r>
            <a:r>
              <a:rPr lang="en-ID" dirty="0" err="1"/>
              <a:t>otomatis</a:t>
            </a:r>
            <a:r>
              <a:rPr lang="en-ID" dirty="0"/>
              <a:t> </a:t>
            </a:r>
            <a:r>
              <a:rPr lang="en-ID" dirty="0" err="1"/>
              <a:t>ke</a:t>
            </a:r>
            <a:r>
              <a:rPr lang="en-ID" dirty="0"/>
              <a:t> </a:t>
            </a:r>
            <a:r>
              <a:rPr lang="en-ID" dirty="0" err="1"/>
              <a:t>Supabase</a:t>
            </a:r>
            <a:r>
              <a:rPr lang="en-ID" dirty="0"/>
              <a:t> PostgreSQL </a:t>
            </a:r>
            <a:r>
              <a:rPr lang="en-ID" dirty="0" err="1"/>
              <a:t>sebagai</a:t>
            </a:r>
            <a:r>
              <a:rPr lang="en-ID" dirty="0"/>
              <a:t> basis data cloud </a:t>
            </a:r>
            <a:r>
              <a:rPr lang="en-ID" dirty="0" err="1"/>
              <a:t>begitu</a:t>
            </a:r>
            <a:r>
              <a:rPr lang="en-ID" dirty="0"/>
              <a:t> </a:t>
            </a:r>
            <a:r>
              <a:rPr lang="en-ID" dirty="0" err="1"/>
              <a:t>koneksi</a:t>
            </a:r>
            <a:r>
              <a:rPr lang="en-ID" dirty="0"/>
              <a:t> </a:t>
            </a:r>
            <a:r>
              <a:rPr lang="en-ID" dirty="0" err="1"/>
              <a:t>aktif</a:t>
            </a:r>
            <a:r>
              <a:rPr lang="en-ID" dirty="0"/>
              <a:t>.</a:t>
            </a:r>
          </a:p>
          <a:p>
            <a:pPr rtl="0"/>
            <a:endParaRPr lang="en-ID" dirty="0"/>
          </a:p>
          <a:p>
            <a:pPr rtl="0"/>
            <a:r>
              <a:rPr lang="en-ID" dirty="0" err="1"/>
              <a:t>Layanan</a:t>
            </a:r>
            <a:r>
              <a:rPr lang="en-ID" dirty="0"/>
              <a:t> </a:t>
            </a:r>
            <a:r>
              <a:rPr lang="en-ID" dirty="0" err="1"/>
              <a:t>prediksi</a:t>
            </a:r>
            <a:r>
              <a:rPr lang="en-ID" dirty="0"/>
              <a:t> </a:t>
            </a:r>
            <a:r>
              <a:rPr lang="en-ID" dirty="0" err="1"/>
              <a:t>dibuat</a:t>
            </a:r>
            <a:r>
              <a:rPr lang="en-ID" dirty="0"/>
              <a:t> </a:t>
            </a:r>
            <a:r>
              <a:rPr lang="en-ID" dirty="0" err="1"/>
              <a:t>terpisah</a:t>
            </a:r>
            <a:r>
              <a:rPr lang="en-ID" dirty="0"/>
              <a:t> </a:t>
            </a:r>
            <a:r>
              <a:rPr lang="en-ID" dirty="0" err="1"/>
              <a:t>menggunakan</a:t>
            </a:r>
            <a:r>
              <a:rPr lang="en-ID" dirty="0"/>
              <a:t> Python </a:t>
            </a:r>
            <a:r>
              <a:rPr lang="en-ID" dirty="0" err="1"/>
              <a:t>dengan</a:t>
            </a:r>
            <a:r>
              <a:rPr lang="en-ID" dirty="0"/>
              <a:t> TensorFlow dan Flask. Model </a:t>
            </a:r>
            <a:r>
              <a:rPr lang="en-ID" dirty="0" err="1"/>
              <a:t>dilatih</a:t>
            </a:r>
            <a:r>
              <a:rPr lang="en-ID" dirty="0"/>
              <a:t> </a:t>
            </a:r>
            <a:r>
              <a:rPr lang="en-ID" dirty="0" err="1"/>
              <a:t>secara</a:t>
            </a:r>
            <a:r>
              <a:rPr lang="en-ID" dirty="0"/>
              <a:t> luring, </a:t>
            </a:r>
            <a:r>
              <a:rPr lang="en-ID" dirty="0" err="1"/>
              <a:t>lalu</a:t>
            </a:r>
            <a:r>
              <a:rPr lang="en-ID" dirty="0"/>
              <a:t> di-deploy </a:t>
            </a:r>
            <a:r>
              <a:rPr lang="en-ID" dirty="0" err="1"/>
              <a:t>sebagai</a:t>
            </a:r>
            <a:r>
              <a:rPr lang="en-ID" dirty="0"/>
              <a:t> API di Hugging Face. Hasil </a:t>
            </a:r>
            <a:r>
              <a:rPr lang="en-ID" dirty="0" err="1"/>
              <a:t>prediksinya</a:t>
            </a:r>
            <a:r>
              <a:rPr lang="en-ID" dirty="0"/>
              <a:t> </a:t>
            </a:r>
            <a:r>
              <a:rPr lang="en-ID" dirty="0" err="1"/>
              <a:t>diakses</a:t>
            </a:r>
            <a:r>
              <a:rPr lang="en-ID" dirty="0"/>
              <a:t> </a:t>
            </a:r>
            <a:r>
              <a:rPr lang="en-ID" dirty="0" err="1"/>
              <a:t>pengguna</a:t>
            </a:r>
            <a:r>
              <a:rPr lang="en-ID" dirty="0"/>
              <a:t> </a:t>
            </a:r>
            <a:r>
              <a:rPr lang="en-ID" dirty="0" err="1"/>
              <a:t>melalui</a:t>
            </a:r>
            <a:r>
              <a:rPr lang="en-ID" dirty="0"/>
              <a:t> </a:t>
            </a:r>
            <a:r>
              <a:rPr lang="en-ID" dirty="0" err="1"/>
              <a:t>halaman</a:t>
            </a:r>
            <a:r>
              <a:rPr lang="en-ID" dirty="0"/>
              <a:t> Smart Analytics di </a:t>
            </a:r>
            <a:r>
              <a:rPr lang="en-ID" dirty="0" err="1"/>
              <a:t>dalam</a:t>
            </a:r>
            <a:r>
              <a:rPr lang="en-ID" dirty="0"/>
              <a:t> </a:t>
            </a:r>
            <a:r>
              <a:rPr lang="en-ID" dirty="0" err="1"/>
              <a:t>aplikasi</a:t>
            </a:r>
            <a:r>
              <a:rPr lang="en-ID" dirty="0"/>
              <a:t>.</a:t>
            </a:r>
          </a:p>
          <a:p>
            <a:pPr rtl="0"/>
            <a:endParaRPr lang="en-ID" dirty="0"/>
          </a:p>
          <a:p>
            <a:pPr rtl="0"/>
            <a:r>
              <a:rPr lang="en-ID" dirty="0" err="1"/>
              <a:t>Poin</a:t>
            </a:r>
            <a:r>
              <a:rPr lang="en-ID" dirty="0"/>
              <a:t> </a:t>
            </a:r>
            <a:r>
              <a:rPr lang="en-ID" dirty="0" err="1"/>
              <a:t>penting</a:t>
            </a:r>
            <a:r>
              <a:rPr lang="en-ID" dirty="0"/>
              <a:t> </a:t>
            </a:r>
            <a:r>
              <a:rPr lang="en-ID" dirty="0" err="1"/>
              <a:t>dari</a:t>
            </a:r>
            <a:r>
              <a:rPr lang="en-ID" dirty="0"/>
              <a:t> </a:t>
            </a:r>
            <a:r>
              <a:rPr lang="en-ID" dirty="0" err="1"/>
              <a:t>desain</a:t>
            </a:r>
            <a:r>
              <a:rPr lang="en-ID" dirty="0"/>
              <a:t> </a:t>
            </a:r>
            <a:r>
              <a:rPr lang="en-ID" dirty="0" err="1"/>
              <a:t>ini</a:t>
            </a:r>
            <a:r>
              <a:rPr lang="en-ID" dirty="0"/>
              <a:t> </a:t>
            </a:r>
            <a:r>
              <a:rPr lang="en-ID" dirty="0" err="1"/>
              <a:t>adalah</a:t>
            </a:r>
            <a:r>
              <a:rPr lang="en-ID" dirty="0"/>
              <a:t> </a:t>
            </a:r>
            <a:r>
              <a:rPr lang="en-ID" dirty="0" err="1"/>
              <a:t>sifatnya</a:t>
            </a:r>
            <a:r>
              <a:rPr lang="en-ID" dirty="0"/>
              <a:t> yang model-agnostic — </a:t>
            </a:r>
            <a:r>
              <a:rPr lang="en-ID" dirty="0" err="1"/>
              <a:t>penggantian</a:t>
            </a:r>
            <a:r>
              <a:rPr lang="en-ID" dirty="0"/>
              <a:t> </a:t>
            </a:r>
            <a:r>
              <a:rPr lang="en-ID" dirty="0" err="1"/>
              <a:t>metode</a:t>
            </a:r>
            <a:r>
              <a:rPr lang="en-ID" dirty="0"/>
              <a:t> </a:t>
            </a:r>
            <a:r>
              <a:rPr lang="en-ID" dirty="0" err="1"/>
              <a:t>prediksi</a:t>
            </a:r>
            <a:r>
              <a:rPr lang="en-ID" dirty="0"/>
              <a:t> di </a:t>
            </a:r>
            <a:r>
              <a:rPr lang="en-ID" dirty="0" err="1"/>
              <a:t>kemudian</a:t>
            </a:r>
            <a:r>
              <a:rPr lang="en-ID" dirty="0"/>
              <a:t> </a:t>
            </a:r>
            <a:r>
              <a:rPr lang="en-ID" dirty="0" err="1"/>
              <a:t>hari</a:t>
            </a:r>
            <a:r>
              <a:rPr lang="en-ID" dirty="0"/>
              <a:t> </a:t>
            </a:r>
            <a:r>
              <a:rPr lang="en-ID" dirty="0" err="1"/>
              <a:t>tidak</a:t>
            </a:r>
            <a:r>
              <a:rPr lang="en-ID" dirty="0"/>
              <a:t> </a:t>
            </a:r>
            <a:r>
              <a:rPr lang="en-ID" dirty="0" err="1"/>
              <a:t>memerlukan</a:t>
            </a:r>
            <a:r>
              <a:rPr lang="en-ID" dirty="0"/>
              <a:t> </a:t>
            </a:r>
            <a:r>
              <a:rPr lang="en-ID" dirty="0" err="1"/>
              <a:t>perubahan</a:t>
            </a:r>
            <a:r>
              <a:rPr lang="en-ID" dirty="0"/>
              <a:t> pada </a:t>
            </a:r>
            <a:r>
              <a:rPr lang="en-ID" dirty="0" err="1"/>
              <a:t>aplikasi</a:t>
            </a:r>
            <a:r>
              <a:rPr lang="en-ID" dirty="0"/>
              <a:t>. Ini </a:t>
            </a:r>
            <a:r>
              <a:rPr lang="en-ID" dirty="0" err="1"/>
              <a:t>akan</a:t>
            </a:r>
            <a:r>
              <a:rPr lang="en-ID" dirty="0"/>
              <a:t> </a:t>
            </a:r>
            <a:r>
              <a:rPr lang="en-ID" dirty="0" err="1"/>
              <a:t>relevan</a:t>
            </a:r>
            <a:r>
              <a:rPr lang="en-ID" dirty="0"/>
              <a:t> </a:t>
            </a:r>
            <a:r>
              <a:rPr lang="en-ID" dirty="0" err="1"/>
              <a:t>kembali</a:t>
            </a:r>
            <a:r>
              <a:rPr lang="en-ID" dirty="0"/>
              <a:t> pada </a:t>
            </a:r>
            <a:r>
              <a:rPr lang="en-ID" dirty="0" err="1"/>
              <a:t>bagian</a:t>
            </a:r>
            <a:r>
              <a:rPr lang="en-ID" dirty="0"/>
              <a:t> </a:t>
            </a:r>
            <a:r>
              <a:rPr lang="en-ID" dirty="0" err="1"/>
              <a:t>simpulan</a:t>
            </a:r>
            <a:endParaRPr lang="en-ID" dirty="0"/>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8</a:t>
            </a:fld>
            <a:endParaRPr lang="en-ID"/>
          </a:p>
        </p:txBody>
      </p:sp>
    </p:spTree>
    <p:extLst>
      <p:ext uri="{BB962C8B-B14F-4D97-AF65-F5344CB8AC3E}">
        <p14:creationId xmlns:p14="http://schemas.microsoft.com/office/powerpoint/2010/main" val="2544857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err="1"/>
              <a:t>Mengenai</a:t>
            </a:r>
            <a:r>
              <a:rPr lang="en-ID" dirty="0"/>
              <a:t> data. </a:t>
            </a:r>
            <a:r>
              <a:rPr lang="en-ID" dirty="0" err="1"/>
              <a:t>Sumber</a:t>
            </a:r>
            <a:r>
              <a:rPr lang="en-ID" dirty="0"/>
              <a:t> data </a:t>
            </a:r>
            <a:r>
              <a:rPr lang="en-ID" dirty="0" err="1"/>
              <a:t>berupa</a:t>
            </a:r>
            <a:r>
              <a:rPr lang="en-ID" dirty="0"/>
              <a:t> dump SQL platform </a:t>
            </a:r>
            <a:r>
              <a:rPr lang="en-ID" dirty="0" err="1"/>
              <a:t>EatsTEDI</a:t>
            </a:r>
            <a:r>
              <a:rPr lang="en-ID" dirty="0"/>
              <a:t> </a:t>
            </a:r>
            <a:r>
              <a:rPr lang="en-ID" dirty="0" err="1"/>
              <a:t>dari</a:t>
            </a:r>
            <a:r>
              <a:rPr lang="en-ID" dirty="0"/>
              <a:t> </a:t>
            </a:r>
            <a:r>
              <a:rPr lang="en-ID" dirty="0" err="1"/>
              <a:t>Departemen</a:t>
            </a:r>
            <a:r>
              <a:rPr lang="en-ID" dirty="0"/>
              <a:t> Teknik Elektro dan </a:t>
            </a:r>
            <a:r>
              <a:rPr lang="en-ID" dirty="0" err="1"/>
              <a:t>Informatika</a:t>
            </a:r>
            <a:r>
              <a:rPr lang="en-ID" dirty="0"/>
              <a:t> UGM, </a:t>
            </a:r>
            <a:r>
              <a:rPr lang="en-ID" dirty="0" err="1"/>
              <a:t>berukuran</a:t>
            </a:r>
            <a:r>
              <a:rPr lang="en-ID" dirty="0"/>
              <a:t> 32,15 MB </a:t>
            </a:r>
            <a:r>
              <a:rPr lang="en-ID" dirty="0" err="1"/>
              <a:t>dengan</a:t>
            </a:r>
            <a:r>
              <a:rPr lang="en-ID" dirty="0"/>
              <a:t> </a:t>
            </a:r>
            <a:r>
              <a:rPr lang="en-ID" dirty="0" err="1"/>
              <a:t>sekitar</a:t>
            </a:r>
            <a:r>
              <a:rPr lang="en-ID" dirty="0"/>
              <a:t> 395.090 baris, </a:t>
            </a:r>
            <a:r>
              <a:rPr lang="en-ID" dirty="0" err="1"/>
              <a:t>mencakup</a:t>
            </a:r>
            <a:r>
              <a:rPr lang="en-ID" dirty="0"/>
              <a:t> </a:t>
            </a:r>
            <a:r>
              <a:rPr lang="en-ID" dirty="0" err="1"/>
              <a:t>rentang</a:t>
            </a:r>
            <a:r>
              <a:rPr lang="en-ID" dirty="0"/>
              <a:t> 24 Agustus 2024 </a:t>
            </a:r>
            <a:r>
              <a:rPr lang="en-ID" dirty="0" err="1"/>
              <a:t>sampai</a:t>
            </a:r>
            <a:r>
              <a:rPr lang="en-ID" dirty="0"/>
              <a:t> 20 Juni 2026 </a:t>
            </a:r>
            <a:r>
              <a:rPr lang="en-ID" dirty="0" err="1"/>
              <a:t>atau</a:t>
            </a:r>
            <a:r>
              <a:rPr lang="en-ID" dirty="0"/>
              <a:t> 666 </a:t>
            </a:r>
            <a:r>
              <a:rPr lang="en-ID" dirty="0" err="1"/>
              <a:t>hari</a:t>
            </a:r>
            <a:r>
              <a:rPr lang="en-ID" dirty="0"/>
              <a:t> </a:t>
            </a:r>
            <a:r>
              <a:rPr lang="en-ID" dirty="0" err="1"/>
              <a:t>kalender</a:t>
            </a:r>
            <a:r>
              <a:rPr lang="en-ID" dirty="0"/>
              <a:t>.</a:t>
            </a:r>
          </a:p>
          <a:p>
            <a:pPr rtl="0"/>
            <a:endParaRPr lang="en-ID" dirty="0"/>
          </a:p>
          <a:p>
            <a:pPr rtl="0"/>
            <a:r>
              <a:rPr lang="en-ID" dirty="0" err="1"/>
              <a:t>Setelah</a:t>
            </a:r>
            <a:r>
              <a:rPr lang="en-ID" dirty="0"/>
              <a:t> </a:t>
            </a:r>
            <a:r>
              <a:rPr lang="en-ID" dirty="0" err="1"/>
              <a:t>dilakukan</a:t>
            </a:r>
            <a:r>
              <a:rPr lang="en-ID" dirty="0"/>
              <a:t> </a:t>
            </a:r>
            <a:r>
              <a:rPr lang="en-ID" dirty="0" err="1"/>
              <a:t>penyaringan</a:t>
            </a:r>
            <a:r>
              <a:rPr lang="en-ID" dirty="0"/>
              <a:t> status </a:t>
            </a:r>
            <a:r>
              <a:rPr lang="en-ID" dirty="0" err="1"/>
              <a:t>lunas</a:t>
            </a:r>
            <a:r>
              <a:rPr lang="en-ID" dirty="0"/>
              <a:t> dan </a:t>
            </a:r>
            <a:r>
              <a:rPr lang="en-ID" dirty="0" err="1"/>
              <a:t>agregasi</a:t>
            </a:r>
            <a:r>
              <a:rPr lang="en-ID" dirty="0"/>
              <a:t> </a:t>
            </a:r>
            <a:r>
              <a:rPr lang="en-ID" dirty="0" err="1"/>
              <a:t>harian</a:t>
            </a:r>
            <a:r>
              <a:rPr lang="en-ID" dirty="0"/>
              <a:t>, dataset final yang </a:t>
            </a:r>
            <a:r>
              <a:rPr lang="en-ID" dirty="0" err="1"/>
              <a:t>diperoleh</a:t>
            </a:r>
            <a:r>
              <a:rPr lang="en-ID" dirty="0"/>
              <a:t> </a:t>
            </a:r>
            <a:r>
              <a:rPr lang="en-ID" dirty="0" err="1"/>
              <a:t>adalah</a:t>
            </a:r>
            <a:r>
              <a:rPr lang="en-ID" dirty="0"/>
              <a:t> 313 </a:t>
            </a:r>
            <a:r>
              <a:rPr lang="en-ID" dirty="0" err="1"/>
              <a:t>hari</a:t>
            </a:r>
            <a:r>
              <a:rPr lang="en-ID" dirty="0"/>
              <a:t> </a:t>
            </a:r>
            <a:r>
              <a:rPr lang="en-ID" dirty="0" err="1"/>
              <a:t>dengan</a:t>
            </a:r>
            <a:r>
              <a:rPr lang="en-ID" dirty="0"/>
              <a:t> </a:t>
            </a:r>
            <a:r>
              <a:rPr lang="en-ID" dirty="0" err="1"/>
              <a:t>transaksi</a:t>
            </a:r>
            <a:r>
              <a:rPr lang="en-ID" dirty="0"/>
              <a:t> </a:t>
            </a:r>
            <a:r>
              <a:rPr lang="en-ID" dirty="0" err="1"/>
              <a:t>tercatat</a:t>
            </a:r>
            <a:r>
              <a:rPr lang="en-ID" dirty="0"/>
              <a:t>, </a:t>
            </a:r>
            <a:r>
              <a:rPr lang="en-ID" dirty="0" err="1"/>
              <a:t>dari</a:t>
            </a:r>
            <a:r>
              <a:rPr lang="en-ID" dirty="0"/>
              <a:t> 475 </a:t>
            </a:r>
            <a:r>
              <a:rPr lang="en-ID" dirty="0" err="1"/>
              <a:t>hari</a:t>
            </a:r>
            <a:r>
              <a:rPr lang="en-ID" dirty="0"/>
              <a:t> </a:t>
            </a:r>
            <a:r>
              <a:rPr lang="en-ID" dirty="0" err="1"/>
              <a:t>kerja</a:t>
            </a:r>
            <a:r>
              <a:rPr lang="en-ID" dirty="0"/>
              <a:t> </a:t>
            </a:r>
            <a:r>
              <a:rPr lang="en-ID" dirty="0" err="1"/>
              <a:t>kalender</a:t>
            </a:r>
            <a:r>
              <a:rPr lang="en-ID" dirty="0"/>
              <a:t>. </a:t>
            </a:r>
            <a:r>
              <a:rPr lang="en-ID" dirty="0" err="1"/>
              <a:t>Pemodelan</a:t>
            </a:r>
            <a:r>
              <a:rPr lang="en-ID" dirty="0"/>
              <a:t> </a:t>
            </a:r>
            <a:r>
              <a:rPr lang="en-ID" dirty="0" err="1"/>
              <a:t>dilakukan</a:t>
            </a:r>
            <a:r>
              <a:rPr lang="en-ID" dirty="0"/>
              <a:t> </a:t>
            </a:r>
            <a:r>
              <a:rPr lang="en-ID" dirty="0" err="1"/>
              <a:t>secara</a:t>
            </a:r>
            <a:r>
              <a:rPr lang="en-ID" dirty="0"/>
              <a:t> </a:t>
            </a:r>
            <a:r>
              <a:rPr lang="en-ID" dirty="0" err="1"/>
              <a:t>univariat</a:t>
            </a:r>
            <a:r>
              <a:rPr lang="en-ID" dirty="0"/>
              <a:t> </a:t>
            </a:r>
            <a:r>
              <a:rPr lang="en-ID" dirty="0" err="1"/>
              <a:t>terhadap</a:t>
            </a:r>
            <a:r>
              <a:rPr lang="en-ID" dirty="0"/>
              <a:t> revenue </a:t>
            </a:r>
            <a:r>
              <a:rPr lang="en-ID" dirty="0" err="1"/>
              <a:t>harian</a:t>
            </a:r>
            <a:r>
              <a:rPr lang="en-ID" dirty="0"/>
              <a:t>.</a:t>
            </a:r>
          </a:p>
          <a:p>
            <a:pPr rtl="0"/>
            <a:endParaRPr lang="en-ID" dirty="0"/>
          </a:p>
          <a:p>
            <a:pPr rtl="0"/>
            <a:r>
              <a:rPr lang="en-ID" dirty="0" err="1"/>
              <a:t>Mengapa</a:t>
            </a:r>
            <a:r>
              <a:rPr lang="en-ID" dirty="0"/>
              <a:t> </a:t>
            </a:r>
            <a:r>
              <a:rPr lang="en-ID" dirty="0" err="1"/>
              <a:t>EatsTEDI</a:t>
            </a:r>
            <a:r>
              <a:rPr lang="en-ID" dirty="0"/>
              <a:t> yang </a:t>
            </a:r>
            <a:r>
              <a:rPr lang="en-ID" dirty="0" err="1"/>
              <a:t>dipilih</a:t>
            </a:r>
            <a:r>
              <a:rPr lang="en-ID" dirty="0"/>
              <a:t>? Karena </a:t>
            </a:r>
            <a:r>
              <a:rPr lang="en-ID" dirty="0" err="1"/>
              <a:t>datanya</a:t>
            </a:r>
            <a:r>
              <a:rPr lang="en-ID" dirty="0"/>
              <a:t> </a:t>
            </a:r>
            <a:r>
              <a:rPr lang="en-ID" dirty="0" err="1"/>
              <a:t>mencakup</a:t>
            </a:r>
            <a:r>
              <a:rPr lang="en-ID" dirty="0"/>
              <a:t> </a:t>
            </a:r>
            <a:r>
              <a:rPr lang="en-ID" dirty="0" err="1"/>
              <a:t>empat</a:t>
            </a:r>
            <a:r>
              <a:rPr lang="en-ID" dirty="0"/>
              <a:t> semester </a:t>
            </a:r>
            <a:r>
              <a:rPr lang="en-ID" dirty="0" err="1"/>
              <a:t>berturut-turut</a:t>
            </a:r>
            <a:r>
              <a:rPr lang="en-ID" dirty="0"/>
              <a:t> </a:t>
            </a:r>
            <a:r>
              <a:rPr lang="en-ID" dirty="0" err="1"/>
              <a:t>atau</a:t>
            </a:r>
            <a:r>
              <a:rPr lang="en-ID" dirty="0"/>
              <a:t> dua </a:t>
            </a:r>
            <a:r>
              <a:rPr lang="en-ID" dirty="0" err="1"/>
              <a:t>tahun</a:t>
            </a:r>
            <a:r>
              <a:rPr lang="en-ID" dirty="0"/>
              <a:t> </a:t>
            </a:r>
            <a:r>
              <a:rPr lang="en-ID" dirty="0" err="1"/>
              <a:t>akademik</a:t>
            </a:r>
            <a:r>
              <a:rPr lang="en-ID" dirty="0"/>
              <a:t>, </a:t>
            </a:r>
            <a:r>
              <a:rPr lang="en-ID" dirty="0" err="1"/>
              <a:t>sehingga</a:t>
            </a:r>
            <a:r>
              <a:rPr lang="en-ID" dirty="0"/>
              <a:t> </a:t>
            </a:r>
            <a:r>
              <a:rPr lang="en-ID" dirty="0" err="1"/>
              <a:t>cukup</a:t>
            </a:r>
            <a:r>
              <a:rPr lang="en-ID" dirty="0"/>
              <a:t> kaya </a:t>
            </a:r>
            <a:r>
              <a:rPr lang="en-ID" dirty="0" err="1"/>
              <a:t>pola</a:t>
            </a:r>
            <a:r>
              <a:rPr lang="en-ID" dirty="0"/>
              <a:t> </a:t>
            </a:r>
            <a:r>
              <a:rPr lang="en-ID" dirty="0" err="1"/>
              <a:t>musiman</a:t>
            </a:r>
            <a:r>
              <a:rPr lang="en-ID" dirty="0"/>
              <a:t> — </a:t>
            </a:r>
            <a:r>
              <a:rPr lang="en-ID" dirty="0" err="1"/>
              <a:t>periode</a:t>
            </a:r>
            <a:r>
              <a:rPr lang="en-ID" dirty="0"/>
              <a:t> </a:t>
            </a:r>
            <a:r>
              <a:rPr lang="en-ID" dirty="0" err="1"/>
              <a:t>perkuliahan</a:t>
            </a:r>
            <a:r>
              <a:rPr lang="en-ID" dirty="0"/>
              <a:t>, UTS, UAS, dan </a:t>
            </a:r>
            <a:r>
              <a:rPr lang="en-ID" dirty="0" err="1"/>
              <a:t>libur</a:t>
            </a:r>
            <a:r>
              <a:rPr lang="en-ID" dirty="0"/>
              <a:t> </a:t>
            </a:r>
            <a:r>
              <a:rPr lang="en-ID" dirty="0" err="1"/>
              <a:t>antarsemester</a:t>
            </a:r>
            <a:r>
              <a:rPr lang="en-ID" dirty="0"/>
              <a:t>. </a:t>
            </a:r>
            <a:r>
              <a:rPr lang="en-ID" dirty="0" err="1"/>
              <a:t>Namun</a:t>
            </a:r>
            <a:r>
              <a:rPr lang="en-ID" dirty="0"/>
              <a:t> </a:t>
            </a:r>
            <a:r>
              <a:rPr lang="en-ID" dirty="0" err="1"/>
              <a:t>volumenya</a:t>
            </a:r>
            <a:r>
              <a:rPr lang="en-ID" dirty="0"/>
              <a:t> </a:t>
            </a:r>
            <a:r>
              <a:rPr lang="en-ID" dirty="0" err="1"/>
              <a:t>tetap</a:t>
            </a:r>
            <a:r>
              <a:rPr lang="en-ID" dirty="0"/>
              <a:t> </a:t>
            </a:r>
            <a:r>
              <a:rPr lang="en-ID" dirty="0" err="1"/>
              <a:t>terbatas</a:t>
            </a:r>
            <a:r>
              <a:rPr lang="en-ID" dirty="0"/>
              <a:t>, dan </a:t>
            </a:r>
            <a:r>
              <a:rPr lang="en-ID" dirty="0" err="1"/>
              <a:t>justru</a:t>
            </a:r>
            <a:r>
              <a:rPr lang="en-ID" dirty="0"/>
              <a:t> </a:t>
            </a:r>
            <a:r>
              <a:rPr lang="en-ID" dirty="0" err="1"/>
              <a:t>kondisi</a:t>
            </a:r>
            <a:r>
              <a:rPr lang="en-ID" dirty="0"/>
              <a:t> </a:t>
            </a:r>
            <a:r>
              <a:rPr lang="en-ID" dirty="0" err="1"/>
              <a:t>inilah</a:t>
            </a:r>
            <a:r>
              <a:rPr lang="en-ID" dirty="0"/>
              <a:t> yang </a:t>
            </a:r>
            <a:r>
              <a:rPr lang="en-ID" dirty="0" err="1"/>
              <a:t>saya</a:t>
            </a:r>
            <a:r>
              <a:rPr lang="en-ID" dirty="0"/>
              <a:t> </a:t>
            </a:r>
            <a:r>
              <a:rPr lang="en-ID" dirty="0" err="1"/>
              <a:t>butuhkan</a:t>
            </a:r>
            <a:r>
              <a:rPr lang="en-ID" dirty="0"/>
              <a:t> </a:t>
            </a:r>
            <a:r>
              <a:rPr lang="en-ID" dirty="0" err="1"/>
              <a:t>untuk</a:t>
            </a:r>
            <a:r>
              <a:rPr lang="en-ID" dirty="0"/>
              <a:t> </a:t>
            </a:r>
            <a:r>
              <a:rPr lang="en-ID" dirty="0" err="1"/>
              <a:t>menguji</a:t>
            </a:r>
            <a:r>
              <a:rPr lang="en-ID" dirty="0"/>
              <a:t> </a:t>
            </a:r>
            <a:r>
              <a:rPr lang="en-ID" dirty="0" err="1"/>
              <a:t>secara</a:t>
            </a:r>
            <a:r>
              <a:rPr lang="en-ID" dirty="0"/>
              <a:t> </a:t>
            </a:r>
            <a:r>
              <a:rPr lang="en-ID" dirty="0" err="1"/>
              <a:t>jujur</a:t>
            </a:r>
            <a:r>
              <a:rPr lang="en-ID" dirty="0"/>
              <a:t> </a:t>
            </a:r>
            <a:r>
              <a:rPr lang="en-ID" dirty="0" err="1"/>
              <a:t>nilai</a:t>
            </a:r>
            <a:r>
              <a:rPr lang="en-ID" dirty="0"/>
              <a:t> </a:t>
            </a:r>
            <a:r>
              <a:rPr lang="en-ID" dirty="0" err="1"/>
              <a:t>tambah</a:t>
            </a:r>
            <a:r>
              <a:rPr lang="en-ID" dirty="0"/>
              <a:t> LSTM dan </a:t>
            </a:r>
            <a:r>
              <a:rPr lang="en-ID" dirty="0" err="1"/>
              <a:t>TimeGAN</a:t>
            </a:r>
            <a:r>
              <a:rPr lang="en-ID" dirty="0"/>
              <a:t> pada data </a:t>
            </a:r>
            <a:r>
              <a:rPr lang="en-ID" dirty="0" err="1"/>
              <a:t>berskala</a:t>
            </a:r>
            <a:r>
              <a:rPr lang="en-ID" dirty="0"/>
              <a:t> </a:t>
            </a:r>
            <a:r>
              <a:rPr lang="en-ID" dirty="0" err="1"/>
              <a:t>kecil</a:t>
            </a:r>
            <a:endParaRPr lang="en-ID" dirty="0"/>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9</a:t>
            </a:fld>
            <a:endParaRPr lang="en-ID"/>
          </a:p>
        </p:txBody>
      </p:sp>
    </p:spTree>
    <p:extLst>
      <p:ext uri="{BB962C8B-B14F-4D97-AF65-F5344CB8AC3E}">
        <p14:creationId xmlns:p14="http://schemas.microsoft.com/office/powerpoint/2010/main" val="3333354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a:t>Teknik </a:t>
            </a:r>
            <a:r>
              <a:rPr lang="en-ID" dirty="0" err="1"/>
              <a:t>pengumpulan</a:t>
            </a:r>
            <a:r>
              <a:rPr lang="en-ID" dirty="0"/>
              <a:t> data yang </a:t>
            </a:r>
            <a:r>
              <a:rPr lang="en-ID" dirty="0" err="1"/>
              <a:t>saya</a:t>
            </a:r>
            <a:r>
              <a:rPr lang="en-ID" dirty="0"/>
              <a:t> </a:t>
            </a:r>
            <a:r>
              <a:rPr lang="en-ID" dirty="0" err="1"/>
              <a:t>gunakan</a:t>
            </a:r>
            <a:r>
              <a:rPr lang="en-ID" dirty="0"/>
              <a:t> </a:t>
            </a:r>
            <a:r>
              <a:rPr lang="en-ID" dirty="0" err="1"/>
              <a:t>ada</a:t>
            </a:r>
            <a:r>
              <a:rPr lang="en-ID" dirty="0"/>
              <a:t> </a:t>
            </a:r>
            <a:r>
              <a:rPr lang="en-ID" dirty="0" err="1"/>
              <a:t>empat</a:t>
            </a:r>
            <a:r>
              <a:rPr lang="en-ID" dirty="0"/>
              <a:t>.</a:t>
            </a:r>
          </a:p>
          <a:p>
            <a:pPr rtl="0"/>
            <a:endParaRPr lang="en-ID" dirty="0"/>
          </a:p>
          <a:p>
            <a:pPr rtl="0"/>
            <a:r>
              <a:rPr lang="en-ID" dirty="0" err="1"/>
              <a:t>Pertama</a:t>
            </a:r>
            <a:r>
              <a:rPr lang="en-ID" dirty="0"/>
              <a:t>, </a:t>
            </a:r>
            <a:r>
              <a:rPr lang="en-ID" dirty="0" err="1"/>
              <a:t>studi</a:t>
            </a:r>
            <a:r>
              <a:rPr lang="en-ID" dirty="0"/>
              <a:t> </a:t>
            </a:r>
            <a:r>
              <a:rPr lang="en-ID" dirty="0" err="1"/>
              <a:t>literatur</a:t>
            </a:r>
            <a:r>
              <a:rPr lang="en-ID" dirty="0"/>
              <a:t>, </a:t>
            </a:r>
            <a:r>
              <a:rPr lang="en-ID" dirty="0" err="1"/>
              <a:t>mengkaji</a:t>
            </a:r>
            <a:r>
              <a:rPr lang="en-ID" dirty="0"/>
              <a:t> </a:t>
            </a:r>
            <a:r>
              <a:rPr lang="en-ID" dirty="0" err="1"/>
              <a:t>penelitian</a:t>
            </a:r>
            <a:r>
              <a:rPr lang="en-ID" dirty="0"/>
              <a:t> </a:t>
            </a:r>
            <a:r>
              <a:rPr lang="en-ID" dirty="0" err="1"/>
              <a:t>terdahulu</a:t>
            </a:r>
            <a:r>
              <a:rPr lang="en-ID" dirty="0"/>
              <a:t> </a:t>
            </a:r>
            <a:r>
              <a:rPr lang="en-ID" dirty="0" err="1"/>
              <a:t>tentang</a:t>
            </a:r>
            <a:r>
              <a:rPr lang="en-ID" dirty="0"/>
              <a:t> LSTM, </a:t>
            </a:r>
            <a:r>
              <a:rPr lang="en-ID" dirty="0" err="1"/>
              <a:t>augmentasi</a:t>
            </a:r>
            <a:r>
              <a:rPr lang="en-ID" dirty="0"/>
              <a:t> </a:t>
            </a:r>
            <a:r>
              <a:rPr lang="en-ID" dirty="0" err="1"/>
              <a:t>TimeGAN</a:t>
            </a:r>
            <a:r>
              <a:rPr lang="en-ID" dirty="0"/>
              <a:t>, dan </a:t>
            </a:r>
            <a:r>
              <a:rPr lang="en-ID" dirty="0" err="1"/>
              <a:t>penggunaan</a:t>
            </a:r>
            <a:r>
              <a:rPr lang="en-ID" dirty="0"/>
              <a:t> baseline </a:t>
            </a:r>
            <a:r>
              <a:rPr lang="en-ID" dirty="0" err="1"/>
              <a:t>sebagai</a:t>
            </a:r>
            <a:r>
              <a:rPr lang="en-ID" dirty="0"/>
              <a:t> </a:t>
            </a:r>
            <a:r>
              <a:rPr lang="en-ID" dirty="0" err="1"/>
              <a:t>kontrol</a:t>
            </a:r>
            <a:r>
              <a:rPr lang="en-ID" dirty="0"/>
              <a:t> </a:t>
            </a:r>
            <a:r>
              <a:rPr lang="en-ID" dirty="0" err="1"/>
              <a:t>metodologis</a:t>
            </a:r>
            <a:r>
              <a:rPr lang="en-ID" dirty="0"/>
              <a:t>.</a:t>
            </a:r>
          </a:p>
          <a:p>
            <a:pPr rtl="0"/>
            <a:endParaRPr lang="en-ID" dirty="0"/>
          </a:p>
          <a:p>
            <a:pPr rtl="0"/>
            <a:r>
              <a:rPr lang="en-ID" dirty="0" err="1"/>
              <a:t>Kedua</a:t>
            </a:r>
            <a:r>
              <a:rPr lang="en-ID" dirty="0"/>
              <a:t>, </a:t>
            </a:r>
            <a:r>
              <a:rPr lang="en-ID" dirty="0" err="1"/>
              <a:t>observasi</a:t>
            </a:r>
            <a:r>
              <a:rPr lang="en-ID" dirty="0"/>
              <a:t> dan </a:t>
            </a:r>
            <a:r>
              <a:rPr lang="en-ID" dirty="0" err="1"/>
              <a:t>wawancara</a:t>
            </a:r>
            <a:r>
              <a:rPr lang="en-ID" dirty="0"/>
              <a:t> </a:t>
            </a:r>
            <a:r>
              <a:rPr lang="en-ID" dirty="0" err="1"/>
              <a:t>dengan</a:t>
            </a:r>
            <a:r>
              <a:rPr lang="en-ID" dirty="0"/>
              <a:t> </a:t>
            </a:r>
            <a:r>
              <a:rPr lang="en-ID" dirty="0" err="1"/>
              <a:t>pengelola</a:t>
            </a:r>
            <a:r>
              <a:rPr lang="en-ID" dirty="0"/>
              <a:t> divisi </a:t>
            </a:r>
            <a:r>
              <a:rPr lang="en-ID" dirty="0" err="1"/>
              <a:t>kewirausahaan</a:t>
            </a:r>
            <a:r>
              <a:rPr lang="en-ID" dirty="0"/>
              <a:t> </a:t>
            </a:r>
            <a:r>
              <a:rPr lang="en-ID" dirty="0" err="1"/>
              <a:t>mahasiswa</a:t>
            </a:r>
            <a:r>
              <a:rPr lang="en-ID" dirty="0"/>
              <a:t> platform </a:t>
            </a:r>
            <a:r>
              <a:rPr lang="en-ID" dirty="0" err="1"/>
              <a:t>EatsTEDI</a:t>
            </a:r>
            <a:r>
              <a:rPr lang="en-ID" dirty="0"/>
              <a:t>, </a:t>
            </a:r>
            <a:r>
              <a:rPr lang="en-ID" dirty="0" err="1"/>
              <a:t>untuk</a:t>
            </a:r>
            <a:r>
              <a:rPr lang="en-ID" dirty="0"/>
              <a:t> </a:t>
            </a:r>
            <a:r>
              <a:rPr lang="en-ID" dirty="0" err="1"/>
              <a:t>memahami</a:t>
            </a:r>
            <a:r>
              <a:rPr lang="en-ID" dirty="0"/>
              <a:t> </a:t>
            </a:r>
            <a:r>
              <a:rPr lang="en-ID" dirty="0" err="1"/>
              <a:t>alur</a:t>
            </a:r>
            <a:r>
              <a:rPr lang="en-ID" dirty="0"/>
              <a:t> </a:t>
            </a:r>
            <a:r>
              <a:rPr lang="en-ID" dirty="0" err="1"/>
              <a:t>kasir</a:t>
            </a:r>
            <a:r>
              <a:rPr lang="en-ID" dirty="0"/>
              <a:t>, </a:t>
            </a:r>
            <a:r>
              <a:rPr lang="en-ID" dirty="0" err="1"/>
              <a:t>pencatatan</a:t>
            </a:r>
            <a:r>
              <a:rPr lang="en-ID" dirty="0"/>
              <a:t> menu, dan </a:t>
            </a:r>
            <a:r>
              <a:rPr lang="en-ID" dirty="0" err="1"/>
              <a:t>pengelolaan</a:t>
            </a:r>
            <a:r>
              <a:rPr lang="en-ID" dirty="0"/>
              <a:t> </a:t>
            </a:r>
            <a:r>
              <a:rPr lang="en-ID" dirty="0" err="1"/>
              <a:t>stok</a:t>
            </a:r>
            <a:r>
              <a:rPr lang="en-ID" dirty="0"/>
              <a:t>.</a:t>
            </a:r>
          </a:p>
          <a:p>
            <a:pPr rtl="0"/>
            <a:endParaRPr lang="en-ID" dirty="0"/>
          </a:p>
          <a:p>
            <a:pPr rtl="0"/>
            <a:r>
              <a:rPr lang="en-ID" dirty="0" err="1"/>
              <a:t>Ketiga</a:t>
            </a:r>
            <a:r>
              <a:rPr lang="en-ID" dirty="0"/>
              <a:t>, </a:t>
            </a:r>
            <a:r>
              <a:rPr lang="en-ID" dirty="0" err="1"/>
              <a:t>akuisisi</a:t>
            </a:r>
            <a:r>
              <a:rPr lang="en-ID" dirty="0"/>
              <a:t> data </a:t>
            </a:r>
            <a:r>
              <a:rPr lang="en-ID" dirty="0" err="1"/>
              <a:t>berupa</a:t>
            </a:r>
            <a:r>
              <a:rPr lang="en-ID" dirty="0"/>
              <a:t> dump SQL yang </a:t>
            </a:r>
            <a:r>
              <a:rPr lang="en-ID" dirty="0" err="1"/>
              <a:t>berisi</a:t>
            </a:r>
            <a:r>
              <a:rPr lang="en-ID" dirty="0"/>
              <a:t> </a:t>
            </a:r>
            <a:r>
              <a:rPr lang="en-ID" dirty="0" err="1"/>
              <a:t>tabel</a:t>
            </a:r>
            <a:r>
              <a:rPr lang="en-ID" dirty="0"/>
              <a:t> invoices </a:t>
            </a:r>
            <a:r>
              <a:rPr lang="en-ID" dirty="0" err="1"/>
              <a:t>sebagai</a:t>
            </a:r>
            <a:r>
              <a:rPr lang="en-ID" dirty="0"/>
              <a:t> </a:t>
            </a:r>
            <a:r>
              <a:rPr lang="en-ID" dirty="0" err="1"/>
              <a:t>tabel</a:t>
            </a:r>
            <a:r>
              <a:rPr lang="en-ID" dirty="0"/>
              <a:t> </a:t>
            </a:r>
            <a:r>
              <a:rPr lang="en-ID" dirty="0" err="1"/>
              <a:t>utama</a:t>
            </a:r>
            <a:r>
              <a:rPr lang="en-ID" dirty="0"/>
              <a:t>, </a:t>
            </a:r>
            <a:r>
              <a:rPr lang="en-ID" dirty="0" err="1"/>
              <a:t>beserta</a:t>
            </a:r>
            <a:r>
              <a:rPr lang="en-ID" dirty="0"/>
              <a:t> </a:t>
            </a:r>
            <a:r>
              <a:rPr lang="en-ID" dirty="0" err="1"/>
              <a:t>product_sold</a:t>
            </a:r>
            <a:r>
              <a:rPr lang="en-ID" dirty="0"/>
              <a:t>, products, dan categories.</a:t>
            </a:r>
          </a:p>
          <a:p>
            <a:pPr rtl="0"/>
            <a:endParaRPr lang="en-ID" dirty="0"/>
          </a:p>
          <a:p>
            <a:pPr rtl="0"/>
            <a:r>
              <a:rPr lang="en-ID" dirty="0" err="1"/>
              <a:t>Keempat</a:t>
            </a:r>
            <a:r>
              <a:rPr lang="en-ID" dirty="0"/>
              <a:t>, </a:t>
            </a:r>
            <a:r>
              <a:rPr lang="en-ID" dirty="0" err="1"/>
              <a:t>praproses</a:t>
            </a:r>
            <a:r>
              <a:rPr lang="en-ID" dirty="0"/>
              <a:t> data, </a:t>
            </a:r>
            <a:r>
              <a:rPr lang="en-ID" dirty="0" err="1"/>
              <a:t>mencakup</a:t>
            </a:r>
            <a:r>
              <a:rPr lang="en-ID" dirty="0"/>
              <a:t> </a:t>
            </a:r>
            <a:r>
              <a:rPr lang="en-ID" dirty="0" err="1"/>
              <a:t>penyaringan</a:t>
            </a:r>
            <a:r>
              <a:rPr lang="en-ID" dirty="0"/>
              <a:t> status </a:t>
            </a:r>
            <a:r>
              <a:rPr lang="en-ID" dirty="0" err="1"/>
              <a:t>lunas</a:t>
            </a:r>
            <a:r>
              <a:rPr lang="en-ID" dirty="0"/>
              <a:t>, </a:t>
            </a:r>
            <a:r>
              <a:rPr lang="en-ID" dirty="0" err="1"/>
              <a:t>agregasi</a:t>
            </a:r>
            <a:r>
              <a:rPr lang="en-ID" dirty="0"/>
              <a:t> </a:t>
            </a:r>
            <a:r>
              <a:rPr lang="en-ID" dirty="0" err="1"/>
              <a:t>harian</a:t>
            </a:r>
            <a:r>
              <a:rPr lang="en-ID" dirty="0"/>
              <a:t>, </a:t>
            </a:r>
            <a:r>
              <a:rPr lang="en-ID" dirty="0" err="1"/>
              <a:t>normalisasi</a:t>
            </a:r>
            <a:r>
              <a:rPr lang="en-ID" dirty="0"/>
              <a:t> Min-Max Scaling, dan </a:t>
            </a:r>
            <a:r>
              <a:rPr lang="en-ID" dirty="0" err="1"/>
              <a:t>pembentukan</a:t>
            </a:r>
            <a:r>
              <a:rPr lang="en-ID" dirty="0"/>
              <a:t> </a:t>
            </a:r>
            <a:r>
              <a:rPr lang="en-ID" dirty="0" err="1"/>
              <a:t>sampel</a:t>
            </a:r>
            <a:r>
              <a:rPr lang="en-ID" dirty="0"/>
              <a:t> sliding window</a:t>
            </a:r>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10</a:t>
            </a:fld>
            <a:endParaRPr lang="en-ID"/>
          </a:p>
        </p:txBody>
      </p:sp>
    </p:spTree>
    <p:extLst>
      <p:ext uri="{BB962C8B-B14F-4D97-AF65-F5344CB8AC3E}">
        <p14:creationId xmlns:p14="http://schemas.microsoft.com/office/powerpoint/2010/main" val="3526279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t>Slide </a:t>
            </a:r>
            <a:r>
              <a:rPr lang="en-ID" dirty="0" err="1"/>
              <a:t>ini</a:t>
            </a:r>
            <a:r>
              <a:rPr lang="en-ID" dirty="0"/>
              <a:t> </a:t>
            </a:r>
            <a:r>
              <a:rPr lang="en-ID" dirty="0" err="1"/>
              <a:t>menampilkan</a:t>
            </a:r>
            <a:r>
              <a:rPr lang="en-ID" dirty="0"/>
              <a:t> </a:t>
            </a:r>
            <a:r>
              <a:rPr lang="en-ID" dirty="0" err="1"/>
              <a:t>sekilas</a:t>
            </a:r>
            <a:r>
              <a:rPr lang="en-ID" dirty="0"/>
              <a:t> dataset final yang </a:t>
            </a:r>
            <a:r>
              <a:rPr lang="en-ID" dirty="0" err="1"/>
              <a:t>digunakan</a:t>
            </a:r>
            <a:r>
              <a:rPr lang="en-ID" dirty="0"/>
              <a:t>, </a:t>
            </a:r>
            <a:r>
              <a:rPr lang="en-ID" dirty="0" err="1"/>
              <a:t>yaitu</a:t>
            </a:r>
            <a:r>
              <a:rPr lang="en-ID" dirty="0"/>
              <a:t> file daily_sales.csv — </a:t>
            </a:r>
            <a:r>
              <a:rPr lang="en-ID" dirty="0" err="1"/>
              <a:t>hasil</a:t>
            </a:r>
            <a:r>
              <a:rPr lang="en-ID" dirty="0"/>
              <a:t> </a:t>
            </a:r>
            <a:r>
              <a:rPr lang="en-ID" dirty="0" err="1"/>
              <a:t>agregasi</a:t>
            </a:r>
            <a:r>
              <a:rPr lang="en-ID" dirty="0"/>
              <a:t> </a:t>
            </a:r>
            <a:r>
              <a:rPr lang="en-ID" dirty="0" err="1"/>
              <a:t>harian</a:t>
            </a:r>
            <a:r>
              <a:rPr lang="en-ID" dirty="0"/>
              <a:t> </a:t>
            </a:r>
            <a:r>
              <a:rPr lang="en-ID" dirty="0" err="1"/>
              <a:t>dari</a:t>
            </a:r>
            <a:r>
              <a:rPr lang="en-ID" dirty="0"/>
              <a:t> dump SQL </a:t>
            </a:r>
            <a:r>
              <a:rPr lang="en-ID" dirty="0" err="1"/>
              <a:t>EatsTEDI</a:t>
            </a:r>
            <a:r>
              <a:rPr lang="en-ID" dirty="0"/>
              <a:t>. </a:t>
            </a:r>
            <a:r>
              <a:rPr lang="en-ID" dirty="0" err="1"/>
              <a:t>Terlihat</a:t>
            </a:r>
            <a:r>
              <a:rPr lang="en-ID" dirty="0"/>
              <a:t> </a:t>
            </a:r>
            <a:r>
              <a:rPr lang="en-ID" dirty="0" err="1"/>
              <a:t>struktur</a:t>
            </a:r>
            <a:r>
              <a:rPr lang="en-ID" dirty="0"/>
              <a:t> </a:t>
            </a:r>
            <a:r>
              <a:rPr lang="en-ID" dirty="0" err="1"/>
              <a:t>datanya</a:t>
            </a:r>
            <a:r>
              <a:rPr lang="en-ID" dirty="0"/>
              <a:t> </a:t>
            </a:r>
            <a:r>
              <a:rPr lang="en-ID" dirty="0" err="1"/>
              <a:t>sederhana</a:t>
            </a:r>
            <a:r>
              <a:rPr lang="en-ID" dirty="0"/>
              <a:t>: </a:t>
            </a:r>
            <a:r>
              <a:rPr lang="en-ID" dirty="0" err="1"/>
              <a:t>kolom</a:t>
            </a:r>
            <a:r>
              <a:rPr lang="en-ID" dirty="0"/>
              <a:t> </a:t>
            </a:r>
            <a:r>
              <a:rPr lang="en-ID" dirty="0" err="1"/>
              <a:t>tanggal</a:t>
            </a:r>
            <a:r>
              <a:rPr lang="en-ID" dirty="0"/>
              <a:t> dan total </a:t>
            </a:r>
            <a:r>
              <a:rPr lang="en-ID" dirty="0" err="1"/>
              <a:t>penjualan</a:t>
            </a:r>
            <a:r>
              <a:rPr lang="en-ID" dirty="0"/>
              <a:t> </a:t>
            </a:r>
            <a:r>
              <a:rPr lang="en-ID" dirty="0" err="1"/>
              <a:t>harian</a:t>
            </a:r>
            <a:r>
              <a:rPr lang="en-ID" dirty="0"/>
              <a:t>. Dari </a:t>
            </a:r>
            <a:r>
              <a:rPr lang="en-ID" dirty="0" err="1"/>
              <a:t>grafik</a:t>
            </a:r>
            <a:r>
              <a:rPr lang="en-ID" dirty="0"/>
              <a:t>/</a:t>
            </a:r>
            <a:r>
              <a:rPr lang="en-ID" dirty="0" err="1"/>
              <a:t>tabel</a:t>
            </a:r>
            <a:r>
              <a:rPr lang="en-ID" dirty="0"/>
              <a:t> </a:t>
            </a:r>
            <a:r>
              <a:rPr lang="en-ID" dirty="0" err="1"/>
              <a:t>ini</a:t>
            </a:r>
            <a:r>
              <a:rPr lang="en-ID" dirty="0"/>
              <a:t> juga </a:t>
            </a:r>
            <a:r>
              <a:rPr lang="en-ID" dirty="0" err="1"/>
              <a:t>terlihat</a:t>
            </a:r>
            <a:r>
              <a:rPr lang="en-ID" dirty="0"/>
              <a:t> </a:t>
            </a:r>
            <a:r>
              <a:rPr lang="en-ID" dirty="0" err="1"/>
              <a:t>karakteristik</a:t>
            </a:r>
            <a:r>
              <a:rPr lang="en-ID" dirty="0"/>
              <a:t> yang </a:t>
            </a:r>
            <a:r>
              <a:rPr lang="en-ID" dirty="0" err="1"/>
              <a:t>menjadi</a:t>
            </a:r>
            <a:r>
              <a:rPr lang="en-ID" dirty="0"/>
              <a:t> </a:t>
            </a:r>
            <a:r>
              <a:rPr lang="en-ID" dirty="0" err="1"/>
              <a:t>tantangan</a:t>
            </a:r>
            <a:r>
              <a:rPr lang="en-ID" dirty="0"/>
              <a:t> </a:t>
            </a:r>
            <a:r>
              <a:rPr lang="en-ID" dirty="0" err="1"/>
              <a:t>utama</a:t>
            </a:r>
            <a:r>
              <a:rPr lang="en-ID" dirty="0"/>
              <a:t> </a:t>
            </a:r>
            <a:r>
              <a:rPr lang="en-ID" dirty="0" err="1"/>
              <a:t>penelitian</a:t>
            </a:r>
            <a:r>
              <a:rPr lang="en-ID" dirty="0"/>
              <a:t>, </a:t>
            </a:r>
            <a:r>
              <a:rPr lang="en-ID" dirty="0" err="1"/>
              <a:t>yaitu</a:t>
            </a:r>
            <a:r>
              <a:rPr lang="en-ID" dirty="0"/>
              <a:t> </a:t>
            </a:r>
            <a:r>
              <a:rPr lang="en-ID" dirty="0" err="1"/>
              <a:t>deret</a:t>
            </a:r>
            <a:r>
              <a:rPr lang="en-ID" dirty="0"/>
              <a:t> </a:t>
            </a:r>
            <a:r>
              <a:rPr lang="en-ID" dirty="0" err="1"/>
              <a:t>waktu</a:t>
            </a:r>
            <a:r>
              <a:rPr lang="en-ID" dirty="0"/>
              <a:t> yang </a:t>
            </a:r>
            <a:r>
              <a:rPr lang="en-ID" dirty="0" err="1"/>
              <a:t>tidak</a:t>
            </a:r>
            <a:r>
              <a:rPr lang="en-ID" dirty="0"/>
              <a:t> </a:t>
            </a:r>
            <a:r>
              <a:rPr lang="en-ID" dirty="0" err="1"/>
              <a:t>sinambung</a:t>
            </a:r>
            <a:r>
              <a:rPr lang="en-ID" dirty="0"/>
              <a:t> </a:t>
            </a:r>
            <a:r>
              <a:rPr lang="en-ID" dirty="0" err="1"/>
              <a:t>karena</a:t>
            </a:r>
            <a:r>
              <a:rPr lang="en-ID" dirty="0"/>
              <a:t> </a:t>
            </a:r>
            <a:r>
              <a:rPr lang="en-ID" dirty="0" err="1"/>
              <a:t>adanya</a:t>
            </a:r>
            <a:r>
              <a:rPr lang="en-ID" dirty="0"/>
              <a:t> </a:t>
            </a:r>
            <a:r>
              <a:rPr lang="en-ID" dirty="0" err="1"/>
              <a:t>hari-hari</a:t>
            </a:r>
            <a:r>
              <a:rPr lang="en-ID" dirty="0"/>
              <a:t> </a:t>
            </a:r>
            <a:r>
              <a:rPr lang="en-ID" dirty="0" err="1"/>
              <a:t>libur</a:t>
            </a:r>
            <a:r>
              <a:rPr lang="en-ID" dirty="0"/>
              <a:t> </a:t>
            </a:r>
            <a:r>
              <a:rPr lang="en-ID" dirty="0" err="1"/>
              <a:t>tanpa</a:t>
            </a:r>
            <a:r>
              <a:rPr lang="en-ID" dirty="0"/>
              <a:t> </a:t>
            </a:r>
            <a:r>
              <a:rPr lang="en-ID" dirty="0" err="1"/>
              <a:t>transaksi</a:t>
            </a:r>
            <a:r>
              <a:rPr lang="en-ID" dirty="0"/>
              <a:t>, </a:t>
            </a:r>
            <a:r>
              <a:rPr lang="en-ID" dirty="0" err="1"/>
              <a:t>serta</a:t>
            </a:r>
            <a:r>
              <a:rPr lang="en-ID" dirty="0"/>
              <a:t> </a:t>
            </a:r>
            <a:r>
              <a:rPr lang="en-ID" dirty="0" err="1"/>
              <a:t>fluktuasi</a:t>
            </a:r>
            <a:r>
              <a:rPr lang="en-ID" dirty="0"/>
              <a:t> </a:t>
            </a:r>
            <a:r>
              <a:rPr lang="en-ID" dirty="0" err="1"/>
              <a:t>nilai</a:t>
            </a:r>
            <a:r>
              <a:rPr lang="en-ID" dirty="0"/>
              <a:t> yang </a:t>
            </a:r>
            <a:r>
              <a:rPr lang="en-ID" dirty="0" err="1"/>
              <a:t>cukup</a:t>
            </a:r>
            <a:r>
              <a:rPr lang="en-ID" dirty="0"/>
              <a:t> </a:t>
            </a:r>
            <a:r>
              <a:rPr lang="en-ID" dirty="0" err="1"/>
              <a:t>tajam</a:t>
            </a:r>
            <a:r>
              <a:rPr lang="en-ID" dirty="0"/>
              <a:t> </a:t>
            </a:r>
            <a:r>
              <a:rPr lang="en-ID" dirty="0" err="1"/>
              <a:t>antarhari</a:t>
            </a:r>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11</a:t>
            </a:fld>
            <a:endParaRPr lang="en-ID"/>
          </a:p>
        </p:txBody>
      </p:sp>
    </p:spTree>
    <p:extLst>
      <p:ext uri="{BB962C8B-B14F-4D97-AF65-F5344CB8AC3E}">
        <p14:creationId xmlns:p14="http://schemas.microsoft.com/office/powerpoint/2010/main" val="556863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a:t>Masuk </a:t>
            </a:r>
            <a:r>
              <a:rPr lang="en-ID" dirty="0" err="1"/>
              <a:t>ke</a:t>
            </a:r>
            <a:r>
              <a:rPr lang="en-ID" dirty="0"/>
              <a:t> </a:t>
            </a:r>
            <a:r>
              <a:rPr lang="en-ID" dirty="0" err="1"/>
              <a:t>hasil</a:t>
            </a:r>
            <a:r>
              <a:rPr lang="en-ID" dirty="0"/>
              <a:t> </a:t>
            </a:r>
            <a:r>
              <a:rPr lang="en-ID" dirty="0" err="1"/>
              <a:t>penelitian</a:t>
            </a:r>
            <a:r>
              <a:rPr lang="en-ID" dirty="0"/>
              <a:t>, dan </a:t>
            </a:r>
            <a:r>
              <a:rPr lang="en-ID" dirty="0" err="1"/>
              <a:t>ini</a:t>
            </a:r>
            <a:r>
              <a:rPr lang="en-ID" dirty="0"/>
              <a:t> </a:t>
            </a:r>
            <a:r>
              <a:rPr lang="en-ID" dirty="0" err="1"/>
              <a:t>bagian</a:t>
            </a:r>
            <a:r>
              <a:rPr lang="en-ID" dirty="0"/>
              <a:t> yang paling </a:t>
            </a:r>
            <a:r>
              <a:rPr lang="en-ID" dirty="0" err="1"/>
              <a:t>penting</a:t>
            </a:r>
            <a:r>
              <a:rPr lang="en-ID" dirty="0"/>
              <a:t>.</a:t>
            </a:r>
          </a:p>
          <a:p>
            <a:pPr rtl="0"/>
            <a:endParaRPr lang="en-ID" dirty="0"/>
          </a:p>
          <a:p>
            <a:pPr rtl="0"/>
            <a:r>
              <a:rPr lang="en-ID" dirty="0"/>
              <a:t>Tabel </a:t>
            </a:r>
            <a:r>
              <a:rPr lang="en-ID" dirty="0" err="1"/>
              <a:t>ini</a:t>
            </a:r>
            <a:r>
              <a:rPr lang="en-ID" dirty="0"/>
              <a:t> </a:t>
            </a:r>
            <a:r>
              <a:rPr lang="en-ID" dirty="0" err="1"/>
              <a:t>membandingkan</a:t>
            </a:r>
            <a:r>
              <a:rPr lang="en-ID" dirty="0"/>
              <a:t> LSTM </a:t>
            </a:r>
            <a:r>
              <a:rPr lang="en-ID" dirty="0" err="1"/>
              <a:t>terhadap</a:t>
            </a:r>
            <a:r>
              <a:rPr lang="en-ID" dirty="0"/>
              <a:t> baseline </a:t>
            </a:r>
            <a:r>
              <a:rPr lang="en-ID" dirty="0" err="1"/>
              <a:t>statistik</a:t>
            </a:r>
            <a:r>
              <a:rPr lang="en-ID" dirty="0"/>
              <a:t> pada </a:t>
            </a:r>
            <a:r>
              <a:rPr lang="en-ID" dirty="0" err="1"/>
              <a:t>skenario</a:t>
            </a:r>
            <a:r>
              <a:rPr lang="en-ID" dirty="0"/>
              <a:t> one-step-ahead, </a:t>
            </a:r>
            <a:r>
              <a:rPr lang="en-ID" dirty="0" err="1"/>
              <a:t>dengan</a:t>
            </a:r>
            <a:r>
              <a:rPr lang="en-ID" dirty="0"/>
              <a:t> rata-rata </a:t>
            </a:r>
            <a:r>
              <a:rPr lang="en-ID" dirty="0" err="1"/>
              <a:t>sepuluh</a:t>
            </a:r>
            <a:r>
              <a:rPr lang="en-ID" dirty="0"/>
              <a:t> seed agar </a:t>
            </a:r>
            <a:r>
              <a:rPr lang="en-ID" dirty="0" err="1"/>
              <a:t>hasilnya</a:t>
            </a:r>
            <a:r>
              <a:rPr lang="en-ID" dirty="0"/>
              <a:t> </a:t>
            </a:r>
            <a:r>
              <a:rPr lang="en-ID" dirty="0" err="1"/>
              <a:t>tidak</a:t>
            </a:r>
            <a:r>
              <a:rPr lang="en-ID" dirty="0"/>
              <a:t> bias pada </a:t>
            </a:r>
            <a:r>
              <a:rPr lang="en-ID" dirty="0" err="1"/>
              <a:t>satu</a:t>
            </a:r>
            <a:r>
              <a:rPr lang="en-ID" dirty="0"/>
              <a:t> </a:t>
            </a:r>
            <a:r>
              <a:rPr lang="en-ID" dirty="0" err="1"/>
              <a:t>inisialisasi</a:t>
            </a:r>
            <a:r>
              <a:rPr lang="en-ID" dirty="0"/>
              <a:t> </a:t>
            </a:r>
            <a:r>
              <a:rPr lang="en-ID" dirty="0" err="1"/>
              <a:t>acak</a:t>
            </a:r>
            <a:r>
              <a:rPr lang="en-ID" dirty="0"/>
              <a:t>.</a:t>
            </a:r>
          </a:p>
          <a:p>
            <a:pPr rtl="0"/>
            <a:endParaRPr lang="en-ID" dirty="0"/>
          </a:p>
          <a:p>
            <a:pPr rtl="0"/>
            <a:r>
              <a:rPr lang="en-ID" dirty="0" err="1"/>
              <a:t>Hasilnya</a:t>
            </a:r>
            <a:r>
              <a:rPr lang="en-ID" dirty="0"/>
              <a:t>, baseline Naive </a:t>
            </a:r>
            <a:r>
              <a:rPr lang="en-ID" dirty="0" err="1"/>
              <a:t>justru</a:t>
            </a:r>
            <a:r>
              <a:rPr lang="en-ID" dirty="0"/>
              <a:t> </a:t>
            </a:r>
            <a:r>
              <a:rPr lang="en-ID" dirty="0" err="1"/>
              <a:t>mencatat</a:t>
            </a:r>
            <a:r>
              <a:rPr lang="en-ID" dirty="0"/>
              <a:t> </a:t>
            </a:r>
            <a:r>
              <a:rPr lang="en-ID" dirty="0" err="1"/>
              <a:t>galat</a:t>
            </a:r>
            <a:r>
              <a:rPr lang="en-ID" dirty="0"/>
              <a:t> </a:t>
            </a:r>
            <a:r>
              <a:rPr lang="en-ID" dirty="0" err="1"/>
              <a:t>terkecil</a:t>
            </a:r>
            <a:r>
              <a:rPr lang="en-ID" dirty="0"/>
              <a:t>. </a:t>
            </a:r>
            <a:r>
              <a:rPr lang="en-ID" dirty="0" err="1"/>
              <a:t>Artinya</a:t>
            </a:r>
            <a:r>
              <a:rPr lang="en-ID" dirty="0"/>
              <a:t>, </a:t>
            </a:r>
            <a:r>
              <a:rPr lang="en-ID" dirty="0" err="1"/>
              <a:t>pendapatan</a:t>
            </a:r>
            <a:r>
              <a:rPr lang="en-ID" dirty="0"/>
              <a:t> </a:t>
            </a:r>
            <a:r>
              <a:rPr lang="en-ID" dirty="0" err="1"/>
              <a:t>kantin</a:t>
            </a:r>
            <a:r>
              <a:rPr lang="en-ID" dirty="0"/>
              <a:t> </a:t>
            </a:r>
            <a:r>
              <a:rPr lang="en-ID" dirty="0" err="1"/>
              <a:t>ini</a:t>
            </a:r>
            <a:r>
              <a:rPr lang="en-ID" dirty="0"/>
              <a:t> </a:t>
            </a:r>
            <a:r>
              <a:rPr lang="en-ID" dirty="0" err="1"/>
              <a:t>didominasi</a:t>
            </a:r>
            <a:r>
              <a:rPr lang="en-ID" dirty="0"/>
              <a:t> </a:t>
            </a:r>
            <a:r>
              <a:rPr lang="en-ID" dirty="0" err="1"/>
              <a:t>persistensi</a:t>
            </a:r>
            <a:r>
              <a:rPr lang="en-ID" dirty="0"/>
              <a:t> </a:t>
            </a:r>
            <a:r>
              <a:rPr lang="en-ID" dirty="0" err="1"/>
              <a:t>jangka</a:t>
            </a:r>
            <a:r>
              <a:rPr lang="en-ID" dirty="0"/>
              <a:t> </a:t>
            </a:r>
            <a:r>
              <a:rPr lang="en-ID" dirty="0" err="1"/>
              <a:t>pendek</a:t>
            </a:r>
            <a:r>
              <a:rPr lang="en-ID" dirty="0"/>
              <a:t> — </a:t>
            </a:r>
            <a:r>
              <a:rPr lang="en-ID" dirty="0" err="1"/>
              <a:t>nilai</a:t>
            </a:r>
            <a:r>
              <a:rPr lang="en-ID" dirty="0"/>
              <a:t> </a:t>
            </a:r>
            <a:r>
              <a:rPr lang="en-ID" dirty="0" err="1"/>
              <a:t>hari</a:t>
            </a:r>
            <a:r>
              <a:rPr lang="en-ID" dirty="0"/>
              <a:t> </a:t>
            </a:r>
            <a:r>
              <a:rPr lang="en-ID" dirty="0" err="1"/>
              <a:t>ini</a:t>
            </a:r>
            <a:r>
              <a:rPr lang="en-ID" dirty="0"/>
              <a:t> </a:t>
            </a:r>
            <a:r>
              <a:rPr lang="en-ID" dirty="0" err="1"/>
              <a:t>adalah</a:t>
            </a:r>
            <a:r>
              <a:rPr lang="en-ID" dirty="0"/>
              <a:t> </a:t>
            </a:r>
            <a:r>
              <a:rPr lang="en-ID" dirty="0" err="1"/>
              <a:t>prediktor</a:t>
            </a:r>
            <a:r>
              <a:rPr lang="en-ID" dirty="0"/>
              <a:t> </a:t>
            </a:r>
            <a:r>
              <a:rPr lang="en-ID" dirty="0" err="1"/>
              <a:t>terbaik</a:t>
            </a:r>
            <a:r>
              <a:rPr lang="en-ID" dirty="0"/>
              <a:t> </a:t>
            </a:r>
            <a:r>
              <a:rPr lang="en-ID" dirty="0" err="1"/>
              <a:t>untuk</a:t>
            </a:r>
            <a:r>
              <a:rPr lang="en-ID" dirty="0"/>
              <a:t> </a:t>
            </a:r>
            <a:r>
              <a:rPr lang="en-ID" dirty="0" err="1"/>
              <a:t>hari</a:t>
            </a:r>
            <a:r>
              <a:rPr lang="en-ID" dirty="0"/>
              <a:t> </a:t>
            </a:r>
            <a:r>
              <a:rPr lang="en-ID" dirty="0" err="1"/>
              <a:t>berikutnya</a:t>
            </a:r>
            <a:r>
              <a:rPr lang="en-ID" dirty="0"/>
              <a:t>. Pada </a:t>
            </a:r>
            <a:r>
              <a:rPr lang="en-ID" dirty="0" err="1"/>
              <a:t>pengujian</a:t>
            </a:r>
            <a:r>
              <a:rPr lang="en-ID" dirty="0"/>
              <a:t> multi-seed, LSTM </a:t>
            </a:r>
            <a:r>
              <a:rPr lang="en-ID" dirty="0" err="1"/>
              <a:t>menghasilkan</a:t>
            </a:r>
            <a:r>
              <a:rPr lang="en-ID" dirty="0"/>
              <a:t> MAE Rp667.718 </a:t>
            </a:r>
            <a:r>
              <a:rPr lang="en-ID" dirty="0" err="1"/>
              <a:t>dengan</a:t>
            </a:r>
            <a:r>
              <a:rPr lang="en-ID" dirty="0"/>
              <a:t> </a:t>
            </a:r>
            <a:r>
              <a:rPr lang="en-ID" dirty="0" err="1"/>
              <a:t>simpangan</a:t>
            </a:r>
            <a:r>
              <a:rPr lang="en-ID" dirty="0"/>
              <a:t> </a:t>
            </a:r>
            <a:r>
              <a:rPr lang="en-ID" dirty="0" err="1"/>
              <a:t>baku</a:t>
            </a:r>
            <a:r>
              <a:rPr lang="en-ID" dirty="0"/>
              <a:t> Rp145.024, dan MASE 1,840 plus minus 0,400.</a:t>
            </a:r>
          </a:p>
          <a:p>
            <a:pPr rtl="0"/>
            <a:endParaRPr lang="en-ID" dirty="0"/>
          </a:p>
          <a:p>
            <a:pPr rtl="0"/>
            <a:r>
              <a:rPr lang="en-ID" dirty="0"/>
              <a:t>Yang </a:t>
            </a:r>
            <a:r>
              <a:rPr lang="en-ID" dirty="0" err="1"/>
              <a:t>perlu</a:t>
            </a:r>
            <a:r>
              <a:rPr lang="en-ID" dirty="0"/>
              <a:t> </a:t>
            </a:r>
            <a:r>
              <a:rPr lang="en-ID" dirty="0" err="1"/>
              <a:t>saya</a:t>
            </a:r>
            <a:r>
              <a:rPr lang="en-ID" dirty="0"/>
              <a:t> </a:t>
            </a:r>
            <a:r>
              <a:rPr lang="en-ID" dirty="0" err="1"/>
              <a:t>garisbawahi</a:t>
            </a:r>
            <a:r>
              <a:rPr lang="en-ID" dirty="0"/>
              <a:t>: </a:t>
            </a:r>
            <a:r>
              <a:rPr lang="en-ID" dirty="0" err="1"/>
              <a:t>hanya</a:t>
            </a:r>
            <a:r>
              <a:rPr lang="en-ID" dirty="0"/>
              <a:t> </a:t>
            </a:r>
            <a:r>
              <a:rPr lang="en-ID" dirty="0" err="1"/>
              <a:t>satu</a:t>
            </a:r>
            <a:r>
              <a:rPr lang="en-ID" dirty="0"/>
              <a:t> </a:t>
            </a:r>
            <a:r>
              <a:rPr lang="en-ID" dirty="0" err="1"/>
              <a:t>dari</a:t>
            </a:r>
            <a:r>
              <a:rPr lang="en-ID" dirty="0"/>
              <a:t> </a:t>
            </a:r>
            <a:r>
              <a:rPr lang="en-ID" dirty="0" err="1"/>
              <a:t>sepuluh</a:t>
            </a:r>
            <a:r>
              <a:rPr lang="en-ID" dirty="0"/>
              <a:t> </a:t>
            </a:r>
            <a:r>
              <a:rPr lang="en-ID" dirty="0" err="1"/>
              <a:t>percobaan</a:t>
            </a:r>
            <a:r>
              <a:rPr lang="en-ID" dirty="0"/>
              <a:t>, </a:t>
            </a:r>
            <a:r>
              <a:rPr lang="en-ID" dirty="0" err="1"/>
              <a:t>yaitu</a:t>
            </a:r>
            <a:r>
              <a:rPr lang="en-ID" dirty="0"/>
              <a:t> seed </a:t>
            </a:r>
            <a:r>
              <a:rPr lang="en-ID" dirty="0" err="1"/>
              <a:t>ketujuh</a:t>
            </a:r>
            <a:r>
              <a:rPr lang="en-ID" dirty="0"/>
              <a:t> </a:t>
            </a:r>
            <a:r>
              <a:rPr lang="en-ID" dirty="0" err="1"/>
              <a:t>dengan</a:t>
            </a:r>
            <a:r>
              <a:rPr lang="en-ID" dirty="0"/>
              <a:t> MAE Rp495.527, yang </a:t>
            </a:r>
            <a:r>
              <a:rPr lang="en-ID" dirty="0" err="1"/>
              <a:t>berhasil</a:t>
            </a:r>
            <a:r>
              <a:rPr lang="en-ID" dirty="0"/>
              <a:t> </a:t>
            </a:r>
            <a:r>
              <a:rPr lang="en-ID" dirty="0" err="1"/>
              <a:t>mengungguli</a:t>
            </a:r>
            <a:r>
              <a:rPr lang="en-ID" dirty="0"/>
              <a:t> Naive dan SARIMA. Ini </a:t>
            </a:r>
            <a:r>
              <a:rPr lang="en-ID" dirty="0" err="1"/>
              <a:t>menunjukkan</a:t>
            </a:r>
            <a:r>
              <a:rPr lang="en-ID" dirty="0"/>
              <a:t> model </a:t>
            </a:r>
            <a:r>
              <a:rPr lang="en-ID" dirty="0" err="1"/>
              <a:t>belum</a:t>
            </a:r>
            <a:r>
              <a:rPr lang="en-ID" dirty="0"/>
              <a:t> </a:t>
            </a:r>
            <a:r>
              <a:rPr lang="en-ID" dirty="0" err="1"/>
              <a:t>stabil</a:t>
            </a:r>
            <a:r>
              <a:rPr lang="en-ID" dirty="0"/>
              <a:t> pada </a:t>
            </a:r>
            <a:r>
              <a:rPr lang="en-ID" dirty="0" err="1"/>
              <a:t>ukuran</a:t>
            </a:r>
            <a:r>
              <a:rPr lang="en-ID" dirty="0"/>
              <a:t> data </a:t>
            </a:r>
            <a:r>
              <a:rPr lang="en-ID" dirty="0" err="1"/>
              <a:t>seperti</a:t>
            </a:r>
            <a:r>
              <a:rPr lang="en-ID" dirty="0"/>
              <a:t> </a:t>
            </a:r>
            <a:r>
              <a:rPr lang="en-ID" dirty="0" err="1"/>
              <a:t>ini</a:t>
            </a:r>
            <a:r>
              <a:rPr lang="en-ID" dirty="0"/>
              <a:t>.</a:t>
            </a:r>
          </a:p>
          <a:p>
            <a:pPr rtl="0"/>
            <a:endParaRPr lang="en-ID" dirty="0"/>
          </a:p>
          <a:p>
            <a:pPr rtl="0"/>
            <a:r>
              <a:rPr lang="en-ID" dirty="0"/>
              <a:t>Dan </a:t>
            </a:r>
            <a:r>
              <a:rPr lang="en-ID" dirty="0" err="1"/>
              <a:t>justru</a:t>
            </a:r>
            <a:r>
              <a:rPr lang="en-ID" dirty="0"/>
              <a:t> </a:t>
            </a:r>
            <a:r>
              <a:rPr lang="en-ID" dirty="0" err="1"/>
              <a:t>temuan</a:t>
            </a:r>
            <a:r>
              <a:rPr lang="en-ID" dirty="0"/>
              <a:t> </a:t>
            </a:r>
            <a:r>
              <a:rPr lang="en-ID" dirty="0" err="1"/>
              <a:t>inilah</a:t>
            </a:r>
            <a:r>
              <a:rPr lang="en-ID" dirty="0"/>
              <a:t> yang </a:t>
            </a:r>
            <a:r>
              <a:rPr lang="en-ID" dirty="0" err="1"/>
              <a:t>menjadi</a:t>
            </a:r>
            <a:r>
              <a:rPr lang="en-ID" dirty="0"/>
              <a:t> </a:t>
            </a:r>
            <a:r>
              <a:rPr lang="en-ID" dirty="0" err="1"/>
              <a:t>kontribusi</a:t>
            </a:r>
            <a:r>
              <a:rPr lang="en-ID" dirty="0"/>
              <a:t> </a:t>
            </a:r>
            <a:r>
              <a:rPr lang="en-ID" dirty="0" err="1"/>
              <a:t>metodologis</a:t>
            </a:r>
            <a:r>
              <a:rPr lang="en-ID" dirty="0"/>
              <a:t> </a:t>
            </a:r>
            <a:r>
              <a:rPr lang="en-ID" dirty="0" err="1"/>
              <a:t>penelitian</a:t>
            </a:r>
            <a:r>
              <a:rPr lang="en-ID" dirty="0"/>
              <a:t> </a:t>
            </a:r>
            <a:r>
              <a:rPr lang="en-ID" dirty="0" err="1"/>
              <a:t>saya</a:t>
            </a:r>
            <a:r>
              <a:rPr lang="en-ID" dirty="0"/>
              <a:t> — </a:t>
            </a:r>
            <a:r>
              <a:rPr lang="en-ID" dirty="0" err="1"/>
              <a:t>bahwa</a:t>
            </a:r>
            <a:r>
              <a:rPr lang="en-ID" dirty="0"/>
              <a:t> </a:t>
            </a:r>
            <a:r>
              <a:rPr lang="en-ID" dirty="0" err="1"/>
              <a:t>tanpa</a:t>
            </a:r>
            <a:r>
              <a:rPr lang="en-ID" dirty="0"/>
              <a:t> </a:t>
            </a:r>
            <a:r>
              <a:rPr lang="en-ID" dirty="0" err="1"/>
              <a:t>kontrol</a:t>
            </a:r>
            <a:r>
              <a:rPr lang="en-ID" dirty="0"/>
              <a:t> baseline, </a:t>
            </a:r>
            <a:r>
              <a:rPr lang="en-ID" dirty="0" err="1"/>
              <a:t>keunggulan</a:t>
            </a:r>
            <a:r>
              <a:rPr lang="en-ID" dirty="0"/>
              <a:t> </a:t>
            </a:r>
            <a:r>
              <a:rPr lang="en-ID" dirty="0" err="1"/>
              <a:t>satu</a:t>
            </a:r>
            <a:r>
              <a:rPr lang="en-ID" dirty="0"/>
              <a:t> seed </a:t>
            </a:r>
            <a:r>
              <a:rPr lang="en-ID" dirty="0" err="1"/>
              <a:t>saja</a:t>
            </a:r>
            <a:r>
              <a:rPr lang="en-ID" dirty="0"/>
              <a:t> </a:t>
            </a:r>
            <a:r>
              <a:rPr lang="en-ID" dirty="0" err="1"/>
              <a:t>bisa</a:t>
            </a:r>
            <a:r>
              <a:rPr lang="en-ID" dirty="0"/>
              <a:t> </a:t>
            </a:r>
            <a:r>
              <a:rPr lang="en-ID" dirty="0" err="1"/>
              <a:t>dilaporkan</a:t>
            </a:r>
            <a:r>
              <a:rPr lang="en-ID" dirty="0"/>
              <a:t> </a:t>
            </a:r>
            <a:r>
              <a:rPr lang="en-ID" dirty="0" err="1"/>
              <a:t>sebagai</a:t>
            </a:r>
            <a:r>
              <a:rPr lang="en-ID" dirty="0"/>
              <a:t> </a:t>
            </a:r>
            <a:r>
              <a:rPr lang="en-ID" dirty="0" err="1"/>
              <a:t>keberhasilan</a:t>
            </a:r>
            <a:r>
              <a:rPr lang="en-ID" dirty="0"/>
              <a:t> model</a:t>
            </a:r>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12</a:t>
            </a:fld>
            <a:endParaRPr lang="en-ID"/>
          </a:p>
        </p:txBody>
      </p:sp>
    </p:spTree>
    <p:extLst>
      <p:ext uri="{BB962C8B-B14F-4D97-AF65-F5344CB8AC3E}">
        <p14:creationId xmlns:p14="http://schemas.microsoft.com/office/powerpoint/2010/main" val="2956333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err="1"/>
              <a:t>Selanjutnya</a:t>
            </a:r>
            <a:r>
              <a:rPr lang="en-ID" dirty="0"/>
              <a:t> </a:t>
            </a:r>
            <a:r>
              <a:rPr lang="en-ID" dirty="0" err="1"/>
              <a:t>hasil</a:t>
            </a:r>
            <a:r>
              <a:rPr lang="en-ID" dirty="0"/>
              <a:t> </a:t>
            </a:r>
            <a:r>
              <a:rPr lang="en-ID" dirty="0" err="1"/>
              <a:t>pengujian</a:t>
            </a:r>
            <a:r>
              <a:rPr lang="en-ID" dirty="0"/>
              <a:t> </a:t>
            </a:r>
            <a:r>
              <a:rPr lang="en-ID" dirty="0" err="1"/>
              <a:t>aplikasi</a:t>
            </a:r>
            <a:r>
              <a:rPr lang="en-ID" dirty="0"/>
              <a:t>. </a:t>
            </a:r>
            <a:r>
              <a:rPr lang="en-ID" dirty="0" err="1"/>
              <a:t>Pengujian</a:t>
            </a:r>
            <a:r>
              <a:rPr lang="en-ID" dirty="0"/>
              <a:t> </a:t>
            </a:r>
            <a:r>
              <a:rPr lang="en-ID" dirty="0" err="1"/>
              <a:t>dilakukan</a:t>
            </a:r>
            <a:r>
              <a:rPr lang="en-ID" dirty="0"/>
              <a:t> </a:t>
            </a:r>
            <a:r>
              <a:rPr lang="en-ID" dirty="0" err="1"/>
              <a:t>dengan</a:t>
            </a:r>
            <a:r>
              <a:rPr lang="en-ID" dirty="0"/>
              <a:t> </a:t>
            </a:r>
            <a:r>
              <a:rPr lang="en-ID" dirty="0" err="1"/>
              <a:t>tiga</a:t>
            </a:r>
            <a:r>
              <a:rPr lang="en-ID" dirty="0"/>
              <a:t> </a:t>
            </a:r>
            <a:r>
              <a:rPr lang="en-ID" dirty="0" err="1"/>
              <a:t>pendekatan</a:t>
            </a:r>
            <a:r>
              <a:rPr lang="en-ID" dirty="0"/>
              <a:t>.</a:t>
            </a:r>
          </a:p>
          <a:p>
            <a:pPr rtl="0"/>
            <a:endParaRPr lang="en-ID" dirty="0"/>
          </a:p>
          <a:p>
            <a:pPr rtl="0"/>
            <a:r>
              <a:rPr lang="en-ID" dirty="0" err="1"/>
              <a:t>Pengujian</a:t>
            </a:r>
            <a:r>
              <a:rPr lang="en-ID" dirty="0"/>
              <a:t> black box </a:t>
            </a:r>
            <a:r>
              <a:rPr lang="en-ID" dirty="0" err="1"/>
              <a:t>terhadap</a:t>
            </a:r>
            <a:r>
              <a:rPr lang="en-ID" dirty="0"/>
              <a:t> dua </a:t>
            </a:r>
            <a:r>
              <a:rPr lang="en-ID" dirty="0" err="1"/>
              <a:t>belas</a:t>
            </a:r>
            <a:r>
              <a:rPr lang="en-ID" dirty="0"/>
              <a:t> </a:t>
            </a:r>
            <a:r>
              <a:rPr lang="en-ID" dirty="0" err="1"/>
              <a:t>skenario</a:t>
            </a:r>
            <a:r>
              <a:rPr lang="en-ID" dirty="0"/>
              <a:t> </a:t>
            </a:r>
            <a:r>
              <a:rPr lang="en-ID" dirty="0" err="1"/>
              <a:t>fungsional</a:t>
            </a:r>
            <a:r>
              <a:rPr lang="en-ID" dirty="0"/>
              <a:t> — </a:t>
            </a:r>
            <a:r>
              <a:rPr lang="en-ID" dirty="0" err="1"/>
              <a:t>mencakup</a:t>
            </a:r>
            <a:r>
              <a:rPr lang="en-ID" dirty="0"/>
              <a:t> </a:t>
            </a:r>
            <a:r>
              <a:rPr lang="en-ID" dirty="0" err="1"/>
              <a:t>transaksi</a:t>
            </a:r>
            <a:r>
              <a:rPr lang="en-ID" dirty="0"/>
              <a:t> </a:t>
            </a:r>
            <a:r>
              <a:rPr lang="en-ID" dirty="0" err="1"/>
              <a:t>kasir</a:t>
            </a:r>
            <a:r>
              <a:rPr lang="en-ID" dirty="0"/>
              <a:t>, </a:t>
            </a:r>
            <a:r>
              <a:rPr lang="en-ID" dirty="0" err="1"/>
              <a:t>manajemen</a:t>
            </a:r>
            <a:r>
              <a:rPr lang="en-ID" dirty="0"/>
              <a:t> </a:t>
            </a:r>
            <a:r>
              <a:rPr lang="en-ID" dirty="0" err="1"/>
              <a:t>produk</a:t>
            </a:r>
            <a:r>
              <a:rPr lang="en-ID" dirty="0"/>
              <a:t>, </a:t>
            </a:r>
            <a:r>
              <a:rPr lang="en-ID" dirty="0" err="1"/>
              <a:t>sinkronisasi</a:t>
            </a:r>
            <a:r>
              <a:rPr lang="en-ID" dirty="0"/>
              <a:t>, dan </a:t>
            </a:r>
            <a:r>
              <a:rPr lang="en-ID" dirty="0" err="1"/>
              <a:t>akses</a:t>
            </a:r>
            <a:r>
              <a:rPr lang="en-ID" dirty="0"/>
              <a:t> </a:t>
            </a:r>
            <a:r>
              <a:rPr lang="en-ID" dirty="0" err="1"/>
              <a:t>halaman</a:t>
            </a:r>
            <a:r>
              <a:rPr lang="en-ID" dirty="0"/>
              <a:t> Smart Analytics — </a:t>
            </a:r>
            <a:r>
              <a:rPr lang="en-ID" dirty="0" err="1"/>
              <a:t>seluruhnya</a:t>
            </a:r>
            <a:r>
              <a:rPr lang="en-ID" dirty="0"/>
              <a:t> </a:t>
            </a:r>
            <a:r>
              <a:rPr lang="en-ID" dirty="0" err="1"/>
              <a:t>berhasil</a:t>
            </a:r>
            <a:r>
              <a:rPr lang="en-ID" dirty="0"/>
              <a:t>.</a:t>
            </a:r>
          </a:p>
          <a:p>
            <a:pPr rtl="0"/>
            <a:endParaRPr lang="en-ID" dirty="0"/>
          </a:p>
          <a:p>
            <a:pPr rtl="0"/>
            <a:r>
              <a:rPr lang="en-ID" dirty="0" err="1"/>
              <a:t>Pengujian</a:t>
            </a:r>
            <a:r>
              <a:rPr lang="en-ID" dirty="0"/>
              <a:t> white box </a:t>
            </a:r>
            <a:r>
              <a:rPr lang="en-ID" dirty="0" err="1"/>
              <a:t>terhadap</a:t>
            </a:r>
            <a:r>
              <a:rPr lang="en-ID" dirty="0"/>
              <a:t> </a:t>
            </a:r>
            <a:r>
              <a:rPr lang="en-ID" dirty="0" err="1"/>
              <a:t>tiga</a:t>
            </a:r>
            <a:r>
              <a:rPr lang="en-ID" dirty="0"/>
              <a:t> </a:t>
            </a:r>
            <a:r>
              <a:rPr lang="en-ID" dirty="0" err="1"/>
              <a:t>alur</a:t>
            </a:r>
            <a:r>
              <a:rPr lang="en-ID" dirty="0"/>
              <a:t> </a:t>
            </a:r>
            <a:r>
              <a:rPr lang="en-ID" dirty="0" err="1"/>
              <a:t>logika</a:t>
            </a:r>
            <a:r>
              <a:rPr lang="en-ID" dirty="0"/>
              <a:t> </a:t>
            </a:r>
            <a:r>
              <a:rPr lang="en-ID" dirty="0" err="1"/>
              <a:t>utama</a:t>
            </a:r>
            <a:r>
              <a:rPr lang="en-ID" dirty="0"/>
              <a:t> juga </a:t>
            </a:r>
            <a:r>
              <a:rPr lang="en-ID" dirty="0" err="1"/>
              <a:t>seluruhnya</a:t>
            </a:r>
            <a:r>
              <a:rPr lang="en-ID" dirty="0"/>
              <a:t> </a:t>
            </a:r>
            <a:r>
              <a:rPr lang="en-ID" dirty="0" err="1"/>
              <a:t>sesuai</a:t>
            </a:r>
            <a:r>
              <a:rPr lang="en-ID" dirty="0"/>
              <a:t> </a:t>
            </a:r>
            <a:r>
              <a:rPr lang="en-ID" dirty="0" err="1"/>
              <a:t>dengan</a:t>
            </a:r>
            <a:r>
              <a:rPr lang="en-ID" dirty="0"/>
              <a:t> </a:t>
            </a:r>
            <a:r>
              <a:rPr lang="en-ID" dirty="0" err="1"/>
              <a:t>hasil</a:t>
            </a:r>
            <a:r>
              <a:rPr lang="en-ID" dirty="0"/>
              <a:t> yang </a:t>
            </a:r>
            <a:r>
              <a:rPr lang="en-ID" dirty="0" err="1"/>
              <a:t>diharapkan</a:t>
            </a:r>
            <a:r>
              <a:rPr lang="en-ID" dirty="0"/>
              <a:t>.</a:t>
            </a:r>
          </a:p>
          <a:p>
            <a:pPr rtl="0"/>
            <a:endParaRPr lang="en-ID" dirty="0"/>
          </a:p>
          <a:p>
            <a:pPr rtl="0"/>
            <a:r>
              <a:rPr lang="en-ID" dirty="0"/>
              <a:t>Dan </a:t>
            </a:r>
            <a:r>
              <a:rPr lang="en-ID" dirty="0" err="1"/>
              <a:t>pengujian</a:t>
            </a:r>
            <a:r>
              <a:rPr lang="en-ID" dirty="0"/>
              <a:t> </a:t>
            </a:r>
            <a:r>
              <a:rPr lang="en-ID" dirty="0" err="1"/>
              <a:t>sinkronisasi</a:t>
            </a:r>
            <a:r>
              <a:rPr lang="en-ID" dirty="0"/>
              <a:t> offline-first </a:t>
            </a:r>
            <a:r>
              <a:rPr lang="en-ID" dirty="0" err="1"/>
              <a:t>menunjukkan</a:t>
            </a:r>
            <a:r>
              <a:rPr lang="en-ID" dirty="0"/>
              <a:t> </a:t>
            </a:r>
            <a:r>
              <a:rPr lang="en-ID" dirty="0" err="1"/>
              <a:t>nol</a:t>
            </a:r>
            <a:r>
              <a:rPr lang="en-ID" dirty="0"/>
              <a:t> </a:t>
            </a:r>
            <a:r>
              <a:rPr lang="en-ID" dirty="0" err="1"/>
              <a:t>kehilangan</a:t>
            </a:r>
            <a:r>
              <a:rPr lang="en-ID" dirty="0"/>
              <a:t> data dan </a:t>
            </a:r>
            <a:r>
              <a:rPr lang="en-ID" dirty="0" err="1"/>
              <a:t>nol</a:t>
            </a:r>
            <a:r>
              <a:rPr lang="en-ID" dirty="0"/>
              <a:t> </a:t>
            </a:r>
            <a:r>
              <a:rPr lang="en-ID" dirty="0" err="1"/>
              <a:t>duplikasi</a:t>
            </a:r>
            <a:r>
              <a:rPr lang="en-ID" dirty="0"/>
              <a:t> data </a:t>
            </a:r>
            <a:r>
              <a:rPr lang="en-ID" dirty="0" err="1"/>
              <a:t>ketika</a:t>
            </a:r>
            <a:r>
              <a:rPr lang="en-ID" dirty="0"/>
              <a:t> </a:t>
            </a:r>
            <a:r>
              <a:rPr lang="en-ID" dirty="0" err="1"/>
              <a:t>aplikasi</a:t>
            </a:r>
            <a:r>
              <a:rPr lang="en-ID" dirty="0"/>
              <a:t> </a:t>
            </a:r>
            <a:r>
              <a:rPr lang="en-ID" dirty="0" err="1"/>
              <a:t>berpindah</a:t>
            </a:r>
            <a:r>
              <a:rPr lang="en-ID" dirty="0"/>
              <a:t> </a:t>
            </a:r>
            <a:r>
              <a:rPr lang="en-ID" dirty="0" err="1"/>
              <a:t>dari</a:t>
            </a:r>
            <a:r>
              <a:rPr lang="en-ID" dirty="0"/>
              <a:t> </a:t>
            </a:r>
            <a:r>
              <a:rPr lang="en-ID" dirty="0" err="1"/>
              <a:t>kondisi</a:t>
            </a:r>
            <a:r>
              <a:rPr lang="en-ID" dirty="0"/>
              <a:t> luring </a:t>
            </a:r>
            <a:r>
              <a:rPr lang="en-ID" dirty="0" err="1"/>
              <a:t>ke</a:t>
            </a:r>
            <a:r>
              <a:rPr lang="en-ID" dirty="0"/>
              <a:t> daring. </a:t>
            </a:r>
            <a:r>
              <a:rPr lang="en-ID" dirty="0" err="1"/>
              <a:t>Dengan</a:t>
            </a:r>
            <a:r>
              <a:rPr lang="en-ID" dirty="0"/>
              <a:t> </a:t>
            </a:r>
            <a:r>
              <a:rPr lang="en-ID" dirty="0" err="1"/>
              <a:t>demikian</a:t>
            </a:r>
            <a:r>
              <a:rPr lang="en-ID" dirty="0"/>
              <a:t> </a:t>
            </a:r>
            <a:r>
              <a:rPr lang="en-ID" dirty="0" err="1"/>
              <a:t>aplikasi</a:t>
            </a:r>
            <a:r>
              <a:rPr lang="en-ID" dirty="0"/>
              <a:t> yang </a:t>
            </a:r>
            <a:r>
              <a:rPr lang="en-ID" dirty="0" err="1"/>
              <a:t>dibangun</a:t>
            </a:r>
            <a:r>
              <a:rPr lang="en-ID" dirty="0"/>
              <a:t> </a:t>
            </a:r>
            <a:r>
              <a:rPr lang="en-ID" dirty="0" err="1"/>
              <a:t>telah</a:t>
            </a:r>
            <a:r>
              <a:rPr lang="en-ID" dirty="0"/>
              <a:t> </a:t>
            </a:r>
            <a:r>
              <a:rPr lang="en-ID" dirty="0" err="1"/>
              <a:t>memenuhi</a:t>
            </a:r>
            <a:r>
              <a:rPr lang="en-ID" dirty="0"/>
              <a:t> </a:t>
            </a:r>
            <a:r>
              <a:rPr lang="en-ID" dirty="0" err="1"/>
              <a:t>seluruh</a:t>
            </a:r>
            <a:r>
              <a:rPr lang="en-ID" dirty="0"/>
              <a:t> </a:t>
            </a:r>
            <a:r>
              <a:rPr lang="en-ID" dirty="0" err="1"/>
              <a:t>kebutuhan</a:t>
            </a:r>
            <a:r>
              <a:rPr lang="en-ID" dirty="0"/>
              <a:t> </a:t>
            </a:r>
            <a:r>
              <a:rPr lang="en-ID" dirty="0" err="1"/>
              <a:t>fungsional</a:t>
            </a:r>
            <a:r>
              <a:rPr lang="en-ID" dirty="0"/>
              <a:t> yang </a:t>
            </a:r>
            <a:r>
              <a:rPr lang="en-ID" dirty="0" err="1"/>
              <a:t>dirancang</a:t>
            </a:r>
            <a:endParaRPr lang="en-ID" dirty="0"/>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13</a:t>
            </a:fld>
            <a:endParaRPr lang="en-ID"/>
          </a:p>
        </p:txBody>
      </p:sp>
    </p:spTree>
    <p:extLst>
      <p:ext uri="{BB962C8B-B14F-4D97-AF65-F5344CB8AC3E}">
        <p14:creationId xmlns:p14="http://schemas.microsoft.com/office/powerpoint/2010/main" val="2297936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D" dirty="0" err="1"/>
              <a:t>Sampailah</a:t>
            </a:r>
            <a:r>
              <a:rPr lang="en-ID" dirty="0"/>
              <a:t> pada </a:t>
            </a:r>
            <a:r>
              <a:rPr lang="en-ID" dirty="0" err="1"/>
              <a:t>simpulan</a:t>
            </a:r>
            <a:r>
              <a:rPr lang="en-ID" dirty="0"/>
              <a:t>.</a:t>
            </a:r>
          </a:p>
          <a:p>
            <a:pPr rtl="0"/>
            <a:endParaRPr lang="en-ID" dirty="0"/>
          </a:p>
          <a:p>
            <a:pPr rtl="0"/>
            <a:r>
              <a:rPr lang="en-ID" dirty="0" err="1"/>
              <a:t>Pertama</a:t>
            </a:r>
            <a:r>
              <a:rPr lang="en-ID" dirty="0"/>
              <a:t>, </a:t>
            </a:r>
            <a:r>
              <a:rPr lang="en-ID" dirty="0" err="1"/>
              <a:t>aplikasi</a:t>
            </a:r>
            <a:r>
              <a:rPr lang="en-ID" dirty="0"/>
              <a:t> POS mobile </a:t>
            </a:r>
            <a:r>
              <a:rPr lang="en-ID" dirty="0" err="1"/>
              <a:t>dengan</a:t>
            </a:r>
            <a:r>
              <a:rPr lang="en-ID" dirty="0"/>
              <a:t> </a:t>
            </a:r>
            <a:r>
              <a:rPr lang="en-ID" dirty="0" err="1"/>
              <a:t>fitur</a:t>
            </a:r>
            <a:r>
              <a:rPr lang="en-ID" dirty="0"/>
              <a:t> </a:t>
            </a:r>
            <a:r>
              <a:rPr lang="en-ID" dirty="0" err="1"/>
              <a:t>prediksi</a:t>
            </a:r>
            <a:r>
              <a:rPr lang="en-ID" dirty="0"/>
              <a:t> </a:t>
            </a:r>
            <a:r>
              <a:rPr lang="en-ID" dirty="0" err="1"/>
              <a:t>berhasil</a:t>
            </a:r>
            <a:r>
              <a:rPr lang="en-ID" dirty="0"/>
              <a:t> </a:t>
            </a:r>
            <a:r>
              <a:rPr lang="en-ID" dirty="0" err="1"/>
              <a:t>dibangun</a:t>
            </a:r>
            <a:r>
              <a:rPr lang="en-ID" dirty="0"/>
              <a:t> </a:t>
            </a:r>
            <a:r>
              <a:rPr lang="en-ID" dirty="0" err="1"/>
              <a:t>menggunakan</a:t>
            </a:r>
            <a:r>
              <a:rPr lang="en-ID" dirty="0"/>
              <a:t> Flutter, Isar DB, </a:t>
            </a:r>
            <a:r>
              <a:rPr lang="en-ID" dirty="0" err="1"/>
              <a:t>Supabase</a:t>
            </a:r>
            <a:r>
              <a:rPr lang="en-ID" dirty="0"/>
              <a:t>, dan Flask di Hugging Face, </a:t>
            </a:r>
            <a:r>
              <a:rPr lang="en-ID" dirty="0" err="1"/>
              <a:t>terintegrasi</a:t>
            </a:r>
            <a:r>
              <a:rPr lang="en-ID" dirty="0"/>
              <a:t> </a:t>
            </a:r>
            <a:r>
              <a:rPr lang="en-ID" dirty="0" err="1"/>
              <a:t>melalui</a:t>
            </a:r>
            <a:r>
              <a:rPr lang="en-ID" dirty="0"/>
              <a:t> </a:t>
            </a:r>
            <a:r>
              <a:rPr lang="en-ID" dirty="0" err="1"/>
              <a:t>halaman</a:t>
            </a:r>
            <a:r>
              <a:rPr lang="en-ID" dirty="0"/>
              <a:t> Smart Analytics </a:t>
            </a:r>
            <a:r>
              <a:rPr lang="en-ID" dirty="0" err="1"/>
              <a:t>dengan</a:t>
            </a:r>
            <a:r>
              <a:rPr lang="en-ID" dirty="0"/>
              <a:t> </a:t>
            </a:r>
            <a:r>
              <a:rPr lang="en-ID" dirty="0" err="1"/>
              <a:t>arsitektur</a:t>
            </a:r>
            <a:r>
              <a:rPr lang="en-ID" dirty="0"/>
              <a:t> offline-first, dan </a:t>
            </a:r>
            <a:r>
              <a:rPr lang="en-ID" dirty="0" err="1"/>
              <a:t>seluruh</a:t>
            </a:r>
            <a:r>
              <a:rPr lang="en-ID" dirty="0"/>
              <a:t> </a:t>
            </a:r>
            <a:r>
              <a:rPr lang="en-ID" dirty="0" err="1"/>
              <a:t>pengujian</a:t>
            </a:r>
            <a:r>
              <a:rPr lang="en-ID" dirty="0"/>
              <a:t> </a:t>
            </a:r>
            <a:r>
              <a:rPr lang="en-ID" dirty="0" err="1"/>
              <a:t>berhasil</a:t>
            </a:r>
            <a:r>
              <a:rPr lang="en-ID" dirty="0"/>
              <a:t>.</a:t>
            </a:r>
          </a:p>
          <a:p>
            <a:pPr rtl="0"/>
            <a:endParaRPr lang="en-ID" dirty="0"/>
          </a:p>
          <a:p>
            <a:pPr rtl="0"/>
            <a:r>
              <a:rPr lang="en-ID" dirty="0" err="1"/>
              <a:t>Kedua</a:t>
            </a:r>
            <a:r>
              <a:rPr lang="en-ID" dirty="0"/>
              <a:t>, LSTM hybrid residual </a:t>
            </a:r>
            <a:r>
              <a:rPr lang="en-ID" dirty="0" err="1"/>
              <a:t>diterapkan</a:t>
            </a:r>
            <a:r>
              <a:rPr lang="en-ID" dirty="0"/>
              <a:t> pada 313 </a:t>
            </a:r>
            <a:r>
              <a:rPr lang="en-ID" dirty="0" err="1"/>
              <a:t>hari</a:t>
            </a:r>
            <a:r>
              <a:rPr lang="en-ID" dirty="0"/>
              <a:t> </a:t>
            </a:r>
            <a:r>
              <a:rPr lang="en-ID" dirty="0" err="1"/>
              <a:t>aktif</a:t>
            </a:r>
            <a:r>
              <a:rPr lang="en-ID" dirty="0"/>
              <a:t>. </a:t>
            </a:r>
            <a:r>
              <a:rPr lang="en-ID" dirty="0" err="1"/>
              <a:t>Augmentasi</a:t>
            </a:r>
            <a:r>
              <a:rPr lang="en-ID" dirty="0"/>
              <a:t> </a:t>
            </a:r>
            <a:r>
              <a:rPr lang="en-ID" dirty="0" err="1"/>
              <a:t>TimeGAN</a:t>
            </a:r>
            <a:r>
              <a:rPr lang="en-ID" dirty="0"/>
              <a:t> </a:t>
            </a:r>
            <a:r>
              <a:rPr lang="en-ID" dirty="0" err="1"/>
              <a:t>terbukti</a:t>
            </a:r>
            <a:r>
              <a:rPr lang="en-ID" dirty="0"/>
              <a:t> </a:t>
            </a:r>
            <a:r>
              <a:rPr lang="en-ID" dirty="0" err="1"/>
              <a:t>memberi</a:t>
            </a:r>
            <a:r>
              <a:rPr lang="en-ID" dirty="0"/>
              <a:t> </a:t>
            </a:r>
            <a:r>
              <a:rPr lang="en-ID" dirty="0" err="1"/>
              <a:t>kontribusi</a:t>
            </a:r>
            <a:r>
              <a:rPr lang="en-ID" dirty="0"/>
              <a:t> </a:t>
            </a:r>
            <a:r>
              <a:rPr lang="en-ID" dirty="0" err="1"/>
              <a:t>nyata</a:t>
            </a:r>
            <a:r>
              <a:rPr lang="en-ID" dirty="0"/>
              <a:t>: pada </a:t>
            </a:r>
            <a:r>
              <a:rPr lang="en-ID" dirty="0" err="1"/>
              <a:t>skenario</a:t>
            </a:r>
            <a:r>
              <a:rPr lang="en-ID" dirty="0"/>
              <a:t> multi-</a:t>
            </a:r>
            <a:r>
              <a:rPr lang="en-ID" dirty="0" err="1"/>
              <a:t>langkah</a:t>
            </a:r>
            <a:r>
              <a:rPr lang="en-ID" dirty="0"/>
              <a:t>, MAE </a:t>
            </a:r>
            <a:r>
              <a:rPr lang="en-ID" dirty="0" err="1"/>
              <a:t>turun</a:t>
            </a:r>
            <a:r>
              <a:rPr lang="en-ID" dirty="0"/>
              <a:t> 50,8 </a:t>
            </a:r>
            <a:r>
              <a:rPr lang="en-ID" dirty="0" err="1"/>
              <a:t>persen</a:t>
            </a:r>
            <a:r>
              <a:rPr lang="en-ID" dirty="0"/>
              <a:t>, </a:t>
            </a:r>
            <a:r>
              <a:rPr lang="en-ID" dirty="0" err="1"/>
              <a:t>dari</a:t>
            </a:r>
            <a:r>
              <a:rPr lang="en-ID" dirty="0"/>
              <a:t> Rp1.750.355 </a:t>
            </a:r>
            <a:r>
              <a:rPr lang="en-ID" dirty="0" err="1"/>
              <a:t>menjadi</a:t>
            </a:r>
            <a:r>
              <a:rPr lang="en-ID" dirty="0"/>
              <a:t> Rp860.695. Ini </a:t>
            </a:r>
            <a:r>
              <a:rPr lang="en-ID" dirty="0" err="1"/>
              <a:t>menunjukkan</a:t>
            </a:r>
            <a:r>
              <a:rPr lang="en-ID" dirty="0"/>
              <a:t> </a:t>
            </a:r>
            <a:r>
              <a:rPr lang="en-ID" dirty="0" err="1"/>
              <a:t>keterbatasan</a:t>
            </a:r>
            <a:r>
              <a:rPr lang="en-ID" dirty="0"/>
              <a:t> </a:t>
            </a:r>
            <a:r>
              <a:rPr lang="en-ID" dirty="0" err="1"/>
              <a:t>performa</a:t>
            </a:r>
            <a:r>
              <a:rPr lang="en-ID" dirty="0"/>
              <a:t> </a:t>
            </a:r>
            <a:r>
              <a:rPr lang="en-ID" dirty="0" err="1"/>
              <a:t>bersumber</a:t>
            </a:r>
            <a:r>
              <a:rPr lang="en-ID" dirty="0"/>
              <a:t> </a:t>
            </a:r>
            <a:r>
              <a:rPr lang="en-ID" dirty="0" err="1"/>
              <a:t>dari</a:t>
            </a:r>
            <a:r>
              <a:rPr lang="en-ID" dirty="0"/>
              <a:t> </a:t>
            </a:r>
            <a:r>
              <a:rPr lang="en-ID" dirty="0" err="1"/>
              <a:t>kelangkaan</a:t>
            </a:r>
            <a:r>
              <a:rPr lang="en-ID" dirty="0"/>
              <a:t> data, </a:t>
            </a:r>
            <a:r>
              <a:rPr lang="en-ID" dirty="0" err="1"/>
              <a:t>bukan</a:t>
            </a:r>
            <a:r>
              <a:rPr lang="en-ID" dirty="0"/>
              <a:t> </a:t>
            </a:r>
            <a:r>
              <a:rPr lang="en-ID" dirty="0" err="1"/>
              <a:t>dari</a:t>
            </a:r>
            <a:r>
              <a:rPr lang="en-ID" dirty="0"/>
              <a:t> </a:t>
            </a:r>
            <a:r>
              <a:rPr lang="en-ID" dirty="0" err="1"/>
              <a:t>arsitektur</a:t>
            </a:r>
            <a:r>
              <a:rPr lang="en-ID" dirty="0"/>
              <a:t> </a:t>
            </a:r>
            <a:r>
              <a:rPr lang="en-ID" dirty="0" err="1"/>
              <a:t>modelnya</a:t>
            </a:r>
            <a:r>
              <a:rPr lang="en-ID" dirty="0"/>
              <a:t>.</a:t>
            </a:r>
          </a:p>
          <a:p>
            <a:pPr rtl="0"/>
            <a:endParaRPr lang="en-ID" dirty="0"/>
          </a:p>
          <a:p>
            <a:pPr rtl="0"/>
            <a:r>
              <a:rPr lang="en-ID" dirty="0" err="1"/>
              <a:t>Ketiga</a:t>
            </a:r>
            <a:r>
              <a:rPr lang="en-ID" dirty="0"/>
              <a:t>, </a:t>
            </a:r>
            <a:r>
              <a:rPr lang="en-ID" dirty="0" err="1"/>
              <a:t>meskipun</a:t>
            </a:r>
            <a:r>
              <a:rPr lang="en-ID" dirty="0"/>
              <a:t> </a:t>
            </a:r>
            <a:r>
              <a:rPr lang="en-ID" dirty="0" err="1"/>
              <a:t>demikian</a:t>
            </a:r>
            <a:r>
              <a:rPr lang="en-ID" dirty="0"/>
              <a:t>, pada </a:t>
            </a:r>
            <a:r>
              <a:rPr lang="en-ID" dirty="0" err="1"/>
              <a:t>skenario</a:t>
            </a:r>
            <a:r>
              <a:rPr lang="en-ID" dirty="0"/>
              <a:t> horizon h </a:t>
            </a:r>
            <a:r>
              <a:rPr lang="en-ID" dirty="0" err="1"/>
              <a:t>sama</a:t>
            </a:r>
            <a:r>
              <a:rPr lang="en-ID" dirty="0"/>
              <a:t> </a:t>
            </a:r>
            <a:r>
              <a:rPr lang="en-ID" dirty="0" err="1"/>
              <a:t>dengan</a:t>
            </a:r>
            <a:r>
              <a:rPr lang="en-ID" dirty="0"/>
              <a:t> </a:t>
            </a:r>
            <a:r>
              <a:rPr lang="en-ID" dirty="0" err="1"/>
              <a:t>satu</a:t>
            </a:r>
            <a:r>
              <a:rPr lang="en-ID" dirty="0"/>
              <a:t> </a:t>
            </a:r>
            <a:r>
              <a:rPr lang="en-ID" dirty="0" err="1"/>
              <a:t>sampai</a:t>
            </a:r>
            <a:r>
              <a:rPr lang="en-ID" dirty="0"/>
              <a:t> </a:t>
            </a:r>
            <a:r>
              <a:rPr lang="en-ID" dirty="0" err="1"/>
              <a:t>tujuh</a:t>
            </a:r>
            <a:r>
              <a:rPr lang="en-ID" dirty="0"/>
              <a:t>, MASE LSTM </a:t>
            </a:r>
            <a:r>
              <a:rPr lang="en-ID" dirty="0" err="1"/>
              <a:t>stabil</a:t>
            </a:r>
            <a:r>
              <a:rPr lang="en-ID" dirty="0"/>
              <a:t> di </a:t>
            </a:r>
            <a:r>
              <a:rPr lang="en-ID" dirty="0" err="1"/>
              <a:t>kisaran</a:t>
            </a:r>
            <a:r>
              <a:rPr lang="en-ID" dirty="0"/>
              <a:t> 2,124 </a:t>
            </a:r>
            <a:r>
              <a:rPr lang="en-ID" dirty="0" err="1"/>
              <a:t>sampai</a:t>
            </a:r>
            <a:r>
              <a:rPr lang="en-ID" dirty="0"/>
              <a:t> 2,505, </a:t>
            </a:r>
            <a:r>
              <a:rPr lang="en-ID" dirty="0" err="1"/>
              <a:t>sementara</a:t>
            </a:r>
            <a:r>
              <a:rPr lang="en-ID" dirty="0"/>
              <a:t> Seasonal-Naive </a:t>
            </a:r>
            <a:r>
              <a:rPr lang="en-ID" dirty="0" err="1"/>
              <a:t>tetap</a:t>
            </a:r>
            <a:r>
              <a:rPr lang="en-ID" dirty="0"/>
              <a:t> </a:t>
            </a:r>
            <a:r>
              <a:rPr lang="en-ID" dirty="0" err="1"/>
              <a:t>unggul</a:t>
            </a:r>
            <a:r>
              <a:rPr lang="en-ID" dirty="0"/>
              <a:t> di 2,012 </a:t>
            </a:r>
            <a:r>
              <a:rPr lang="en-ID" dirty="0" err="1"/>
              <a:t>sampai</a:t>
            </a:r>
            <a:r>
              <a:rPr lang="en-ID" dirty="0"/>
              <a:t> 2,140. Jadi </a:t>
            </a:r>
            <a:r>
              <a:rPr lang="en-ID" dirty="0" err="1"/>
              <a:t>kesimpulan</a:t>
            </a:r>
            <a:r>
              <a:rPr lang="en-ID" dirty="0"/>
              <a:t> </a:t>
            </a:r>
            <a:r>
              <a:rPr lang="en-ID" dirty="0" err="1"/>
              <a:t>jujurnya</a:t>
            </a:r>
            <a:r>
              <a:rPr lang="en-ID" dirty="0"/>
              <a:t>: pada volume data </a:t>
            </a:r>
            <a:r>
              <a:rPr lang="en-ID" dirty="0" err="1"/>
              <a:t>ini</a:t>
            </a:r>
            <a:r>
              <a:rPr lang="en-ID" dirty="0"/>
              <a:t>, LSTM </a:t>
            </a:r>
            <a:r>
              <a:rPr lang="en-ID" dirty="0" err="1"/>
              <a:t>belum</a:t>
            </a:r>
            <a:r>
              <a:rPr lang="en-ID" dirty="0"/>
              <a:t> </a:t>
            </a:r>
            <a:r>
              <a:rPr lang="en-ID" dirty="0" err="1"/>
              <a:t>mengungguli</a:t>
            </a:r>
            <a:r>
              <a:rPr lang="en-ID" dirty="0"/>
              <a:t> baseline, dan </a:t>
            </a:r>
            <a:r>
              <a:rPr lang="en-ID" dirty="0" err="1"/>
              <a:t>metode</a:t>
            </a:r>
            <a:r>
              <a:rPr lang="en-ID" dirty="0"/>
              <a:t> </a:t>
            </a:r>
            <a:r>
              <a:rPr lang="en-ID" dirty="0" err="1"/>
              <a:t>statistik</a:t>
            </a:r>
            <a:r>
              <a:rPr lang="en-ID" dirty="0"/>
              <a:t> </a:t>
            </a:r>
            <a:r>
              <a:rPr lang="en-ID" dirty="0" err="1"/>
              <a:t>sederhana</a:t>
            </a:r>
            <a:r>
              <a:rPr lang="en-ID" dirty="0"/>
              <a:t> </a:t>
            </a:r>
            <a:r>
              <a:rPr lang="en-ID" dirty="0" err="1"/>
              <a:t>justru</a:t>
            </a:r>
            <a:r>
              <a:rPr lang="en-ID" dirty="0"/>
              <a:t> </a:t>
            </a:r>
            <a:r>
              <a:rPr lang="en-ID" dirty="0" err="1"/>
              <a:t>lebih</a:t>
            </a:r>
            <a:r>
              <a:rPr lang="en-ID" dirty="0"/>
              <a:t> </a:t>
            </a:r>
            <a:r>
              <a:rPr lang="en-ID" dirty="0" err="1"/>
              <a:t>layak</a:t>
            </a:r>
            <a:r>
              <a:rPr lang="en-ID" dirty="0"/>
              <a:t> </a:t>
            </a:r>
            <a:r>
              <a:rPr lang="en-ID" dirty="0" err="1"/>
              <a:t>diterapkan</a:t>
            </a:r>
            <a:r>
              <a:rPr lang="en-ID" dirty="0"/>
              <a:t>. LSTM </a:t>
            </a:r>
            <a:r>
              <a:rPr lang="en-ID" dirty="0" err="1"/>
              <a:t>relevan</a:t>
            </a:r>
            <a:r>
              <a:rPr lang="en-ID" dirty="0"/>
              <a:t> </a:t>
            </a:r>
            <a:r>
              <a:rPr lang="en-ID" dirty="0" err="1"/>
              <a:t>untuk</a:t>
            </a:r>
            <a:r>
              <a:rPr lang="en-ID" dirty="0"/>
              <a:t> </a:t>
            </a:r>
            <a:r>
              <a:rPr lang="en-ID" dirty="0" err="1"/>
              <a:t>ditinjau</a:t>
            </a:r>
            <a:r>
              <a:rPr lang="en-ID" dirty="0"/>
              <a:t> </a:t>
            </a:r>
            <a:r>
              <a:rPr lang="en-ID" dirty="0" err="1"/>
              <a:t>ulang</a:t>
            </a:r>
            <a:r>
              <a:rPr lang="en-ID" dirty="0"/>
              <a:t> </a:t>
            </a:r>
            <a:r>
              <a:rPr lang="en-ID" dirty="0" err="1"/>
              <a:t>bila</a:t>
            </a:r>
            <a:r>
              <a:rPr lang="en-ID" dirty="0"/>
              <a:t> data </a:t>
            </a:r>
            <a:r>
              <a:rPr lang="en-ID" dirty="0" err="1"/>
              <a:t>sudah</a:t>
            </a:r>
            <a:r>
              <a:rPr lang="en-ID" dirty="0"/>
              <a:t> </a:t>
            </a:r>
            <a:r>
              <a:rPr lang="en-ID" dirty="0" err="1"/>
              <a:t>mencakup</a:t>
            </a:r>
            <a:r>
              <a:rPr lang="en-ID" dirty="0"/>
              <a:t> </a:t>
            </a:r>
            <a:r>
              <a:rPr lang="en-ID" dirty="0" err="1"/>
              <a:t>tiga</a:t>
            </a:r>
            <a:r>
              <a:rPr lang="en-ID" dirty="0"/>
              <a:t> </a:t>
            </a:r>
            <a:r>
              <a:rPr lang="en-ID" dirty="0" err="1"/>
              <a:t>sampai</a:t>
            </a:r>
            <a:r>
              <a:rPr lang="en-ID" dirty="0"/>
              <a:t> lima </a:t>
            </a:r>
            <a:r>
              <a:rPr lang="en-ID" dirty="0" err="1"/>
              <a:t>tahun</a:t>
            </a:r>
            <a:r>
              <a:rPr lang="en-ID" dirty="0"/>
              <a:t> </a:t>
            </a:r>
            <a:r>
              <a:rPr lang="en-ID" dirty="0" err="1"/>
              <a:t>operasional</a:t>
            </a:r>
            <a:r>
              <a:rPr lang="en-ID" dirty="0"/>
              <a:t> — dan </a:t>
            </a:r>
            <a:r>
              <a:rPr lang="en-ID" dirty="0" err="1"/>
              <a:t>itu</a:t>
            </a:r>
            <a:r>
              <a:rPr lang="en-ID" dirty="0"/>
              <a:t> </a:t>
            </a:r>
            <a:r>
              <a:rPr lang="en-ID" dirty="0" err="1"/>
              <a:t>bisa</a:t>
            </a:r>
            <a:r>
              <a:rPr lang="en-ID" dirty="0"/>
              <a:t> </a:t>
            </a:r>
            <a:r>
              <a:rPr lang="en-ID" dirty="0" err="1"/>
              <a:t>dilakukan</a:t>
            </a:r>
            <a:r>
              <a:rPr lang="en-ID" dirty="0"/>
              <a:t> </a:t>
            </a:r>
            <a:r>
              <a:rPr lang="en-ID" dirty="0" err="1"/>
              <a:t>tanpa</a:t>
            </a:r>
            <a:r>
              <a:rPr lang="en-ID" dirty="0"/>
              <a:t> </a:t>
            </a:r>
            <a:r>
              <a:rPr lang="en-ID" dirty="0" err="1"/>
              <a:t>mengubah</a:t>
            </a:r>
            <a:r>
              <a:rPr lang="en-ID" dirty="0"/>
              <a:t> </a:t>
            </a:r>
            <a:r>
              <a:rPr lang="en-ID" dirty="0" err="1"/>
              <a:t>aplikasi</a:t>
            </a:r>
            <a:r>
              <a:rPr lang="en-ID" dirty="0"/>
              <a:t> </a:t>
            </a:r>
            <a:r>
              <a:rPr lang="en-ID" dirty="0" err="1"/>
              <a:t>sama</a:t>
            </a:r>
            <a:r>
              <a:rPr lang="en-ID" dirty="0"/>
              <a:t> </a:t>
            </a:r>
            <a:r>
              <a:rPr lang="en-ID" dirty="0" err="1"/>
              <a:t>sekali</a:t>
            </a:r>
            <a:r>
              <a:rPr lang="en-ID" dirty="0"/>
              <a:t>, </a:t>
            </a:r>
            <a:r>
              <a:rPr lang="en-ID" dirty="0" err="1"/>
              <a:t>karena</a:t>
            </a:r>
            <a:r>
              <a:rPr lang="en-ID" dirty="0"/>
              <a:t> </a:t>
            </a:r>
            <a:r>
              <a:rPr lang="en-ID" dirty="0" err="1"/>
              <a:t>layanan</a:t>
            </a:r>
            <a:r>
              <a:rPr lang="en-ID" dirty="0"/>
              <a:t> </a:t>
            </a:r>
            <a:r>
              <a:rPr lang="en-ID" dirty="0" err="1"/>
              <a:t>prediksinya</a:t>
            </a:r>
            <a:r>
              <a:rPr lang="en-ID" dirty="0"/>
              <a:t> </a:t>
            </a:r>
            <a:r>
              <a:rPr lang="en-ID" dirty="0" err="1"/>
              <a:t>bersifat</a:t>
            </a:r>
            <a:r>
              <a:rPr lang="en-ID" dirty="0"/>
              <a:t> model-agnostic.</a:t>
            </a:r>
          </a:p>
          <a:p>
            <a:pPr rtl="0"/>
            <a:endParaRPr lang="en-ID" dirty="0"/>
          </a:p>
          <a:p>
            <a:pPr rtl="0"/>
            <a:r>
              <a:rPr lang="en-ID" dirty="0"/>
              <a:t>Dari situ, saran </a:t>
            </a:r>
            <a:r>
              <a:rPr lang="en-ID" dirty="0" err="1"/>
              <a:t>saya</a:t>
            </a:r>
            <a:r>
              <a:rPr lang="en-ID" dirty="0"/>
              <a:t> </a:t>
            </a:r>
            <a:r>
              <a:rPr lang="en-ID" dirty="0" err="1"/>
              <a:t>untuk</a:t>
            </a:r>
            <a:r>
              <a:rPr lang="en-ID" dirty="0"/>
              <a:t> </a:t>
            </a:r>
            <a:r>
              <a:rPr lang="en-ID" dirty="0" err="1"/>
              <a:t>penelitian</a:t>
            </a:r>
            <a:r>
              <a:rPr lang="en-ID" dirty="0"/>
              <a:t> </a:t>
            </a:r>
            <a:r>
              <a:rPr lang="en-ID" dirty="0" err="1"/>
              <a:t>selanjutnya</a:t>
            </a:r>
            <a:r>
              <a:rPr lang="en-ID" dirty="0"/>
              <a:t>: </a:t>
            </a:r>
            <a:r>
              <a:rPr lang="en-ID" dirty="0" err="1"/>
              <a:t>memperpanjang</a:t>
            </a:r>
            <a:r>
              <a:rPr lang="en-ID" dirty="0"/>
              <a:t> </a:t>
            </a:r>
            <a:r>
              <a:rPr lang="en-ID" dirty="0" err="1"/>
              <a:t>rentang</a:t>
            </a:r>
            <a:r>
              <a:rPr lang="en-ID" dirty="0"/>
              <a:t> data </a:t>
            </a:r>
            <a:r>
              <a:rPr lang="en-ID" dirty="0" err="1"/>
              <a:t>ke</a:t>
            </a:r>
            <a:r>
              <a:rPr lang="en-ID" dirty="0"/>
              <a:t> </a:t>
            </a:r>
            <a:r>
              <a:rPr lang="en-ID" dirty="0" err="1"/>
              <a:t>tiga</a:t>
            </a:r>
            <a:r>
              <a:rPr lang="en-ID" dirty="0"/>
              <a:t> </a:t>
            </a:r>
            <a:r>
              <a:rPr lang="en-ID" dirty="0" err="1"/>
              <a:t>sampai</a:t>
            </a:r>
            <a:r>
              <a:rPr lang="en-ID" dirty="0"/>
              <a:t> lima </a:t>
            </a:r>
            <a:r>
              <a:rPr lang="en-ID" dirty="0" err="1"/>
              <a:t>tahun</a:t>
            </a:r>
            <a:r>
              <a:rPr lang="en-ID" dirty="0"/>
              <a:t>, </a:t>
            </a:r>
            <a:r>
              <a:rPr lang="en-ID" dirty="0" err="1"/>
              <a:t>menambahkan</a:t>
            </a:r>
            <a:r>
              <a:rPr lang="en-ID" dirty="0"/>
              <a:t> </a:t>
            </a:r>
            <a:r>
              <a:rPr lang="en-ID" dirty="0" err="1"/>
              <a:t>fitur</a:t>
            </a:r>
            <a:r>
              <a:rPr lang="en-ID" dirty="0"/>
              <a:t> </a:t>
            </a:r>
            <a:r>
              <a:rPr lang="en-ID" dirty="0" err="1"/>
              <a:t>gap_days</a:t>
            </a:r>
            <a:r>
              <a:rPr lang="en-ID" dirty="0"/>
              <a:t> </a:t>
            </a:r>
            <a:r>
              <a:rPr lang="en-ID" dirty="0" err="1"/>
              <a:t>untuk</a:t>
            </a:r>
            <a:r>
              <a:rPr lang="en-ID" dirty="0"/>
              <a:t> </a:t>
            </a:r>
            <a:r>
              <a:rPr lang="en-ID" dirty="0" err="1"/>
              <a:t>menangani</a:t>
            </a:r>
            <a:r>
              <a:rPr lang="en-ID" dirty="0"/>
              <a:t> </a:t>
            </a:r>
            <a:r>
              <a:rPr lang="en-ID" dirty="0" err="1"/>
              <a:t>deret</a:t>
            </a:r>
            <a:r>
              <a:rPr lang="en-ID" dirty="0"/>
              <a:t> yang </a:t>
            </a:r>
            <a:r>
              <a:rPr lang="en-ID" dirty="0" err="1"/>
              <a:t>tidak</a:t>
            </a:r>
            <a:r>
              <a:rPr lang="en-ID" dirty="0"/>
              <a:t> </a:t>
            </a:r>
            <a:r>
              <a:rPr lang="en-ID" dirty="0" err="1"/>
              <a:t>sinambung</a:t>
            </a:r>
            <a:r>
              <a:rPr lang="en-ID" dirty="0"/>
              <a:t>, </a:t>
            </a:r>
            <a:r>
              <a:rPr lang="en-ID" dirty="0" err="1"/>
              <a:t>mengatasi</a:t>
            </a:r>
            <a:r>
              <a:rPr lang="en-ID" dirty="0"/>
              <a:t> </a:t>
            </a:r>
            <a:r>
              <a:rPr lang="en-ID" dirty="0" err="1"/>
              <a:t>masalah</a:t>
            </a:r>
            <a:r>
              <a:rPr lang="en-ID" dirty="0"/>
              <a:t> cold start </a:t>
            </a:r>
            <a:r>
              <a:rPr lang="en-ID" dirty="0" err="1"/>
              <a:t>melalui</a:t>
            </a:r>
            <a:r>
              <a:rPr lang="en-ID" dirty="0"/>
              <a:t> transfer learning </a:t>
            </a:r>
            <a:r>
              <a:rPr lang="en-ID" dirty="0" err="1"/>
              <a:t>atau</a:t>
            </a:r>
            <a:r>
              <a:rPr lang="en-ID" dirty="0"/>
              <a:t> model global, </a:t>
            </a:r>
            <a:r>
              <a:rPr lang="en-ID" dirty="0" err="1"/>
              <a:t>serta</a:t>
            </a:r>
            <a:r>
              <a:rPr lang="en-ID" dirty="0"/>
              <a:t> </a:t>
            </a:r>
            <a:r>
              <a:rPr lang="en-ID" dirty="0" err="1"/>
              <a:t>mengembangkan</a:t>
            </a:r>
            <a:r>
              <a:rPr lang="en-ID" dirty="0"/>
              <a:t> model hybrid </a:t>
            </a:r>
            <a:r>
              <a:rPr lang="en-ID" dirty="0" err="1"/>
              <a:t>seperti</a:t>
            </a:r>
            <a:r>
              <a:rPr lang="en-ID" dirty="0"/>
              <a:t> ARIMA-LSTM </a:t>
            </a:r>
            <a:r>
              <a:rPr lang="en-ID" dirty="0" err="1"/>
              <a:t>atau</a:t>
            </a:r>
            <a:r>
              <a:rPr lang="en-ID" dirty="0"/>
              <a:t> LSTM-GRU</a:t>
            </a:r>
          </a:p>
          <a:p>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14</a:t>
            </a:fld>
            <a:endParaRPr lang="en-ID"/>
          </a:p>
        </p:txBody>
      </p:sp>
    </p:spTree>
    <p:extLst>
      <p:ext uri="{BB962C8B-B14F-4D97-AF65-F5344CB8AC3E}">
        <p14:creationId xmlns:p14="http://schemas.microsoft.com/office/powerpoint/2010/main" val="544639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err="1"/>
              <a:t>Demikian</a:t>
            </a:r>
            <a:r>
              <a:rPr lang="en-ID" dirty="0"/>
              <a:t> </a:t>
            </a:r>
            <a:r>
              <a:rPr lang="en-ID" dirty="0" err="1"/>
              <a:t>presentasi</a:t>
            </a:r>
            <a:r>
              <a:rPr lang="en-ID" dirty="0"/>
              <a:t> </a:t>
            </a:r>
            <a:r>
              <a:rPr lang="en-ID" dirty="0" err="1"/>
              <a:t>hasil</a:t>
            </a:r>
            <a:r>
              <a:rPr lang="en-ID" dirty="0"/>
              <a:t> </a:t>
            </a:r>
            <a:r>
              <a:rPr lang="en-ID" dirty="0" err="1"/>
              <a:t>penelitian</a:t>
            </a:r>
            <a:r>
              <a:rPr lang="en-ID" dirty="0"/>
              <a:t> yang </a:t>
            </a:r>
            <a:r>
              <a:rPr lang="en-ID" dirty="0" err="1"/>
              <a:t>dapat</a:t>
            </a:r>
            <a:r>
              <a:rPr lang="en-ID" dirty="0"/>
              <a:t> </a:t>
            </a:r>
            <a:r>
              <a:rPr lang="en-ID" dirty="0" err="1"/>
              <a:t>saya</a:t>
            </a:r>
            <a:r>
              <a:rPr lang="en-ID" dirty="0"/>
              <a:t> </a:t>
            </a:r>
            <a:r>
              <a:rPr lang="en-ID" dirty="0" err="1"/>
              <a:t>sampaikan</a:t>
            </a:r>
            <a:r>
              <a:rPr lang="en-ID" dirty="0"/>
              <a:t>. Saya </a:t>
            </a:r>
            <a:r>
              <a:rPr lang="en-ID" dirty="0" err="1"/>
              <a:t>mengucapkan</a:t>
            </a:r>
            <a:r>
              <a:rPr lang="en-ID" dirty="0"/>
              <a:t> </a:t>
            </a:r>
            <a:r>
              <a:rPr lang="en-ID" dirty="0" err="1"/>
              <a:t>terima</a:t>
            </a:r>
            <a:r>
              <a:rPr lang="en-ID" dirty="0"/>
              <a:t> </a:t>
            </a:r>
            <a:r>
              <a:rPr lang="en-ID" dirty="0" err="1"/>
              <a:t>kasih</a:t>
            </a:r>
            <a:r>
              <a:rPr lang="en-ID" dirty="0"/>
              <a:t> </a:t>
            </a:r>
            <a:r>
              <a:rPr lang="en-ID" dirty="0" err="1"/>
              <a:t>kepada</a:t>
            </a:r>
            <a:r>
              <a:rPr lang="en-ID" dirty="0"/>
              <a:t> Bapak </a:t>
            </a:r>
            <a:r>
              <a:rPr lang="en-ID" dirty="0" err="1"/>
              <a:t>Zulfan</a:t>
            </a:r>
            <a:r>
              <a:rPr lang="en-ID" dirty="0"/>
              <a:t> dan Bapak Azhar </a:t>
            </a:r>
            <a:r>
              <a:rPr lang="en-ID" dirty="0" err="1"/>
              <a:t>atas</a:t>
            </a:r>
            <a:r>
              <a:rPr lang="en-ID" dirty="0"/>
              <a:t> </a:t>
            </a:r>
            <a:r>
              <a:rPr lang="en-ID" dirty="0" err="1"/>
              <a:t>bimbingannya</a:t>
            </a:r>
            <a:r>
              <a:rPr lang="en-ID" dirty="0"/>
              <a:t> </a:t>
            </a:r>
            <a:r>
              <a:rPr lang="en-ID" dirty="0" err="1"/>
              <a:t>selama</a:t>
            </a:r>
            <a:r>
              <a:rPr lang="en-ID" dirty="0"/>
              <a:t> proses </a:t>
            </a:r>
            <a:r>
              <a:rPr lang="en-ID" dirty="0" err="1"/>
              <a:t>penelitian</a:t>
            </a:r>
            <a:r>
              <a:rPr lang="en-ID" dirty="0"/>
              <a:t>, </a:t>
            </a:r>
            <a:r>
              <a:rPr lang="en-ID" dirty="0" err="1"/>
              <a:t>serta</a:t>
            </a:r>
            <a:r>
              <a:rPr lang="en-ID" dirty="0"/>
              <a:t> </a:t>
            </a:r>
            <a:r>
              <a:rPr lang="en-ID" dirty="0" err="1"/>
              <a:t>kepada</a:t>
            </a:r>
            <a:r>
              <a:rPr lang="en-ID" dirty="0"/>
              <a:t> Bapak dan Ibu dewan </a:t>
            </a:r>
            <a:r>
              <a:rPr lang="en-ID" dirty="0" err="1"/>
              <a:t>penguji</a:t>
            </a:r>
            <a:r>
              <a:rPr lang="en-ID" dirty="0"/>
              <a:t> </a:t>
            </a:r>
            <a:r>
              <a:rPr lang="en-ID" dirty="0" err="1"/>
              <a:t>atas</a:t>
            </a:r>
            <a:r>
              <a:rPr lang="en-ID" dirty="0"/>
              <a:t> </a:t>
            </a:r>
            <a:r>
              <a:rPr lang="en-ID" dirty="0" err="1"/>
              <a:t>waktu</a:t>
            </a:r>
            <a:r>
              <a:rPr lang="en-ID" dirty="0"/>
              <a:t> dan </a:t>
            </a:r>
            <a:r>
              <a:rPr lang="en-ID" dirty="0" err="1"/>
              <a:t>kesempatan</a:t>
            </a:r>
            <a:r>
              <a:rPr lang="en-ID" dirty="0"/>
              <a:t> yang </a:t>
            </a:r>
            <a:r>
              <a:rPr lang="en-ID" dirty="0" err="1"/>
              <a:t>diberikan</a:t>
            </a:r>
            <a:r>
              <a:rPr lang="en-ID" dirty="0"/>
              <a:t>. Saya </a:t>
            </a:r>
            <a:r>
              <a:rPr lang="en-ID" dirty="0" err="1"/>
              <a:t>menyadari</a:t>
            </a:r>
            <a:r>
              <a:rPr lang="en-ID" dirty="0"/>
              <a:t> </a:t>
            </a:r>
            <a:r>
              <a:rPr lang="en-ID" dirty="0" err="1"/>
              <a:t>penelitian</a:t>
            </a:r>
            <a:r>
              <a:rPr lang="en-ID" dirty="0"/>
              <a:t> </a:t>
            </a:r>
            <a:r>
              <a:rPr lang="en-ID" dirty="0" err="1"/>
              <a:t>ini</a:t>
            </a:r>
            <a:r>
              <a:rPr lang="en-ID" dirty="0"/>
              <a:t> </a:t>
            </a:r>
            <a:r>
              <a:rPr lang="en-ID" dirty="0" err="1"/>
              <a:t>masih</a:t>
            </a:r>
            <a:r>
              <a:rPr lang="en-ID" dirty="0"/>
              <a:t> </a:t>
            </a:r>
            <a:r>
              <a:rPr lang="en-ID" dirty="0" err="1"/>
              <a:t>memiliki</a:t>
            </a:r>
            <a:r>
              <a:rPr lang="en-ID" dirty="0"/>
              <a:t> </a:t>
            </a:r>
            <a:r>
              <a:rPr lang="en-ID" dirty="0" err="1"/>
              <a:t>banyak</a:t>
            </a:r>
            <a:r>
              <a:rPr lang="en-ID" dirty="0"/>
              <a:t> </a:t>
            </a:r>
            <a:r>
              <a:rPr lang="en-ID" dirty="0" err="1"/>
              <a:t>kekurangan</a:t>
            </a:r>
            <a:r>
              <a:rPr lang="en-ID" dirty="0"/>
              <a:t>, </a:t>
            </a:r>
            <a:r>
              <a:rPr lang="en-ID" dirty="0" err="1"/>
              <a:t>karena</a:t>
            </a:r>
            <a:r>
              <a:rPr lang="en-ID" dirty="0"/>
              <a:t> </a:t>
            </a:r>
            <a:r>
              <a:rPr lang="en-ID" dirty="0" err="1"/>
              <a:t>itu</a:t>
            </a:r>
            <a:r>
              <a:rPr lang="en-ID" dirty="0"/>
              <a:t> </a:t>
            </a:r>
            <a:r>
              <a:rPr lang="en-ID" dirty="0" err="1"/>
              <a:t>saya</a:t>
            </a:r>
            <a:r>
              <a:rPr lang="en-ID" dirty="0"/>
              <a:t> sangat </a:t>
            </a:r>
            <a:r>
              <a:rPr lang="en-ID" dirty="0" err="1"/>
              <a:t>terbuka</a:t>
            </a:r>
            <a:r>
              <a:rPr lang="en-ID" dirty="0"/>
              <a:t> </a:t>
            </a:r>
            <a:r>
              <a:rPr lang="en-ID" dirty="0" err="1"/>
              <a:t>terhadap</a:t>
            </a:r>
            <a:r>
              <a:rPr lang="en-ID" dirty="0"/>
              <a:t> </a:t>
            </a:r>
            <a:r>
              <a:rPr lang="en-ID" dirty="0" err="1"/>
              <a:t>masukan</a:t>
            </a:r>
            <a:r>
              <a:rPr lang="en-ID" dirty="0"/>
              <a:t>, </a:t>
            </a:r>
            <a:r>
              <a:rPr lang="en-ID" dirty="0" err="1"/>
              <a:t>koreksi</a:t>
            </a:r>
            <a:r>
              <a:rPr lang="en-ID" dirty="0"/>
              <a:t>, dan </a:t>
            </a:r>
            <a:r>
              <a:rPr lang="en-ID" dirty="0" err="1"/>
              <a:t>pertanyaan</a:t>
            </a:r>
            <a:r>
              <a:rPr lang="en-ID" dirty="0"/>
              <a:t> </a:t>
            </a:r>
            <a:r>
              <a:rPr lang="en-ID" dirty="0" err="1"/>
              <a:t>dari</a:t>
            </a:r>
            <a:r>
              <a:rPr lang="en-ID" dirty="0"/>
              <a:t> Bapak dan Ibu </a:t>
            </a:r>
            <a:r>
              <a:rPr lang="en-ID" dirty="0" err="1"/>
              <a:t>sekalian</a:t>
            </a:r>
            <a:r>
              <a:rPr lang="en-ID" dirty="0"/>
              <a:t>. </a:t>
            </a:r>
            <a:r>
              <a:rPr lang="en-ID" dirty="0" err="1"/>
              <a:t>Terima</a:t>
            </a:r>
            <a:r>
              <a:rPr lang="en-ID" dirty="0"/>
              <a:t> </a:t>
            </a:r>
            <a:r>
              <a:rPr lang="en-ID" dirty="0" err="1"/>
              <a:t>kasih</a:t>
            </a:r>
            <a:r>
              <a:rPr lang="en-ID" dirty="0"/>
              <a:t>. </a:t>
            </a:r>
            <a:r>
              <a:rPr lang="en-ID" dirty="0" err="1"/>
              <a:t>Wassalamu'alaikum</a:t>
            </a:r>
            <a:r>
              <a:rPr lang="en-ID" dirty="0"/>
              <a:t> </a:t>
            </a:r>
            <a:r>
              <a:rPr lang="en-ID" dirty="0" err="1"/>
              <a:t>warahmatullahi</a:t>
            </a:r>
            <a:r>
              <a:rPr lang="en-ID" dirty="0"/>
              <a:t> </a:t>
            </a:r>
            <a:r>
              <a:rPr lang="en-ID" dirty="0" err="1"/>
              <a:t>wabarakatuh</a:t>
            </a:r>
            <a:endParaRPr lang="en-ID" dirty="0"/>
          </a:p>
        </p:txBody>
      </p:sp>
      <p:sp>
        <p:nvSpPr>
          <p:cNvPr id="4" name="Slide Number Placeholder 3"/>
          <p:cNvSpPr>
            <a:spLocks noGrp="1"/>
          </p:cNvSpPr>
          <p:nvPr>
            <p:ph type="sldNum" sz="quarter" idx="5"/>
          </p:nvPr>
        </p:nvSpPr>
        <p:spPr/>
        <p:txBody>
          <a:bodyPr/>
          <a:lstStyle/>
          <a:p>
            <a:fld id="{1626BC92-7B7E-4B1C-A6F9-C81ECB5BA894}" type="slidenum">
              <a:rPr lang="en-ID" smtClean="0"/>
              <a:t>15</a:t>
            </a:fld>
            <a:endParaRPr lang="en-ID"/>
          </a:p>
        </p:txBody>
      </p:sp>
    </p:spTree>
    <p:extLst>
      <p:ext uri="{BB962C8B-B14F-4D97-AF65-F5344CB8AC3E}">
        <p14:creationId xmlns:p14="http://schemas.microsoft.com/office/powerpoint/2010/main" val="4222168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oleObject" Target="../embeddings/oleObject1.bin"/><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sv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0A175"/>
        </a:solidFill>
        <a:effectLst/>
      </p:bgPr>
    </p:bg>
    <p:spTree>
      <p:nvGrpSpPr>
        <p:cNvPr id="1" name=""/>
        <p:cNvGrpSpPr/>
        <p:nvPr/>
      </p:nvGrpSpPr>
      <p:grpSpPr>
        <a:xfrm>
          <a:off x="0" y="0"/>
          <a:ext cx="0" cy="0"/>
          <a:chOff x="0" y="0"/>
          <a:chExt cx="0" cy="0"/>
        </a:xfrm>
      </p:grpSpPr>
      <p:sp>
        <p:nvSpPr>
          <p:cNvPr id="2" name="TextBox 2"/>
          <p:cNvSpPr txBox="1"/>
          <p:nvPr/>
        </p:nvSpPr>
        <p:spPr>
          <a:xfrm>
            <a:off x="1159367" y="2068792"/>
            <a:ext cx="15969266" cy="3716408"/>
          </a:xfrm>
          <a:prstGeom prst="rect">
            <a:avLst/>
          </a:prstGeom>
        </p:spPr>
        <p:txBody>
          <a:bodyPr lIns="0" tIns="0" rIns="0" bIns="0" rtlCol="0" anchor="t">
            <a:spAutoFit/>
          </a:bodyPr>
          <a:lstStyle/>
          <a:p>
            <a:pPr marL="0" lvl="1" indent="0" algn="ctr">
              <a:lnSpc>
                <a:spcPts val="7153"/>
              </a:lnSpc>
            </a:pPr>
            <a:r>
              <a:rPr lang="en-US" sz="5109" b="1" spc="-102">
                <a:solidFill>
                  <a:srgbClr val="000000"/>
                </a:solidFill>
                <a:latin typeface="Hagrid Ultra-Bold"/>
                <a:ea typeface="Hagrid Ultra-Bold"/>
                <a:cs typeface="Hagrid Ultra-Bold"/>
                <a:sym typeface="Hagrid Ultra-Bold"/>
              </a:rPr>
              <a:t>RANCANG BANGUN APLIKASI POINT OF SALE DENGAN FITUR PREDIKSI PENJUALAN HARIAN MENGGUNAKAN METODE LONG SHORT-TERM MEMORY (LSTM)</a:t>
            </a:r>
          </a:p>
        </p:txBody>
      </p:sp>
      <p:sp>
        <p:nvSpPr>
          <p:cNvPr id="3" name="TextBox 3"/>
          <p:cNvSpPr txBox="1"/>
          <p:nvPr/>
        </p:nvSpPr>
        <p:spPr>
          <a:xfrm>
            <a:off x="6661731" y="5936120"/>
            <a:ext cx="4964539" cy="504986"/>
          </a:xfrm>
          <a:prstGeom prst="rect">
            <a:avLst/>
          </a:prstGeom>
        </p:spPr>
        <p:txBody>
          <a:bodyPr lIns="0" tIns="0" rIns="0" bIns="0" rtlCol="0" anchor="t">
            <a:spAutoFit/>
          </a:bodyPr>
          <a:lstStyle/>
          <a:p>
            <a:pPr marL="0" lvl="1" indent="0" algn="ctr">
              <a:lnSpc>
                <a:spcPts val="4191"/>
              </a:lnSpc>
            </a:pPr>
            <a:r>
              <a:rPr lang="en-US" sz="2993" spc="-59">
                <a:solidFill>
                  <a:srgbClr val="000000"/>
                </a:solidFill>
                <a:latin typeface="Hagrid"/>
                <a:ea typeface="Hagrid"/>
                <a:cs typeface="Hagrid"/>
                <a:sym typeface="Hagrid"/>
              </a:rPr>
              <a:t>MUHAMMAD KHOLIS</a:t>
            </a:r>
          </a:p>
        </p:txBody>
      </p:sp>
      <p:sp>
        <p:nvSpPr>
          <p:cNvPr id="4" name="TextBox 4"/>
          <p:cNvSpPr txBox="1"/>
          <p:nvPr/>
        </p:nvSpPr>
        <p:spPr>
          <a:xfrm>
            <a:off x="6661731" y="6479066"/>
            <a:ext cx="4964539" cy="504986"/>
          </a:xfrm>
          <a:prstGeom prst="rect">
            <a:avLst/>
          </a:prstGeom>
        </p:spPr>
        <p:txBody>
          <a:bodyPr lIns="0" tIns="0" rIns="0" bIns="0" rtlCol="0" anchor="t">
            <a:spAutoFit/>
          </a:bodyPr>
          <a:lstStyle/>
          <a:p>
            <a:pPr marL="0" lvl="1" indent="0" algn="ctr">
              <a:lnSpc>
                <a:spcPts val="4191"/>
              </a:lnSpc>
            </a:pPr>
            <a:r>
              <a:rPr lang="en-US" sz="2993" spc="-59">
                <a:solidFill>
                  <a:srgbClr val="000000"/>
                </a:solidFill>
                <a:latin typeface="Hagrid"/>
                <a:ea typeface="Hagrid"/>
                <a:cs typeface="Hagrid"/>
                <a:sym typeface="Hagrid"/>
              </a:rPr>
              <a:t>2022573010098</a:t>
            </a:r>
          </a:p>
        </p:txBody>
      </p:sp>
      <p:sp>
        <p:nvSpPr>
          <p:cNvPr id="5" name="TextBox 5"/>
          <p:cNvSpPr txBox="1"/>
          <p:nvPr/>
        </p:nvSpPr>
        <p:spPr>
          <a:xfrm>
            <a:off x="5577495" y="1599149"/>
            <a:ext cx="7133009" cy="366349"/>
          </a:xfrm>
          <a:prstGeom prst="rect">
            <a:avLst/>
          </a:prstGeom>
        </p:spPr>
        <p:txBody>
          <a:bodyPr lIns="0" tIns="0" rIns="0" bIns="0" rtlCol="0" anchor="t">
            <a:spAutoFit/>
          </a:bodyPr>
          <a:lstStyle/>
          <a:p>
            <a:pPr marL="0" lvl="1" indent="0" algn="ctr">
              <a:lnSpc>
                <a:spcPts val="2752"/>
              </a:lnSpc>
            </a:pPr>
            <a:r>
              <a:rPr lang="en-US" sz="2752" spc="-55">
                <a:solidFill>
                  <a:srgbClr val="000000"/>
                </a:solidFill>
                <a:latin typeface="Hagrid"/>
                <a:ea typeface="Hagrid"/>
                <a:cs typeface="Hagrid"/>
                <a:sym typeface="Hagrid"/>
              </a:rPr>
              <a:t>SIDANG SKRIPSI</a:t>
            </a:r>
          </a:p>
        </p:txBody>
      </p:sp>
      <p:sp>
        <p:nvSpPr>
          <p:cNvPr id="6" name="AutoShape 6"/>
          <p:cNvSpPr/>
          <p:nvPr/>
        </p:nvSpPr>
        <p:spPr>
          <a:xfrm flipV="1">
            <a:off x="1028700" y="1227674"/>
            <a:ext cx="15969266" cy="0"/>
          </a:xfrm>
          <a:prstGeom prst="line">
            <a:avLst/>
          </a:prstGeom>
          <a:ln w="19050" cap="flat">
            <a:solidFill>
              <a:srgbClr val="EEF1F1"/>
            </a:solidFill>
            <a:prstDash val="solid"/>
            <a:headEnd type="none" w="sm" len="sm"/>
            <a:tailEnd type="none" w="sm" len="sm"/>
          </a:ln>
        </p:spPr>
      </p:sp>
      <p:sp>
        <p:nvSpPr>
          <p:cNvPr id="7" name="AutoShape 7"/>
          <p:cNvSpPr/>
          <p:nvPr/>
        </p:nvSpPr>
        <p:spPr>
          <a:xfrm flipV="1">
            <a:off x="1028700" y="272125"/>
            <a:ext cx="15969266" cy="0"/>
          </a:xfrm>
          <a:prstGeom prst="line">
            <a:avLst/>
          </a:prstGeom>
          <a:ln w="19050" cap="flat">
            <a:solidFill>
              <a:srgbClr val="EEF1F1"/>
            </a:solidFill>
            <a:prstDash val="solid"/>
            <a:headEnd type="none" w="sm" len="sm"/>
            <a:tailEnd type="none" w="sm" len="sm"/>
          </a:ln>
        </p:spPr>
      </p:sp>
      <p:sp>
        <p:nvSpPr>
          <p:cNvPr id="8" name="AutoShape 8"/>
          <p:cNvSpPr/>
          <p:nvPr/>
        </p:nvSpPr>
        <p:spPr>
          <a:xfrm>
            <a:off x="1028700" y="7135711"/>
            <a:ext cx="16230600" cy="0"/>
          </a:xfrm>
          <a:prstGeom prst="line">
            <a:avLst/>
          </a:prstGeom>
          <a:ln w="19050" cap="flat">
            <a:solidFill>
              <a:srgbClr val="EEF1F1"/>
            </a:solidFill>
            <a:prstDash val="solid"/>
            <a:headEnd type="none" w="sm" len="sm"/>
            <a:tailEnd type="none" w="sm" len="sm"/>
          </a:ln>
        </p:spPr>
      </p:sp>
      <p:sp>
        <p:nvSpPr>
          <p:cNvPr id="9" name="Freeform 9"/>
          <p:cNvSpPr/>
          <p:nvPr/>
        </p:nvSpPr>
        <p:spPr>
          <a:xfrm>
            <a:off x="17259300" y="364124"/>
            <a:ext cx="771552" cy="771552"/>
          </a:xfrm>
          <a:custGeom>
            <a:avLst/>
            <a:gdLst/>
            <a:ahLst/>
            <a:cxnLst/>
            <a:rect l="l" t="t" r="r" b="b"/>
            <a:pathLst>
              <a:path w="771552" h="771552">
                <a:moveTo>
                  <a:pt x="0" y="0"/>
                </a:moveTo>
                <a:lnTo>
                  <a:pt x="771552" y="0"/>
                </a:lnTo>
                <a:lnTo>
                  <a:pt x="771552" y="771551"/>
                </a:lnTo>
                <a:lnTo>
                  <a:pt x="0" y="771551"/>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10" name="Freeform 10"/>
          <p:cNvSpPr/>
          <p:nvPr/>
        </p:nvSpPr>
        <p:spPr>
          <a:xfrm>
            <a:off x="1028700" y="33129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11" name="Freeform 11"/>
          <p:cNvSpPr/>
          <p:nvPr/>
        </p:nvSpPr>
        <p:spPr>
          <a:xfrm>
            <a:off x="2016259" y="331292"/>
            <a:ext cx="837215" cy="837215"/>
          </a:xfrm>
          <a:custGeom>
            <a:avLst/>
            <a:gdLst/>
            <a:ahLst/>
            <a:cxnLst/>
            <a:rect l="l" t="t" r="r" b="b"/>
            <a:pathLst>
              <a:path w="837215" h="837215">
                <a:moveTo>
                  <a:pt x="0" y="0"/>
                </a:moveTo>
                <a:lnTo>
                  <a:pt x="837215" y="0"/>
                </a:lnTo>
                <a:lnTo>
                  <a:pt x="837215" y="837215"/>
                </a:lnTo>
                <a:lnTo>
                  <a:pt x="0" y="837215"/>
                </a:lnTo>
                <a:lnTo>
                  <a:pt x="0" y="0"/>
                </a:lnTo>
                <a:close/>
              </a:path>
            </a:pathLst>
          </a:custGeom>
          <a:blipFill>
            <a:blip r:embed="rId5"/>
            <a:stretch>
              <a:fillRect/>
            </a:stretch>
          </a:blipFill>
        </p:spPr>
      </p:sp>
      <p:sp>
        <p:nvSpPr>
          <p:cNvPr id="12" name="TextBox 12"/>
          <p:cNvSpPr txBox="1"/>
          <p:nvPr/>
        </p:nvSpPr>
        <p:spPr>
          <a:xfrm>
            <a:off x="3299238" y="582463"/>
            <a:ext cx="6296341" cy="325349"/>
          </a:xfrm>
          <a:prstGeom prst="rect">
            <a:avLst/>
          </a:prstGeom>
        </p:spPr>
        <p:txBody>
          <a:bodyPr lIns="0" tIns="0" rIns="0" bIns="0" rtlCol="0" anchor="t">
            <a:spAutoFit/>
          </a:bodyPr>
          <a:lstStyle/>
          <a:p>
            <a:pPr marL="0" lvl="0" indent="0" algn="l">
              <a:lnSpc>
                <a:spcPts val="2487"/>
              </a:lnSpc>
            </a:pPr>
            <a:r>
              <a:rPr lang="en-US" sz="2072">
                <a:solidFill>
                  <a:srgbClr val="000000"/>
                </a:solidFill>
                <a:latin typeface="Gotham"/>
                <a:ea typeface="Gotham"/>
                <a:cs typeface="Gotham"/>
                <a:sym typeface="Gotham"/>
              </a:rPr>
              <a:t>POLITEKNIK NEGERI LHOKSEUMAWE</a:t>
            </a:r>
          </a:p>
        </p:txBody>
      </p:sp>
      <p:sp>
        <p:nvSpPr>
          <p:cNvPr id="13" name="TextBox 13"/>
          <p:cNvSpPr txBox="1"/>
          <p:nvPr/>
        </p:nvSpPr>
        <p:spPr>
          <a:xfrm>
            <a:off x="1028700" y="7286112"/>
            <a:ext cx="3126669" cy="361950"/>
          </a:xfrm>
          <a:prstGeom prst="rect">
            <a:avLst/>
          </a:prstGeom>
        </p:spPr>
        <p:txBody>
          <a:bodyPr lIns="0" tIns="0" rIns="0" bIns="0" rtlCol="0" anchor="t">
            <a:spAutoFit/>
          </a:bodyPr>
          <a:lstStyle/>
          <a:p>
            <a:pPr marL="0" lvl="0" indent="0" algn="l">
              <a:lnSpc>
                <a:spcPts val="2879"/>
              </a:lnSpc>
              <a:spcBef>
                <a:spcPct val="0"/>
              </a:spcBef>
            </a:pPr>
            <a:r>
              <a:rPr lang="en-US" sz="2399">
                <a:solidFill>
                  <a:srgbClr val="000000"/>
                </a:solidFill>
                <a:latin typeface="Gotham"/>
                <a:ea typeface="Gotham"/>
                <a:cs typeface="Gotham"/>
                <a:sym typeface="Gotham"/>
              </a:rPr>
              <a:t>PEMBIMBING 1</a:t>
            </a:r>
          </a:p>
        </p:txBody>
      </p:sp>
      <p:sp>
        <p:nvSpPr>
          <p:cNvPr id="14" name="TextBox 14"/>
          <p:cNvSpPr txBox="1"/>
          <p:nvPr/>
        </p:nvSpPr>
        <p:spPr>
          <a:xfrm>
            <a:off x="1028700" y="8729150"/>
            <a:ext cx="3126669" cy="361950"/>
          </a:xfrm>
          <a:prstGeom prst="rect">
            <a:avLst/>
          </a:prstGeom>
        </p:spPr>
        <p:txBody>
          <a:bodyPr lIns="0" tIns="0" rIns="0" bIns="0" rtlCol="0" anchor="t">
            <a:spAutoFit/>
          </a:bodyPr>
          <a:lstStyle/>
          <a:p>
            <a:pPr marL="0" lvl="0" indent="0" algn="l">
              <a:lnSpc>
                <a:spcPts val="2879"/>
              </a:lnSpc>
              <a:spcBef>
                <a:spcPct val="0"/>
              </a:spcBef>
            </a:pPr>
            <a:r>
              <a:rPr lang="en-US" sz="2399">
                <a:solidFill>
                  <a:srgbClr val="000000"/>
                </a:solidFill>
                <a:latin typeface="Gotham"/>
                <a:ea typeface="Gotham"/>
                <a:cs typeface="Gotham"/>
                <a:sym typeface="Gotham"/>
              </a:rPr>
              <a:t>PENGUJI 1</a:t>
            </a:r>
          </a:p>
        </p:txBody>
      </p:sp>
      <p:sp>
        <p:nvSpPr>
          <p:cNvPr id="15" name="TextBox 15"/>
          <p:cNvSpPr txBox="1"/>
          <p:nvPr/>
        </p:nvSpPr>
        <p:spPr>
          <a:xfrm>
            <a:off x="14132631" y="7286112"/>
            <a:ext cx="3126669" cy="361950"/>
          </a:xfrm>
          <a:prstGeom prst="rect">
            <a:avLst/>
          </a:prstGeom>
        </p:spPr>
        <p:txBody>
          <a:bodyPr lIns="0" tIns="0" rIns="0" bIns="0" rtlCol="0" anchor="t">
            <a:spAutoFit/>
          </a:bodyPr>
          <a:lstStyle/>
          <a:p>
            <a:pPr marL="0" lvl="0" indent="0" algn="r">
              <a:lnSpc>
                <a:spcPts val="2879"/>
              </a:lnSpc>
              <a:spcBef>
                <a:spcPct val="0"/>
              </a:spcBef>
            </a:pPr>
            <a:r>
              <a:rPr lang="en-US" sz="2399">
                <a:solidFill>
                  <a:srgbClr val="000000"/>
                </a:solidFill>
                <a:latin typeface="Gotham"/>
                <a:ea typeface="Gotham"/>
                <a:cs typeface="Gotham"/>
                <a:sym typeface="Gotham"/>
              </a:rPr>
              <a:t>PEMBIMBING 2</a:t>
            </a:r>
          </a:p>
        </p:txBody>
      </p:sp>
      <p:sp>
        <p:nvSpPr>
          <p:cNvPr id="16" name="TextBox 16"/>
          <p:cNvSpPr txBox="1"/>
          <p:nvPr/>
        </p:nvSpPr>
        <p:spPr>
          <a:xfrm>
            <a:off x="8289461" y="8714862"/>
            <a:ext cx="1709078" cy="361950"/>
          </a:xfrm>
          <a:prstGeom prst="rect">
            <a:avLst/>
          </a:prstGeom>
        </p:spPr>
        <p:txBody>
          <a:bodyPr lIns="0" tIns="0" rIns="0" bIns="0" rtlCol="0" anchor="t">
            <a:spAutoFit/>
          </a:bodyPr>
          <a:lstStyle/>
          <a:p>
            <a:pPr marL="0" lvl="0" indent="0" algn="l">
              <a:lnSpc>
                <a:spcPts val="2879"/>
              </a:lnSpc>
              <a:spcBef>
                <a:spcPct val="0"/>
              </a:spcBef>
            </a:pPr>
            <a:r>
              <a:rPr lang="en-US" sz="2399">
                <a:solidFill>
                  <a:srgbClr val="000000"/>
                </a:solidFill>
                <a:latin typeface="Gotham"/>
                <a:ea typeface="Gotham"/>
                <a:cs typeface="Gotham"/>
                <a:sym typeface="Gotham"/>
              </a:rPr>
              <a:t>PENGUJI 2</a:t>
            </a:r>
          </a:p>
        </p:txBody>
      </p:sp>
      <p:sp>
        <p:nvSpPr>
          <p:cNvPr id="17" name="TextBox 17"/>
          <p:cNvSpPr txBox="1"/>
          <p:nvPr/>
        </p:nvSpPr>
        <p:spPr>
          <a:xfrm>
            <a:off x="1028700" y="7667112"/>
            <a:ext cx="7093398" cy="405765"/>
          </a:xfrm>
          <a:prstGeom prst="rect">
            <a:avLst/>
          </a:prstGeom>
        </p:spPr>
        <p:txBody>
          <a:bodyPr lIns="0" tIns="0" rIns="0" bIns="0" rtlCol="0" anchor="t">
            <a:spAutoFit/>
          </a:bodyPr>
          <a:lstStyle/>
          <a:p>
            <a:pPr algn="just">
              <a:lnSpc>
                <a:spcPts val="3360"/>
              </a:lnSpc>
            </a:pPr>
            <a:r>
              <a:rPr lang="en-US" sz="2400" b="1">
                <a:solidFill>
                  <a:srgbClr val="000000"/>
                </a:solidFill>
                <a:latin typeface="Gotham Bold"/>
                <a:ea typeface="Gotham Bold"/>
                <a:cs typeface="Gotham Bold"/>
                <a:sym typeface="Gotham Bold"/>
              </a:rPr>
              <a:t>Zulfan Khairil Simbolon, S.T., M.Eng.</a:t>
            </a:r>
          </a:p>
        </p:txBody>
      </p:sp>
      <p:sp>
        <p:nvSpPr>
          <p:cNvPr id="18" name="TextBox 18"/>
          <p:cNvSpPr txBox="1"/>
          <p:nvPr/>
        </p:nvSpPr>
        <p:spPr>
          <a:xfrm>
            <a:off x="1028700" y="9233975"/>
            <a:ext cx="7093398" cy="405765"/>
          </a:xfrm>
          <a:prstGeom prst="rect">
            <a:avLst/>
          </a:prstGeom>
        </p:spPr>
        <p:txBody>
          <a:bodyPr lIns="0" tIns="0" rIns="0" bIns="0" rtlCol="0" anchor="t">
            <a:spAutoFit/>
          </a:bodyPr>
          <a:lstStyle/>
          <a:p>
            <a:pPr algn="just">
              <a:lnSpc>
                <a:spcPts val="3360"/>
              </a:lnSpc>
            </a:pPr>
            <a:r>
              <a:rPr lang="en-US" sz="2400" b="1">
                <a:solidFill>
                  <a:srgbClr val="000000"/>
                </a:solidFill>
                <a:latin typeface="Gotham Bold"/>
                <a:ea typeface="Gotham Bold"/>
                <a:cs typeface="Gotham Bold"/>
                <a:sym typeface="Gotham Bold"/>
              </a:rPr>
              <a:t>Muhammad Arhami, S.Si., M.Kom.</a:t>
            </a:r>
          </a:p>
        </p:txBody>
      </p:sp>
      <p:sp>
        <p:nvSpPr>
          <p:cNvPr id="19" name="TextBox 19"/>
          <p:cNvSpPr txBox="1"/>
          <p:nvPr/>
        </p:nvSpPr>
        <p:spPr>
          <a:xfrm>
            <a:off x="13336736" y="7667112"/>
            <a:ext cx="3922564" cy="405765"/>
          </a:xfrm>
          <a:prstGeom prst="rect">
            <a:avLst/>
          </a:prstGeom>
        </p:spPr>
        <p:txBody>
          <a:bodyPr lIns="0" tIns="0" rIns="0" bIns="0" rtlCol="0" anchor="t">
            <a:spAutoFit/>
          </a:bodyPr>
          <a:lstStyle/>
          <a:p>
            <a:pPr algn="r">
              <a:lnSpc>
                <a:spcPts val="3360"/>
              </a:lnSpc>
            </a:pPr>
            <a:r>
              <a:rPr lang="en-US" sz="2400" b="1">
                <a:solidFill>
                  <a:srgbClr val="000000"/>
                </a:solidFill>
                <a:latin typeface="Gotham Bold"/>
                <a:ea typeface="Gotham Bold"/>
                <a:cs typeface="Gotham Bold"/>
                <a:sym typeface="Gotham Bold"/>
              </a:rPr>
              <a:t>Azhar, S.T., M.T.</a:t>
            </a:r>
          </a:p>
        </p:txBody>
      </p:sp>
      <p:sp>
        <p:nvSpPr>
          <p:cNvPr id="20" name="TextBox 20"/>
          <p:cNvSpPr txBox="1"/>
          <p:nvPr/>
        </p:nvSpPr>
        <p:spPr>
          <a:xfrm>
            <a:off x="8289461" y="9253025"/>
            <a:ext cx="3434481" cy="405765"/>
          </a:xfrm>
          <a:prstGeom prst="rect">
            <a:avLst/>
          </a:prstGeom>
        </p:spPr>
        <p:txBody>
          <a:bodyPr lIns="0" tIns="0" rIns="0" bIns="0" rtlCol="0" anchor="t">
            <a:spAutoFit/>
          </a:bodyPr>
          <a:lstStyle/>
          <a:p>
            <a:pPr algn="just">
              <a:lnSpc>
                <a:spcPts val="3360"/>
              </a:lnSpc>
            </a:pPr>
            <a:r>
              <a:rPr lang="en-US" sz="2400" b="1">
                <a:solidFill>
                  <a:srgbClr val="000000"/>
                </a:solidFill>
                <a:latin typeface="Gotham Bold"/>
                <a:ea typeface="Gotham Bold"/>
                <a:cs typeface="Gotham Bold"/>
                <a:sym typeface="Gotham Bold"/>
              </a:rPr>
              <a:t>Mahdi, S.T., M.Cs. </a:t>
            </a:r>
          </a:p>
        </p:txBody>
      </p:sp>
      <p:sp>
        <p:nvSpPr>
          <p:cNvPr id="21" name="AutoShape 21"/>
          <p:cNvSpPr/>
          <p:nvPr/>
        </p:nvSpPr>
        <p:spPr>
          <a:xfrm>
            <a:off x="1028700" y="8324337"/>
            <a:ext cx="16230600" cy="0"/>
          </a:xfrm>
          <a:prstGeom prst="line">
            <a:avLst/>
          </a:prstGeom>
          <a:ln w="19050" cap="flat">
            <a:solidFill>
              <a:srgbClr val="EEF1F1"/>
            </a:solidFill>
            <a:prstDash val="solid"/>
            <a:headEnd type="none" w="sm" len="sm"/>
            <a:tailEnd type="none" w="sm" len="sm"/>
          </a:ln>
        </p:spPr>
      </p:sp>
      <p:sp>
        <p:nvSpPr>
          <p:cNvPr id="22" name="TextBox 22"/>
          <p:cNvSpPr txBox="1"/>
          <p:nvPr/>
        </p:nvSpPr>
        <p:spPr>
          <a:xfrm>
            <a:off x="15550222" y="8729150"/>
            <a:ext cx="1709078" cy="361950"/>
          </a:xfrm>
          <a:prstGeom prst="rect">
            <a:avLst/>
          </a:prstGeom>
        </p:spPr>
        <p:txBody>
          <a:bodyPr lIns="0" tIns="0" rIns="0" bIns="0" rtlCol="0" anchor="t">
            <a:spAutoFit/>
          </a:bodyPr>
          <a:lstStyle/>
          <a:p>
            <a:pPr marL="0" lvl="0" indent="0" algn="l">
              <a:lnSpc>
                <a:spcPts val="2879"/>
              </a:lnSpc>
              <a:spcBef>
                <a:spcPct val="0"/>
              </a:spcBef>
            </a:pPr>
            <a:r>
              <a:rPr lang="en-US" sz="2399">
                <a:solidFill>
                  <a:srgbClr val="000000"/>
                </a:solidFill>
                <a:latin typeface="Gotham"/>
                <a:ea typeface="Gotham"/>
                <a:cs typeface="Gotham"/>
                <a:sym typeface="Gotham"/>
              </a:rPr>
              <a:t>PENGUJI 3</a:t>
            </a:r>
          </a:p>
        </p:txBody>
      </p:sp>
      <p:sp>
        <p:nvSpPr>
          <p:cNvPr id="23" name="TextBox 23"/>
          <p:cNvSpPr txBox="1"/>
          <p:nvPr/>
        </p:nvSpPr>
        <p:spPr>
          <a:xfrm>
            <a:off x="13824819" y="9233975"/>
            <a:ext cx="3434481" cy="405765"/>
          </a:xfrm>
          <a:prstGeom prst="rect">
            <a:avLst/>
          </a:prstGeom>
        </p:spPr>
        <p:txBody>
          <a:bodyPr lIns="0" tIns="0" rIns="0" bIns="0" rtlCol="0" anchor="t">
            <a:spAutoFit/>
          </a:bodyPr>
          <a:lstStyle/>
          <a:p>
            <a:pPr algn="just">
              <a:lnSpc>
                <a:spcPts val="3360"/>
              </a:lnSpc>
            </a:pPr>
            <a:r>
              <a:rPr lang="en-US" sz="2400" b="1">
                <a:solidFill>
                  <a:srgbClr val="000000"/>
                </a:solidFill>
                <a:latin typeface="Gotham Bold"/>
                <a:ea typeface="Gotham Bold"/>
                <a:cs typeface="Gotham Bold"/>
                <a:sym typeface="Gotham Bold"/>
              </a:rPr>
              <a:t>Hendrawati, S.T., M.T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372042" y="1028700"/>
            <a:ext cx="17297742" cy="0"/>
          </a:xfrm>
          <a:prstGeom prst="line">
            <a:avLst/>
          </a:prstGeom>
          <a:ln w="19050" cap="flat">
            <a:solidFill>
              <a:srgbClr val="2E2C2B"/>
            </a:solidFill>
            <a:prstDash val="solid"/>
            <a:headEnd type="none" w="sm" len="sm"/>
            <a:tailEnd type="none" w="sm" len="sm"/>
          </a:ln>
        </p:spPr>
      </p:sp>
      <p:sp>
        <p:nvSpPr>
          <p:cNvPr id="3" name="TextBox 3"/>
          <p:cNvSpPr txBox="1"/>
          <p:nvPr/>
        </p:nvSpPr>
        <p:spPr>
          <a:xfrm>
            <a:off x="16332192" y="25115"/>
            <a:ext cx="1144270" cy="789385"/>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02</a:t>
            </a:r>
          </a:p>
        </p:txBody>
      </p:sp>
      <p:sp>
        <p:nvSpPr>
          <p:cNvPr id="4" name="TextBox 4"/>
          <p:cNvSpPr txBox="1"/>
          <p:nvPr/>
        </p:nvSpPr>
        <p:spPr>
          <a:xfrm>
            <a:off x="9723795" y="258200"/>
            <a:ext cx="4912124" cy="456565"/>
          </a:xfrm>
          <a:prstGeom prst="rect">
            <a:avLst/>
          </a:prstGeom>
        </p:spPr>
        <p:txBody>
          <a:bodyPr lIns="0" tIns="0" rIns="0" bIns="0" rtlCol="0" anchor="t">
            <a:spAutoFit/>
          </a:bodyPr>
          <a:lstStyle/>
          <a:p>
            <a:pPr marL="0" lvl="1" indent="0" algn="ctr">
              <a:lnSpc>
                <a:spcPts val="3200"/>
              </a:lnSpc>
            </a:pPr>
            <a:r>
              <a:rPr lang="en-US" sz="3200" b="1" spc="-64">
                <a:solidFill>
                  <a:srgbClr val="2E2C2B"/>
                </a:solidFill>
                <a:latin typeface="Hagrid Ultra-Bold"/>
                <a:ea typeface="Hagrid Ultra-Bold"/>
                <a:cs typeface="Hagrid Ultra-Bold"/>
                <a:sym typeface="Hagrid Ultra-Bold"/>
              </a:rPr>
              <a:t>LATAR BELAKANG</a:t>
            </a:r>
          </a:p>
        </p:txBody>
      </p:sp>
      <p:sp>
        <p:nvSpPr>
          <p:cNvPr id="5" name="TextBox 5"/>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6" name="Freeform 6"/>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8" name="TextBox 8"/>
          <p:cNvSpPr txBox="1"/>
          <p:nvPr/>
        </p:nvSpPr>
        <p:spPr>
          <a:xfrm>
            <a:off x="372042" y="1466850"/>
            <a:ext cx="3853079" cy="452755"/>
          </a:xfrm>
          <a:prstGeom prst="rect">
            <a:avLst/>
          </a:prstGeom>
        </p:spPr>
        <p:txBody>
          <a:bodyPr lIns="0" tIns="0" rIns="0" bIns="0" rtlCol="0" anchor="t">
            <a:spAutoFit/>
          </a:bodyPr>
          <a:lstStyle/>
          <a:p>
            <a:pPr marL="0" lvl="1" indent="0" algn="ctr">
              <a:lnSpc>
                <a:spcPts val="3200"/>
              </a:lnSpc>
            </a:pPr>
            <a:r>
              <a:rPr lang="en-US" sz="3200" b="1" spc="-64">
                <a:solidFill>
                  <a:srgbClr val="2E2C2B"/>
                </a:solidFill>
                <a:latin typeface="Hagrid Ultra-Bold"/>
                <a:ea typeface="Hagrid Ultra-Bold"/>
                <a:cs typeface="Hagrid Ultra-Bold"/>
                <a:sym typeface="Hagrid Ultra-Bold"/>
              </a:rPr>
              <a:t>MASALAH UTAMA</a:t>
            </a:r>
          </a:p>
        </p:txBody>
      </p:sp>
      <p:sp>
        <p:nvSpPr>
          <p:cNvPr id="9" name="TextBox 9"/>
          <p:cNvSpPr txBox="1"/>
          <p:nvPr/>
        </p:nvSpPr>
        <p:spPr>
          <a:xfrm>
            <a:off x="9723795" y="1466850"/>
            <a:ext cx="2015377" cy="452755"/>
          </a:xfrm>
          <a:prstGeom prst="rect">
            <a:avLst/>
          </a:prstGeom>
        </p:spPr>
        <p:txBody>
          <a:bodyPr lIns="0" tIns="0" rIns="0" bIns="0" rtlCol="0" anchor="t">
            <a:spAutoFit/>
          </a:bodyPr>
          <a:lstStyle/>
          <a:p>
            <a:pPr marL="0" lvl="1" indent="0" algn="ctr">
              <a:lnSpc>
                <a:spcPts val="3200"/>
              </a:lnSpc>
            </a:pPr>
            <a:r>
              <a:rPr lang="en-US" sz="3200" b="1" spc="-64">
                <a:solidFill>
                  <a:srgbClr val="2E2C2B"/>
                </a:solidFill>
                <a:latin typeface="Hagrid Ultra-Bold"/>
                <a:ea typeface="Hagrid Ultra-Bold"/>
                <a:cs typeface="Hagrid Ultra-Bold"/>
                <a:sym typeface="Hagrid Ultra-Bold"/>
              </a:rPr>
              <a:t>DAMPAK</a:t>
            </a:r>
          </a:p>
        </p:txBody>
      </p:sp>
      <p:sp>
        <p:nvSpPr>
          <p:cNvPr id="10" name="TextBox 10"/>
          <p:cNvSpPr txBox="1"/>
          <p:nvPr/>
        </p:nvSpPr>
        <p:spPr>
          <a:xfrm>
            <a:off x="372042" y="6039369"/>
            <a:ext cx="1614757" cy="452755"/>
          </a:xfrm>
          <a:prstGeom prst="rect">
            <a:avLst/>
          </a:prstGeom>
        </p:spPr>
        <p:txBody>
          <a:bodyPr lIns="0" tIns="0" rIns="0" bIns="0" rtlCol="0" anchor="t">
            <a:spAutoFit/>
          </a:bodyPr>
          <a:lstStyle/>
          <a:p>
            <a:pPr marL="0" lvl="1" indent="0" algn="ctr">
              <a:lnSpc>
                <a:spcPts val="3200"/>
              </a:lnSpc>
            </a:pPr>
            <a:r>
              <a:rPr lang="en-US" sz="3200" b="1" spc="-64">
                <a:solidFill>
                  <a:srgbClr val="2E2C2B"/>
                </a:solidFill>
                <a:latin typeface="Hagrid Ultra-Bold"/>
                <a:ea typeface="Hagrid Ultra-Bold"/>
                <a:cs typeface="Hagrid Ultra-Bold"/>
                <a:sym typeface="Hagrid Ultra-Bold"/>
              </a:rPr>
              <a:t>SOLUSI </a:t>
            </a:r>
          </a:p>
        </p:txBody>
      </p:sp>
      <p:sp>
        <p:nvSpPr>
          <p:cNvPr id="11" name="TextBox 11"/>
          <p:cNvSpPr txBox="1"/>
          <p:nvPr/>
        </p:nvSpPr>
        <p:spPr>
          <a:xfrm>
            <a:off x="372042" y="2021089"/>
            <a:ext cx="9058904" cy="3589655"/>
          </a:xfrm>
          <a:prstGeom prst="rect">
            <a:avLst/>
          </a:prstGeom>
        </p:spPr>
        <p:txBody>
          <a:bodyPr lIns="0" tIns="0" rIns="0" bIns="0" rtlCol="0" anchor="t">
            <a:spAutoFit/>
          </a:bodyPr>
          <a:lstStyle/>
          <a:p>
            <a:pPr algn="just">
              <a:lnSpc>
                <a:spcPts val="3220"/>
              </a:lnSpc>
            </a:pPr>
            <a:r>
              <a:rPr lang="en-US" sz="2300">
                <a:solidFill>
                  <a:srgbClr val="000000"/>
                </a:solidFill>
                <a:latin typeface="Gotham"/>
                <a:ea typeface="Gotham"/>
                <a:cs typeface="Gotham"/>
                <a:sym typeface="Gotham"/>
              </a:rPr>
              <a:t>Aplikasi POS pada usaha kecil seperti kantin institusi umumnya hanya mencatat transaksi; data harian yang terkumpul diposisikan sebatas arsip pelaporan, belum menjadi basis keputusan prediktif. Penentuan produksi, bahan baku, dan tenaga kerja masih bertumpu pada intuisi. Penelitian LSTM yang akurat pada literatur umumnya bertumpu pada data bertahun-tahun atau variabel eksogen yang tidak selalu tersedia, jarang diuji terhadap baseline sederhana, dan belum menyatu ke aplikasi POS yang benar-benar dipakai</a:t>
            </a:r>
          </a:p>
        </p:txBody>
      </p:sp>
      <p:sp>
        <p:nvSpPr>
          <p:cNvPr id="12" name="TextBox 12"/>
          <p:cNvSpPr txBox="1"/>
          <p:nvPr/>
        </p:nvSpPr>
        <p:spPr>
          <a:xfrm>
            <a:off x="9723795" y="2021089"/>
            <a:ext cx="8294423" cy="3189605"/>
          </a:xfrm>
          <a:prstGeom prst="rect">
            <a:avLst/>
          </a:prstGeom>
        </p:spPr>
        <p:txBody>
          <a:bodyPr lIns="0" tIns="0" rIns="0" bIns="0" rtlCol="0" anchor="t">
            <a:spAutoFit/>
          </a:bodyPr>
          <a:lstStyle/>
          <a:p>
            <a:pPr algn="just">
              <a:lnSpc>
                <a:spcPts val="3220"/>
              </a:lnSpc>
            </a:pPr>
            <a:r>
              <a:rPr lang="en-US" sz="2300">
                <a:solidFill>
                  <a:srgbClr val="000000"/>
                </a:solidFill>
                <a:latin typeface="Gotham"/>
                <a:ea typeface="Gotham"/>
                <a:cs typeface="Gotham"/>
                <a:sym typeface="Gotham"/>
              </a:rPr>
              <a:t>Ketidakpastian estimasi penjualan memicu ketidakseimbangan stok dan permintaan: produksi terlalu sedikit menimbulkan stockout, terlalu banyak menimbulkan overstock dan kerugian bahan baku. Klaim keunggulan deep learning tanpa kontrol baseline berisiko menyesatkan, dan jarak antara riset akademik dengan penerapan praktis pada aplikasi POS nyata masih lebar.</a:t>
            </a:r>
          </a:p>
        </p:txBody>
      </p:sp>
      <p:sp>
        <p:nvSpPr>
          <p:cNvPr id="13" name="TextBox 13"/>
          <p:cNvSpPr txBox="1"/>
          <p:nvPr/>
        </p:nvSpPr>
        <p:spPr>
          <a:xfrm>
            <a:off x="1028700" y="6503944"/>
            <a:ext cx="15875626" cy="3189605"/>
          </a:xfrm>
          <a:prstGeom prst="rect">
            <a:avLst/>
          </a:prstGeom>
        </p:spPr>
        <p:txBody>
          <a:bodyPr lIns="0" tIns="0" rIns="0" bIns="0" rtlCol="0" anchor="t">
            <a:spAutoFit/>
          </a:bodyPr>
          <a:lstStyle/>
          <a:p>
            <a:pPr algn="just">
              <a:lnSpc>
                <a:spcPts val="3220"/>
              </a:lnSpc>
            </a:pPr>
            <a:r>
              <a:rPr lang="en-US" sz="2300">
                <a:solidFill>
                  <a:srgbClr val="000000"/>
                </a:solidFill>
                <a:latin typeface="Gotham"/>
                <a:ea typeface="Gotham"/>
                <a:cs typeface="Gotham"/>
                <a:sym typeface="Gotham"/>
              </a:rPr>
              <a:t>Merancang dan membangun aplikasi Point of Sale berbasis mobile yang mengintegrasikan fitur prediksi penjualan harian menggunakan LSTM ke dalam alur kerja transaksi.</a:t>
            </a:r>
          </a:p>
          <a:p>
            <a:pPr algn="just">
              <a:lnSpc>
                <a:spcPts val="3220"/>
              </a:lnSpc>
            </a:pPr>
            <a:endParaRPr lang="en-US" sz="2300">
              <a:solidFill>
                <a:srgbClr val="000000"/>
              </a:solidFill>
              <a:latin typeface="Gotham"/>
              <a:ea typeface="Gotham"/>
              <a:cs typeface="Gotham"/>
              <a:sym typeface="Gotham"/>
            </a:endParaRPr>
          </a:p>
          <a:p>
            <a:pPr algn="just">
              <a:lnSpc>
                <a:spcPts val="3220"/>
              </a:lnSpc>
            </a:pPr>
            <a:r>
              <a:rPr lang="en-US" sz="2300">
                <a:solidFill>
                  <a:srgbClr val="000000"/>
                </a:solidFill>
                <a:latin typeface="Gotham"/>
                <a:ea typeface="Gotham"/>
                <a:cs typeface="Gotham"/>
                <a:sym typeface="Gotham"/>
              </a:rPr>
              <a:t>Mengevaluasi secara empiris pengaruh augmentasi data sintetis TimeGAN terhadap performa LSTM pada dataset penjualan berskala kecil.</a:t>
            </a:r>
          </a:p>
          <a:p>
            <a:pPr algn="just">
              <a:lnSpc>
                <a:spcPts val="3220"/>
              </a:lnSpc>
            </a:pPr>
            <a:endParaRPr lang="en-US" sz="2300">
              <a:solidFill>
                <a:srgbClr val="000000"/>
              </a:solidFill>
              <a:latin typeface="Gotham"/>
              <a:ea typeface="Gotham"/>
              <a:cs typeface="Gotham"/>
              <a:sym typeface="Gotham"/>
            </a:endParaRPr>
          </a:p>
          <a:p>
            <a:pPr algn="just">
              <a:lnSpc>
                <a:spcPts val="3220"/>
              </a:lnSpc>
            </a:pPr>
            <a:r>
              <a:rPr lang="en-US" sz="2300">
                <a:solidFill>
                  <a:srgbClr val="000000"/>
                </a:solidFill>
                <a:latin typeface="Gotham"/>
                <a:ea typeface="Gotham"/>
                <a:cs typeface="Gotham"/>
                <a:sym typeface="Gotham"/>
              </a:rPr>
              <a:t>Membandingkan model terhadap baseline seasonal-naive pada beberapa horizon peramalan sebagai kontrol metodologis — studi kasus EatsTEDI, DTEDI, Universitas Gadjah Mada.</a:t>
            </a:r>
          </a:p>
        </p:txBody>
      </p:sp>
      <p:sp>
        <p:nvSpPr>
          <p:cNvPr id="14" name="TextBox 14"/>
          <p:cNvSpPr txBox="1"/>
          <p:nvPr/>
        </p:nvSpPr>
        <p:spPr>
          <a:xfrm>
            <a:off x="400617" y="6577849"/>
            <a:ext cx="243654" cy="546735"/>
          </a:xfrm>
          <a:prstGeom prst="rect">
            <a:avLst/>
          </a:prstGeom>
        </p:spPr>
        <p:txBody>
          <a:bodyPr lIns="0" tIns="0" rIns="0" bIns="0" rtlCol="0" anchor="t">
            <a:spAutoFit/>
          </a:bodyPr>
          <a:lstStyle/>
          <a:p>
            <a:pPr algn="r">
              <a:lnSpc>
                <a:spcPts val="4200"/>
              </a:lnSpc>
            </a:pPr>
            <a:r>
              <a:rPr lang="en-US" sz="3000" b="1">
                <a:solidFill>
                  <a:srgbClr val="BC1823"/>
                </a:solidFill>
                <a:latin typeface="Hagrid Ultra-Bold"/>
                <a:ea typeface="Hagrid Ultra-Bold"/>
                <a:cs typeface="Hagrid Ultra-Bold"/>
                <a:sym typeface="Hagrid Ultra-Bold"/>
              </a:rPr>
              <a:t>1</a:t>
            </a:r>
          </a:p>
        </p:txBody>
      </p:sp>
      <p:sp>
        <p:nvSpPr>
          <p:cNvPr id="15" name="TextBox 15"/>
          <p:cNvSpPr txBox="1"/>
          <p:nvPr/>
        </p:nvSpPr>
        <p:spPr>
          <a:xfrm>
            <a:off x="400617" y="7815854"/>
            <a:ext cx="243654" cy="546735"/>
          </a:xfrm>
          <a:prstGeom prst="rect">
            <a:avLst/>
          </a:prstGeom>
        </p:spPr>
        <p:txBody>
          <a:bodyPr lIns="0" tIns="0" rIns="0" bIns="0" rtlCol="0" anchor="t">
            <a:spAutoFit/>
          </a:bodyPr>
          <a:lstStyle/>
          <a:p>
            <a:pPr algn="r">
              <a:lnSpc>
                <a:spcPts val="4200"/>
              </a:lnSpc>
            </a:pPr>
            <a:r>
              <a:rPr lang="en-US" sz="3000" b="1">
                <a:solidFill>
                  <a:srgbClr val="BC1823"/>
                </a:solidFill>
                <a:latin typeface="Hagrid Ultra-Bold"/>
                <a:ea typeface="Hagrid Ultra-Bold"/>
                <a:cs typeface="Hagrid Ultra-Bold"/>
                <a:sym typeface="Hagrid Ultra-Bold"/>
              </a:rPr>
              <a:t>2</a:t>
            </a:r>
          </a:p>
        </p:txBody>
      </p:sp>
      <p:sp>
        <p:nvSpPr>
          <p:cNvPr id="16" name="TextBox 16"/>
          <p:cNvSpPr txBox="1"/>
          <p:nvPr/>
        </p:nvSpPr>
        <p:spPr>
          <a:xfrm>
            <a:off x="400617" y="8953500"/>
            <a:ext cx="243654" cy="542925"/>
          </a:xfrm>
          <a:prstGeom prst="rect">
            <a:avLst/>
          </a:prstGeom>
        </p:spPr>
        <p:txBody>
          <a:bodyPr lIns="0" tIns="0" rIns="0" bIns="0" rtlCol="0" anchor="t">
            <a:spAutoFit/>
          </a:bodyPr>
          <a:lstStyle/>
          <a:p>
            <a:pPr algn="r">
              <a:lnSpc>
                <a:spcPts val="4200"/>
              </a:lnSpc>
            </a:pPr>
            <a:r>
              <a:rPr lang="en-US" sz="3000" b="1">
                <a:solidFill>
                  <a:srgbClr val="BC1823"/>
                </a:solidFill>
                <a:latin typeface="Hagrid Ultra-Bold"/>
                <a:ea typeface="Hagrid Ultra-Bold"/>
                <a:cs typeface="Hagrid Ultra-Bold"/>
                <a:sym typeface="Hagrid Ultra-Bold"/>
              </a:rP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TextBox 3"/>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03</a:t>
            </a:r>
          </a:p>
        </p:txBody>
      </p:sp>
      <p:sp>
        <p:nvSpPr>
          <p:cNvPr id="4" name="TextBox 4"/>
          <p:cNvSpPr txBox="1"/>
          <p:nvPr/>
        </p:nvSpPr>
        <p:spPr>
          <a:xfrm>
            <a:off x="2711073" y="1681162"/>
            <a:ext cx="12865854" cy="700405"/>
          </a:xfrm>
          <a:prstGeom prst="rect">
            <a:avLst/>
          </a:prstGeom>
        </p:spPr>
        <p:txBody>
          <a:bodyPr lIns="0" tIns="0" rIns="0" bIns="0" rtlCol="0" anchor="t">
            <a:spAutoFit/>
          </a:bodyPr>
          <a:lstStyle/>
          <a:p>
            <a:pPr marL="0" lvl="1" indent="0" algn="ctr">
              <a:lnSpc>
                <a:spcPts val="5000"/>
              </a:lnSpc>
            </a:pPr>
            <a:r>
              <a:rPr lang="en-US" sz="5000" b="1" spc="-100">
                <a:solidFill>
                  <a:srgbClr val="2E2C2B"/>
                </a:solidFill>
                <a:latin typeface="Hagrid Ultra-Bold"/>
                <a:ea typeface="Hagrid Ultra-Bold"/>
                <a:cs typeface="Hagrid Ultra-Bold"/>
                <a:sym typeface="Hagrid Ultra-Bold"/>
              </a:rPr>
              <a:t>RUMUSAN MASALAH</a:t>
            </a:r>
          </a:p>
        </p:txBody>
      </p:sp>
      <p:sp>
        <p:nvSpPr>
          <p:cNvPr id="5" name="TextBox 5"/>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6" name="Freeform 6"/>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8" name="TextBox 8"/>
          <p:cNvSpPr txBox="1"/>
          <p:nvPr/>
        </p:nvSpPr>
        <p:spPr>
          <a:xfrm>
            <a:off x="1069172" y="3210243"/>
            <a:ext cx="1197290"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01.</a:t>
            </a:r>
          </a:p>
        </p:txBody>
      </p:sp>
      <p:sp>
        <p:nvSpPr>
          <p:cNvPr id="9" name="TextBox 9"/>
          <p:cNvSpPr txBox="1"/>
          <p:nvPr/>
        </p:nvSpPr>
        <p:spPr>
          <a:xfrm>
            <a:off x="743488" y="5186757"/>
            <a:ext cx="1522974"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02.</a:t>
            </a:r>
          </a:p>
        </p:txBody>
      </p:sp>
      <p:sp>
        <p:nvSpPr>
          <p:cNvPr id="10" name="TextBox 10"/>
          <p:cNvSpPr txBox="1"/>
          <p:nvPr/>
        </p:nvSpPr>
        <p:spPr>
          <a:xfrm>
            <a:off x="743488" y="7723023"/>
            <a:ext cx="1522974"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03.</a:t>
            </a:r>
          </a:p>
        </p:txBody>
      </p:sp>
      <p:sp>
        <p:nvSpPr>
          <p:cNvPr id="11" name="TextBox 11"/>
          <p:cNvSpPr txBox="1"/>
          <p:nvPr/>
        </p:nvSpPr>
        <p:spPr>
          <a:xfrm>
            <a:off x="2711073" y="3267393"/>
            <a:ext cx="14548227" cy="14812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Bag</a:t>
            </a:r>
            <a:r>
              <a:rPr lang="en-US" sz="2809" u="none" strike="noStrike">
                <a:solidFill>
                  <a:srgbClr val="2E2C2B"/>
                </a:solidFill>
                <a:latin typeface="Gotham"/>
                <a:ea typeface="Gotham"/>
                <a:cs typeface="Gotham"/>
                <a:sym typeface="Gotham"/>
              </a:rPr>
              <a:t>aimana merancang dan membangun aplikasi Point of Sale yang mengintegrasikan fitur prediksi penjualan harian ke dalam alur kerja transaksi, sehingga hasil peramalan dapat langsung dimanfaatkan oleh pengelola usaha?</a:t>
            </a:r>
          </a:p>
        </p:txBody>
      </p:sp>
      <p:sp>
        <p:nvSpPr>
          <p:cNvPr id="12" name="TextBox 12"/>
          <p:cNvSpPr txBox="1"/>
          <p:nvPr/>
        </p:nvSpPr>
        <p:spPr>
          <a:xfrm>
            <a:off x="2751106" y="5243907"/>
            <a:ext cx="14508194" cy="19765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Bagaimana menerap</a:t>
            </a:r>
            <a:r>
              <a:rPr lang="en-US" sz="2809" u="none" strike="noStrike">
                <a:solidFill>
                  <a:srgbClr val="2E2C2B"/>
                </a:solidFill>
                <a:latin typeface="Gotham"/>
                <a:ea typeface="Gotham"/>
                <a:cs typeface="Gotham"/>
                <a:sym typeface="Gotham"/>
              </a:rPr>
              <a:t>kan model Long Short-Term Memory untuk memprediksi penjualan harian pada dataset EatsTEDI yang berjumlah 313 titik pengamatan, serta bagaimana pengaruh augmentasi data sintetis TimeGAN terhadap akurasi model tersebut?</a:t>
            </a:r>
          </a:p>
        </p:txBody>
      </p:sp>
      <p:sp>
        <p:nvSpPr>
          <p:cNvPr id="13" name="TextBox 13"/>
          <p:cNvSpPr txBox="1"/>
          <p:nvPr/>
        </p:nvSpPr>
        <p:spPr>
          <a:xfrm>
            <a:off x="2751106" y="7780173"/>
            <a:ext cx="14508194" cy="14812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Bagaimana tingkat a</a:t>
            </a:r>
            <a:r>
              <a:rPr lang="en-US" sz="2809" u="none" strike="noStrike">
                <a:solidFill>
                  <a:srgbClr val="2E2C2B"/>
                </a:solidFill>
                <a:latin typeface="Gotham"/>
                <a:ea typeface="Gotham"/>
                <a:cs typeface="Gotham"/>
                <a:sym typeface="Gotham"/>
              </a:rPr>
              <a:t>kurasi model Long Short-Term Memory dibandingkan terhadap baseline seasonal-naive pada beberapa horizon peramalan?</a:t>
            </a:r>
          </a:p>
          <a:p>
            <a:pPr marL="0" lvl="0" indent="0" algn="just">
              <a:lnSpc>
                <a:spcPts val="3933"/>
              </a:lnSpc>
              <a:spcBef>
                <a:spcPct val="0"/>
              </a:spcBef>
            </a:pPr>
            <a:endParaRPr lang="en-US" sz="2809" u="none" strike="noStrike">
              <a:solidFill>
                <a:srgbClr val="2E2C2B"/>
              </a:solidFill>
              <a:latin typeface="Gotham"/>
              <a:ea typeface="Gotham"/>
              <a:cs typeface="Gotham"/>
              <a:sym typeface="Gotha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TextBox 3"/>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04</a:t>
            </a:r>
          </a:p>
        </p:txBody>
      </p:sp>
      <p:sp>
        <p:nvSpPr>
          <p:cNvPr id="4" name="TextBox 4"/>
          <p:cNvSpPr txBox="1"/>
          <p:nvPr/>
        </p:nvSpPr>
        <p:spPr>
          <a:xfrm>
            <a:off x="2711073" y="1681162"/>
            <a:ext cx="12865854" cy="700405"/>
          </a:xfrm>
          <a:prstGeom prst="rect">
            <a:avLst/>
          </a:prstGeom>
        </p:spPr>
        <p:txBody>
          <a:bodyPr lIns="0" tIns="0" rIns="0" bIns="0" rtlCol="0" anchor="t">
            <a:spAutoFit/>
          </a:bodyPr>
          <a:lstStyle/>
          <a:p>
            <a:pPr marL="0" lvl="1" indent="0" algn="ctr">
              <a:lnSpc>
                <a:spcPts val="5000"/>
              </a:lnSpc>
            </a:pPr>
            <a:r>
              <a:rPr lang="en-US" sz="5000" b="1" spc="-100">
                <a:solidFill>
                  <a:srgbClr val="2E2C2B"/>
                </a:solidFill>
                <a:latin typeface="Hagrid Ultra-Bold"/>
                <a:ea typeface="Hagrid Ultra-Bold"/>
                <a:cs typeface="Hagrid Ultra-Bold"/>
                <a:sym typeface="Hagrid Ultra-Bold"/>
              </a:rPr>
              <a:t>TUJUAN PENELITIAN</a:t>
            </a:r>
          </a:p>
        </p:txBody>
      </p:sp>
      <p:sp>
        <p:nvSpPr>
          <p:cNvPr id="5" name="TextBox 5"/>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6" name="Freeform 6"/>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8" name="TextBox 8"/>
          <p:cNvSpPr txBox="1"/>
          <p:nvPr/>
        </p:nvSpPr>
        <p:spPr>
          <a:xfrm>
            <a:off x="1069172" y="3210243"/>
            <a:ext cx="1197290"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01.</a:t>
            </a:r>
          </a:p>
        </p:txBody>
      </p:sp>
      <p:sp>
        <p:nvSpPr>
          <p:cNvPr id="9" name="TextBox 9"/>
          <p:cNvSpPr txBox="1"/>
          <p:nvPr/>
        </p:nvSpPr>
        <p:spPr>
          <a:xfrm>
            <a:off x="1028700" y="5405832"/>
            <a:ext cx="1522974"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02.</a:t>
            </a:r>
          </a:p>
        </p:txBody>
      </p:sp>
      <p:sp>
        <p:nvSpPr>
          <p:cNvPr id="10" name="TextBox 10"/>
          <p:cNvSpPr txBox="1"/>
          <p:nvPr/>
        </p:nvSpPr>
        <p:spPr>
          <a:xfrm>
            <a:off x="2711073" y="3267393"/>
            <a:ext cx="14548227" cy="14812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M</a:t>
            </a:r>
            <a:r>
              <a:rPr lang="en-US" sz="2809" u="none" strike="noStrike">
                <a:solidFill>
                  <a:srgbClr val="2E2C2B"/>
                </a:solidFill>
                <a:latin typeface="Gotham"/>
                <a:ea typeface="Gotham"/>
                <a:cs typeface="Gotham"/>
                <a:sym typeface="Gotham"/>
              </a:rPr>
              <a:t>erancang dan membangun aplikasi Point of Sale berbasis mobile yang mengintegrasikan fitur prediksi penjualan harian ke dalam alur kerja transaksi, serta menguji fungsionalitasnya melalui pengujian sistem.</a:t>
            </a:r>
          </a:p>
        </p:txBody>
      </p:sp>
      <p:sp>
        <p:nvSpPr>
          <p:cNvPr id="11" name="TextBox 11"/>
          <p:cNvSpPr txBox="1"/>
          <p:nvPr/>
        </p:nvSpPr>
        <p:spPr>
          <a:xfrm>
            <a:off x="2751106" y="5462982"/>
            <a:ext cx="14508194" cy="14812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Menerap</a:t>
            </a:r>
            <a:r>
              <a:rPr lang="en-US" sz="2809" u="none" strike="noStrike">
                <a:solidFill>
                  <a:srgbClr val="2E2C2B"/>
                </a:solidFill>
                <a:latin typeface="Gotham"/>
                <a:ea typeface="Gotham"/>
                <a:cs typeface="Gotham"/>
                <a:sym typeface="Gotham"/>
              </a:rPr>
              <a:t>kan model Long Short-Term Memory untuk prediksi penjualan harian pada dataset EatsTEDI dan menganalisis pengaruh augmentasi data sintetis TimeGAN pada kondisi data pelatihan terbatas.</a:t>
            </a:r>
          </a:p>
        </p:txBody>
      </p:sp>
      <p:sp>
        <p:nvSpPr>
          <p:cNvPr id="12" name="TextBox 12"/>
          <p:cNvSpPr txBox="1"/>
          <p:nvPr/>
        </p:nvSpPr>
        <p:spPr>
          <a:xfrm>
            <a:off x="1028700" y="7606107"/>
            <a:ext cx="1522974"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03.</a:t>
            </a:r>
          </a:p>
        </p:txBody>
      </p:sp>
      <p:sp>
        <p:nvSpPr>
          <p:cNvPr id="13" name="TextBox 13"/>
          <p:cNvSpPr txBox="1"/>
          <p:nvPr/>
        </p:nvSpPr>
        <p:spPr>
          <a:xfrm>
            <a:off x="2711073" y="7777086"/>
            <a:ext cx="14508194" cy="14812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Mengukur a</a:t>
            </a:r>
            <a:r>
              <a:rPr lang="en-US" sz="2809" u="none" strike="noStrike">
                <a:solidFill>
                  <a:srgbClr val="2E2C2B"/>
                </a:solidFill>
                <a:latin typeface="Gotham"/>
                <a:ea typeface="Gotham"/>
                <a:cs typeface="Gotham"/>
                <a:sym typeface="Gotham"/>
              </a:rPr>
              <a:t>kurasi LSTM terhadap baseline seasonal-naive pada beberapa horizon peramalan, guna menghasilkan rekomendasi kelayakan penerapan deep learning pada usaha kuliner berskala kecil.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TextBox 3"/>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05</a:t>
            </a:r>
          </a:p>
        </p:txBody>
      </p:sp>
      <p:sp>
        <p:nvSpPr>
          <p:cNvPr id="4" name="TextBox 4"/>
          <p:cNvSpPr txBox="1"/>
          <p:nvPr/>
        </p:nvSpPr>
        <p:spPr>
          <a:xfrm>
            <a:off x="2711073" y="1296249"/>
            <a:ext cx="12865854" cy="700405"/>
          </a:xfrm>
          <a:prstGeom prst="rect">
            <a:avLst/>
          </a:prstGeom>
        </p:spPr>
        <p:txBody>
          <a:bodyPr lIns="0" tIns="0" rIns="0" bIns="0" rtlCol="0" anchor="t">
            <a:spAutoFit/>
          </a:bodyPr>
          <a:lstStyle/>
          <a:p>
            <a:pPr marL="0" lvl="1" indent="0" algn="ctr">
              <a:lnSpc>
                <a:spcPts val="5000"/>
              </a:lnSpc>
            </a:pPr>
            <a:r>
              <a:rPr lang="en-US" sz="5000" b="1" spc="-100">
                <a:solidFill>
                  <a:srgbClr val="2E2C2B"/>
                </a:solidFill>
                <a:latin typeface="Hagrid Ultra-Bold"/>
                <a:ea typeface="Hagrid Ultra-Bold"/>
                <a:cs typeface="Hagrid Ultra-Bold"/>
                <a:sym typeface="Hagrid Ultra-Bold"/>
              </a:rPr>
              <a:t>BATASAN MASALAH</a:t>
            </a:r>
          </a:p>
        </p:txBody>
      </p:sp>
      <p:sp>
        <p:nvSpPr>
          <p:cNvPr id="5" name="TextBox 5"/>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6" name="Freeform 6"/>
          <p:cNvSpPr/>
          <p:nvPr/>
        </p:nvSpPr>
        <p:spPr>
          <a:xfrm flipV="1">
            <a:off x="17259300" y="9725025"/>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8" name="TextBox 8"/>
          <p:cNvSpPr txBox="1"/>
          <p:nvPr/>
        </p:nvSpPr>
        <p:spPr>
          <a:xfrm>
            <a:off x="1028700" y="2063329"/>
            <a:ext cx="1197290"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01.</a:t>
            </a:r>
          </a:p>
        </p:txBody>
      </p:sp>
      <p:sp>
        <p:nvSpPr>
          <p:cNvPr id="9" name="TextBox 9"/>
          <p:cNvSpPr txBox="1"/>
          <p:nvPr/>
        </p:nvSpPr>
        <p:spPr>
          <a:xfrm>
            <a:off x="886094" y="3789653"/>
            <a:ext cx="1482502"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02.</a:t>
            </a:r>
          </a:p>
        </p:txBody>
      </p:sp>
      <p:sp>
        <p:nvSpPr>
          <p:cNvPr id="10" name="TextBox 10"/>
          <p:cNvSpPr txBox="1"/>
          <p:nvPr/>
        </p:nvSpPr>
        <p:spPr>
          <a:xfrm>
            <a:off x="886094" y="5019675"/>
            <a:ext cx="1482502"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03.</a:t>
            </a:r>
          </a:p>
        </p:txBody>
      </p:sp>
      <p:sp>
        <p:nvSpPr>
          <p:cNvPr id="11" name="TextBox 11"/>
          <p:cNvSpPr txBox="1"/>
          <p:nvPr/>
        </p:nvSpPr>
        <p:spPr>
          <a:xfrm>
            <a:off x="926566" y="6190588"/>
            <a:ext cx="1482502"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04.</a:t>
            </a:r>
          </a:p>
        </p:txBody>
      </p:sp>
      <p:sp>
        <p:nvSpPr>
          <p:cNvPr id="12" name="TextBox 12"/>
          <p:cNvSpPr txBox="1"/>
          <p:nvPr/>
        </p:nvSpPr>
        <p:spPr>
          <a:xfrm>
            <a:off x="2592145" y="2287681"/>
            <a:ext cx="14667155" cy="1362710"/>
          </a:xfrm>
          <a:prstGeom prst="rect">
            <a:avLst/>
          </a:prstGeom>
        </p:spPr>
        <p:txBody>
          <a:bodyPr lIns="0" tIns="0" rIns="0" bIns="0" rtlCol="0" anchor="t">
            <a:spAutoFit/>
          </a:bodyPr>
          <a:lstStyle/>
          <a:p>
            <a:pPr marL="0" lvl="0" indent="0" algn="just">
              <a:lnSpc>
                <a:spcPts val="3639"/>
              </a:lnSpc>
              <a:spcBef>
                <a:spcPct val="0"/>
              </a:spcBef>
            </a:pPr>
            <a:r>
              <a:rPr lang="en-US" sz="2599">
                <a:solidFill>
                  <a:srgbClr val="2E2C2B"/>
                </a:solidFill>
                <a:latin typeface="Gotham"/>
                <a:ea typeface="Gotham"/>
                <a:cs typeface="Gotham"/>
                <a:sym typeface="Gotham"/>
              </a:rPr>
              <a:t>Data transaksi EatsTEDI, DTEDI UGM, rentang efektif 26 Agustus 2024–20 Juni 2026, 313 hari transak</a:t>
            </a:r>
            <a:r>
              <a:rPr lang="en-US" sz="2599" u="none" strike="noStrike">
                <a:solidFill>
                  <a:srgbClr val="2E2C2B"/>
                </a:solidFill>
                <a:latin typeface="Gotham"/>
                <a:ea typeface="Gotham"/>
                <a:cs typeface="Gotham"/>
                <a:sym typeface="Gotham"/>
              </a:rPr>
              <a:t>si tercatat. Pemodelan univariat (total penjualan harian), tanpa variabel eksogen (cuaca, promosi, harga).</a:t>
            </a:r>
          </a:p>
        </p:txBody>
      </p:sp>
      <p:sp>
        <p:nvSpPr>
          <p:cNvPr id="13" name="TextBox 13"/>
          <p:cNvSpPr txBox="1"/>
          <p:nvPr/>
        </p:nvSpPr>
        <p:spPr>
          <a:xfrm>
            <a:off x="2592145" y="3941418"/>
            <a:ext cx="14626683" cy="448310"/>
          </a:xfrm>
          <a:prstGeom prst="rect">
            <a:avLst/>
          </a:prstGeom>
        </p:spPr>
        <p:txBody>
          <a:bodyPr lIns="0" tIns="0" rIns="0" bIns="0" rtlCol="0" anchor="t">
            <a:spAutoFit/>
          </a:bodyPr>
          <a:lstStyle/>
          <a:p>
            <a:pPr marL="0" lvl="0" indent="0" algn="just">
              <a:lnSpc>
                <a:spcPts val="3639"/>
              </a:lnSpc>
              <a:spcBef>
                <a:spcPct val="0"/>
              </a:spcBef>
            </a:pPr>
            <a:r>
              <a:rPr lang="en-US" sz="2599">
                <a:solidFill>
                  <a:srgbClr val="2E2C2B"/>
                </a:solidFill>
                <a:latin typeface="Gotham"/>
                <a:ea typeface="Gotham"/>
                <a:cs typeface="Gotham"/>
                <a:sym typeface="Gotham"/>
              </a:rPr>
              <a:t>Prediksi pada tingkat</a:t>
            </a:r>
            <a:r>
              <a:rPr lang="en-US" sz="2599" u="none" strike="noStrike">
                <a:solidFill>
                  <a:srgbClr val="2E2C2B"/>
                </a:solidFill>
                <a:latin typeface="Gotham"/>
                <a:ea typeface="Gotham"/>
                <a:cs typeface="Gotham"/>
                <a:sym typeface="Gotham"/>
              </a:rPr>
              <a:t> agregat penjualan harian, bukan per item atau kategori produk.</a:t>
            </a:r>
          </a:p>
        </p:txBody>
      </p:sp>
      <p:sp>
        <p:nvSpPr>
          <p:cNvPr id="14" name="TextBox 14"/>
          <p:cNvSpPr txBox="1"/>
          <p:nvPr/>
        </p:nvSpPr>
        <p:spPr>
          <a:xfrm>
            <a:off x="2592145" y="5086350"/>
            <a:ext cx="14626683" cy="905510"/>
          </a:xfrm>
          <a:prstGeom prst="rect">
            <a:avLst/>
          </a:prstGeom>
        </p:spPr>
        <p:txBody>
          <a:bodyPr lIns="0" tIns="0" rIns="0" bIns="0" rtlCol="0" anchor="t">
            <a:spAutoFit/>
          </a:bodyPr>
          <a:lstStyle/>
          <a:p>
            <a:pPr marL="0" lvl="0" indent="0" algn="just">
              <a:lnSpc>
                <a:spcPts val="3640"/>
              </a:lnSpc>
              <a:spcBef>
                <a:spcPct val="0"/>
              </a:spcBef>
            </a:pPr>
            <a:r>
              <a:rPr lang="en-US" sz="2600">
                <a:solidFill>
                  <a:srgbClr val="2E2C2B"/>
                </a:solidFill>
                <a:latin typeface="Gotham"/>
                <a:ea typeface="Gotham"/>
                <a:cs typeface="Gotham"/>
                <a:sym typeface="Gotham"/>
              </a:rPr>
              <a:t>LSTM + augmentasi TimeGAN, dibandingkan terhadap Naiv</a:t>
            </a:r>
            <a:r>
              <a:rPr lang="en-US" sz="2600" u="none" strike="noStrike">
                <a:solidFill>
                  <a:srgbClr val="2E2C2B"/>
                </a:solidFill>
                <a:latin typeface="Gotham"/>
                <a:ea typeface="Gotham"/>
                <a:cs typeface="Gotham"/>
                <a:sym typeface="Gotham"/>
              </a:rPr>
              <a:t>e, Mean-7, Seasonal-Naive, dan SARIMA. Transformer, TFT, jittering, dan window warping di luar cakupan.</a:t>
            </a:r>
          </a:p>
        </p:txBody>
      </p:sp>
      <p:sp>
        <p:nvSpPr>
          <p:cNvPr id="15" name="TextBox 15"/>
          <p:cNvSpPr txBox="1"/>
          <p:nvPr/>
        </p:nvSpPr>
        <p:spPr>
          <a:xfrm>
            <a:off x="2592145" y="6381737"/>
            <a:ext cx="14626683" cy="1362710"/>
          </a:xfrm>
          <a:prstGeom prst="rect">
            <a:avLst/>
          </a:prstGeom>
        </p:spPr>
        <p:txBody>
          <a:bodyPr lIns="0" tIns="0" rIns="0" bIns="0" rtlCol="0" anchor="t">
            <a:spAutoFit/>
          </a:bodyPr>
          <a:lstStyle/>
          <a:p>
            <a:pPr marL="0" lvl="0" indent="0" algn="just">
              <a:lnSpc>
                <a:spcPts val="3640"/>
              </a:lnSpc>
              <a:spcBef>
                <a:spcPct val="0"/>
              </a:spcBef>
            </a:pPr>
            <a:r>
              <a:rPr lang="en-US" sz="2600">
                <a:solidFill>
                  <a:srgbClr val="2E2C2B"/>
                </a:solidFill>
                <a:latin typeface="Gotham"/>
                <a:ea typeface="Gotham"/>
                <a:cs typeface="Gotham"/>
                <a:sym typeface="Gotham"/>
              </a:rPr>
              <a:t>MAE, RMSE, sMAPE, dan MASE. MAPE konvensional tidak digunakan karena </a:t>
            </a:r>
            <a:r>
              <a:rPr lang="en-US" sz="2600" u="none" strike="noStrike">
                <a:solidFill>
                  <a:srgbClr val="2E2C2B"/>
                </a:solidFill>
                <a:latin typeface="Gotham"/>
                <a:ea typeface="Gotham"/>
                <a:cs typeface="Gotham"/>
                <a:sym typeface="Gotham"/>
              </a:rPr>
              <a:t>rentan menghasilkan galat persentase tidak representatif pada hari berpendapatan sangat rendah.</a:t>
            </a:r>
          </a:p>
        </p:txBody>
      </p:sp>
      <p:sp>
        <p:nvSpPr>
          <p:cNvPr id="16" name="TextBox 16"/>
          <p:cNvSpPr txBox="1"/>
          <p:nvPr/>
        </p:nvSpPr>
        <p:spPr>
          <a:xfrm>
            <a:off x="926566" y="7891118"/>
            <a:ext cx="1482502"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05.</a:t>
            </a:r>
          </a:p>
        </p:txBody>
      </p:sp>
      <p:sp>
        <p:nvSpPr>
          <p:cNvPr id="17" name="TextBox 17"/>
          <p:cNvSpPr txBox="1"/>
          <p:nvPr/>
        </p:nvSpPr>
        <p:spPr>
          <a:xfrm>
            <a:off x="2592145" y="7957793"/>
            <a:ext cx="14626683" cy="1362710"/>
          </a:xfrm>
          <a:prstGeom prst="rect">
            <a:avLst/>
          </a:prstGeom>
        </p:spPr>
        <p:txBody>
          <a:bodyPr lIns="0" tIns="0" rIns="0" bIns="0" rtlCol="0" anchor="t">
            <a:spAutoFit/>
          </a:bodyPr>
          <a:lstStyle/>
          <a:p>
            <a:pPr marL="0" lvl="0" indent="0" algn="just">
              <a:lnSpc>
                <a:spcPts val="3640"/>
              </a:lnSpc>
              <a:spcBef>
                <a:spcPct val="0"/>
              </a:spcBef>
            </a:pPr>
            <a:r>
              <a:rPr lang="en-US" sz="2600">
                <a:solidFill>
                  <a:srgbClr val="2E2C2B"/>
                </a:solidFill>
                <a:latin typeface="Gotham"/>
                <a:ea typeface="Gotham"/>
                <a:cs typeface="Gotham"/>
                <a:sym typeface="Gotham"/>
              </a:rPr>
              <a:t>Aplikasi POS pada Android (Flutter), model dilatih luring dan dii</a:t>
            </a:r>
            <a:r>
              <a:rPr lang="en-US" sz="2600" u="none" strike="noStrike">
                <a:solidFill>
                  <a:srgbClr val="2E2C2B"/>
                </a:solidFill>
                <a:latin typeface="Gotham"/>
                <a:ea typeface="Gotham"/>
                <a:cs typeface="Gotham"/>
                <a:sym typeface="Gotham"/>
              </a:rPr>
              <a:t>ntegrasikan sebagai layanan prediksi. iOS dan online/incremental learning di luar cakupan. Pengujian dibatasi pada fungsional, struktural, dan akurasi model tanpa pengukuran dampak ekonomi.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5" name="TextBox 5"/>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07</a:t>
            </a:r>
          </a:p>
        </p:txBody>
      </p:sp>
      <p:sp>
        <p:nvSpPr>
          <p:cNvPr id="6" name="TextBox 6"/>
          <p:cNvSpPr txBox="1"/>
          <p:nvPr/>
        </p:nvSpPr>
        <p:spPr>
          <a:xfrm>
            <a:off x="6048737" y="1485900"/>
            <a:ext cx="6190526" cy="700405"/>
          </a:xfrm>
          <a:prstGeom prst="rect">
            <a:avLst/>
          </a:prstGeom>
        </p:spPr>
        <p:txBody>
          <a:bodyPr lIns="0" tIns="0" rIns="0" bIns="0" rtlCol="0" anchor="t">
            <a:spAutoFit/>
          </a:bodyPr>
          <a:lstStyle/>
          <a:p>
            <a:pPr marL="0" lvl="1" indent="0" algn="l">
              <a:lnSpc>
                <a:spcPts val="5000"/>
              </a:lnSpc>
            </a:pPr>
            <a:r>
              <a:rPr lang="en-US" sz="5000" b="1" spc="-100">
                <a:solidFill>
                  <a:srgbClr val="2E2C2B"/>
                </a:solidFill>
                <a:latin typeface="Hagrid Ultra-Bold"/>
                <a:ea typeface="Hagrid Ultra-Bold"/>
                <a:cs typeface="Hagrid Ultra-Bold"/>
                <a:sym typeface="Hagrid Ultra-Bold"/>
              </a:rPr>
              <a:t>STATE OF THE ART</a:t>
            </a:r>
          </a:p>
        </p:txBody>
      </p:sp>
      <p:sp>
        <p:nvSpPr>
          <p:cNvPr id="7" name="TextBox 7"/>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8" name="TextBox 8"/>
          <p:cNvSpPr txBox="1"/>
          <p:nvPr/>
        </p:nvSpPr>
        <p:spPr>
          <a:xfrm>
            <a:off x="1028700" y="2278654"/>
            <a:ext cx="1197290"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01.</a:t>
            </a:r>
          </a:p>
        </p:txBody>
      </p:sp>
      <p:sp>
        <p:nvSpPr>
          <p:cNvPr id="9" name="TextBox 9"/>
          <p:cNvSpPr txBox="1"/>
          <p:nvPr/>
        </p:nvSpPr>
        <p:spPr>
          <a:xfrm>
            <a:off x="9852079" y="2278654"/>
            <a:ext cx="1406302"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02.</a:t>
            </a:r>
          </a:p>
        </p:txBody>
      </p:sp>
      <p:sp>
        <p:nvSpPr>
          <p:cNvPr id="10" name="TextBox 10"/>
          <p:cNvSpPr txBox="1"/>
          <p:nvPr/>
        </p:nvSpPr>
        <p:spPr>
          <a:xfrm>
            <a:off x="1222734" y="3431179"/>
            <a:ext cx="7814298" cy="4790541"/>
          </a:xfrm>
          <a:prstGeom prst="rect">
            <a:avLst/>
          </a:prstGeom>
        </p:spPr>
        <p:txBody>
          <a:bodyPr lIns="0" tIns="0" rIns="0" bIns="0" rtlCol="0" anchor="t">
            <a:spAutoFit/>
          </a:bodyPr>
          <a:lstStyle/>
          <a:p>
            <a:pPr algn="just">
              <a:lnSpc>
                <a:spcPts val="3179"/>
              </a:lnSpc>
              <a:spcBef>
                <a:spcPct val="0"/>
              </a:spcBef>
            </a:pPr>
            <a:r>
              <a:rPr lang="en-US" sz="2271">
                <a:solidFill>
                  <a:srgbClr val="000000"/>
                </a:solidFill>
                <a:latin typeface="Gotham"/>
                <a:ea typeface="Gotham"/>
                <a:cs typeface="Gotham"/>
                <a:sym typeface="Gotham"/>
              </a:rPr>
              <a:t>Penelitian oleh </a:t>
            </a:r>
            <a:r>
              <a:rPr lang="en-US" sz="2271" b="1">
                <a:solidFill>
                  <a:srgbClr val="000000"/>
                </a:solidFill>
                <a:latin typeface="Gotham Bold"/>
                <a:ea typeface="Gotham Bold"/>
                <a:cs typeface="Gotham Bold"/>
                <a:sym typeface="Gotham Bold"/>
              </a:rPr>
              <a:t>S. Mansur dkk.</a:t>
            </a:r>
            <a:r>
              <a:rPr lang="en-US" sz="2271">
                <a:solidFill>
                  <a:srgbClr val="000000"/>
                </a:solidFill>
                <a:latin typeface="Gotham"/>
                <a:ea typeface="Gotham"/>
                <a:cs typeface="Gotham"/>
                <a:sym typeface="Gotham"/>
              </a:rPr>
              <a:t> (2025) “</a:t>
            </a:r>
            <a:r>
              <a:rPr lang="en-US" sz="2271" i="1">
                <a:solidFill>
                  <a:srgbClr val="000000"/>
                </a:solidFill>
                <a:latin typeface="Gotham Italics"/>
                <a:ea typeface="Gotham Italics"/>
                <a:cs typeface="Gotham Italics"/>
                <a:sym typeface="Gotham Italics"/>
              </a:rPr>
              <a:t>Sales Forecasting for Retail Stores Using Hybrid Neural Networks and Sales-Affecting Variables</a:t>
            </a:r>
            <a:r>
              <a:rPr lang="en-US" sz="2271">
                <a:solidFill>
                  <a:srgbClr val="000000"/>
                </a:solidFill>
                <a:latin typeface="Gotham"/>
                <a:ea typeface="Gotham"/>
                <a:cs typeface="Gotham"/>
                <a:sym typeface="Gotham"/>
              </a:rPr>
              <a:t>”.</a:t>
            </a:r>
          </a:p>
          <a:p>
            <a:pPr marL="490311" lvl="1" indent="-245155" algn="just">
              <a:lnSpc>
                <a:spcPts val="3179"/>
              </a:lnSpc>
              <a:spcBef>
                <a:spcPct val="0"/>
              </a:spcBef>
              <a:buFont typeface="Arial"/>
              <a:buChar char="•"/>
            </a:pPr>
            <a:r>
              <a:rPr lang="en-US" sz="2271">
                <a:solidFill>
                  <a:srgbClr val="000000"/>
                </a:solidFill>
                <a:latin typeface="Gotham"/>
                <a:ea typeface="Gotham"/>
                <a:cs typeface="Gotham"/>
                <a:sym typeface="Gotham"/>
              </a:rPr>
              <a:t>Menggunakan hibrida CNN-LSTM dengan variabel eksogen (cuaca, hari libur, hari gajian, unjuk rasa) pada data penjualan harian 6 bulan satu gerai.</a:t>
            </a:r>
          </a:p>
          <a:p>
            <a:pPr marL="490311" lvl="1" indent="-245155" algn="just">
              <a:lnSpc>
                <a:spcPts val="3179"/>
              </a:lnSpc>
              <a:spcBef>
                <a:spcPct val="0"/>
              </a:spcBef>
              <a:buFont typeface="Arial"/>
              <a:buChar char="•"/>
            </a:pPr>
            <a:r>
              <a:rPr lang="en-US" sz="2271">
                <a:solidFill>
                  <a:srgbClr val="000000"/>
                </a:solidFill>
                <a:latin typeface="Gotham"/>
                <a:ea typeface="Gotham"/>
                <a:cs typeface="Gotham"/>
                <a:sym typeface="Gotham"/>
              </a:rPr>
              <a:t>Hasil penelitian mencapai MAPE 4,16%, mengungguli ANN, CNN, dan LSTM tunggal.</a:t>
            </a:r>
          </a:p>
          <a:p>
            <a:pPr marL="490311" lvl="1" indent="-245155" algn="just">
              <a:lnSpc>
                <a:spcPts val="3179"/>
              </a:lnSpc>
              <a:spcBef>
                <a:spcPct val="0"/>
              </a:spcBef>
              <a:buFont typeface="Arial"/>
              <a:buChar char="•"/>
            </a:pPr>
            <a:r>
              <a:rPr lang="en-US" sz="2271">
                <a:solidFill>
                  <a:srgbClr val="000000"/>
                </a:solidFill>
                <a:latin typeface="Gotham"/>
                <a:ea typeface="Gotham"/>
                <a:cs typeface="Gotham"/>
                <a:sym typeface="Gotham"/>
              </a:rPr>
              <a:t>Keberhasilan bertumpu pada tujuh variabel eksogen yang tidak tersedia pada dataset penelitian ini, dan penulis mencatat indikasi overfitting; tidak menguji baseline sederhana.</a:t>
            </a:r>
          </a:p>
        </p:txBody>
      </p:sp>
      <p:sp>
        <p:nvSpPr>
          <p:cNvPr id="11" name="TextBox 11"/>
          <p:cNvSpPr txBox="1"/>
          <p:nvPr/>
        </p:nvSpPr>
        <p:spPr>
          <a:xfrm>
            <a:off x="456565" y="9181688"/>
            <a:ext cx="15875626" cy="936091"/>
          </a:xfrm>
          <a:prstGeom prst="rect">
            <a:avLst/>
          </a:prstGeom>
        </p:spPr>
        <p:txBody>
          <a:bodyPr lIns="0" tIns="0" rIns="0" bIns="0" rtlCol="0" anchor="t">
            <a:spAutoFit/>
          </a:bodyPr>
          <a:lstStyle/>
          <a:p>
            <a:pPr marL="382363" lvl="1" indent="-191182" algn="just">
              <a:lnSpc>
                <a:spcPts val="2479"/>
              </a:lnSpc>
              <a:spcBef>
                <a:spcPct val="0"/>
              </a:spcBef>
              <a:buFont typeface="Arial"/>
              <a:buChar char="•"/>
            </a:pPr>
            <a:r>
              <a:rPr lang="en-US" sz="1771">
                <a:solidFill>
                  <a:srgbClr val="000000"/>
                </a:solidFill>
                <a:latin typeface="Gotham"/>
                <a:ea typeface="Gotham"/>
                <a:cs typeface="Gotham"/>
                <a:sym typeface="Gotham"/>
              </a:rPr>
              <a:t>Kebaruan penelitian ini: menerapkan LSTM pada dataset berskala kecil dengan deret tidak sinambung, menguji kontribusi augmentasi TimeGAN, sekaligus mengintegrasikan model ke aplikasi POS nyata dan mengevaluasinya terhadap baseline seasonal-naive — ketiganya belum pernah dilakukan bersamaan pada penelitian terdahulu.</a:t>
            </a:r>
          </a:p>
        </p:txBody>
      </p:sp>
      <p:sp>
        <p:nvSpPr>
          <p:cNvPr id="12" name="TextBox 12"/>
          <p:cNvSpPr txBox="1"/>
          <p:nvPr/>
        </p:nvSpPr>
        <p:spPr>
          <a:xfrm>
            <a:off x="9852079" y="3431179"/>
            <a:ext cx="7921266" cy="5989955"/>
          </a:xfrm>
          <a:prstGeom prst="rect">
            <a:avLst/>
          </a:prstGeom>
        </p:spPr>
        <p:txBody>
          <a:bodyPr lIns="0" tIns="0" rIns="0" bIns="0" rtlCol="0" anchor="t">
            <a:spAutoFit/>
          </a:bodyPr>
          <a:lstStyle/>
          <a:p>
            <a:pPr algn="just">
              <a:lnSpc>
                <a:spcPts val="3219"/>
              </a:lnSpc>
              <a:spcBef>
                <a:spcPct val="0"/>
              </a:spcBef>
            </a:pPr>
            <a:r>
              <a:rPr lang="en-US" sz="2299">
                <a:solidFill>
                  <a:srgbClr val="000000"/>
                </a:solidFill>
                <a:latin typeface="Gotham"/>
                <a:ea typeface="Gotham"/>
                <a:cs typeface="Gotham"/>
                <a:sym typeface="Gotham"/>
              </a:rPr>
              <a:t>Penelitian oleh </a:t>
            </a:r>
            <a:r>
              <a:rPr lang="en-US" sz="2299" b="1">
                <a:solidFill>
                  <a:srgbClr val="000000"/>
                </a:solidFill>
                <a:latin typeface="Gotham Bold"/>
                <a:ea typeface="Gotham Bold"/>
                <a:cs typeface="Gotham Bold"/>
                <a:sym typeface="Gotham Bold"/>
              </a:rPr>
              <a:t>P. Yadav &amp; C. R. Barde</a:t>
            </a:r>
            <a:r>
              <a:rPr lang="en-US" sz="2299">
                <a:solidFill>
                  <a:srgbClr val="000000"/>
                </a:solidFill>
                <a:latin typeface="Gotham"/>
                <a:ea typeface="Gotham"/>
                <a:cs typeface="Gotham"/>
                <a:sym typeface="Gotham"/>
              </a:rPr>
              <a:t> (2025) “Retail Real-Time Sales Prediction System Using LSTM and XGBoost”.</a:t>
            </a:r>
          </a:p>
          <a:p>
            <a:pPr marL="496569" lvl="1" indent="-248284" algn="just">
              <a:lnSpc>
                <a:spcPts val="3219"/>
              </a:lnSpc>
              <a:spcBef>
                <a:spcPct val="0"/>
              </a:spcBef>
              <a:buFont typeface="Arial"/>
              <a:buChar char="•"/>
            </a:pPr>
            <a:r>
              <a:rPr lang="en-US" sz="2299">
                <a:solidFill>
                  <a:srgbClr val="000000"/>
                </a:solidFill>
                <a:latin typeface="Gotham"/>
                <a:ea typeface="Gotham"/>
                <a:cs typeface="Gotham"/>
                <a:sym typeface="Gotham"/>
              </a:rPr>
              <a:t>Menggunakan LSTM untuk pemodelan deret waktu dikombinasikan dengan XGBoost, terintegrasi langsung dengan sistem Point of Sale berbasis web.</a:t>
            </a:r>
          </a:p>
          <a:p>
            <a:pPr marL="496569" lvl="1" indent="-248284" algn="just">
              <a:lnSpc>
                <a:spcPts val="3219"/>
              </a:lnSpc>
              <a:spcBef>
                <a:spcPct val="0"/>
              </a:spcBef>
              <a:buFont typeface="Arial"/>
              <a:buChar char="•"/>
            </a:pPr>
            <a:r>
              <a:rPr lang="en-US" sz="2299">
                <a:solidFill>
                  <a:srgbClr val="000000"/>
                </a:solidFill>
                <a:latin typeface="Gotham"/>
                <a:ea typeface="Gotham"/>
                <a:cs typeface="Gotham"/>
                <a:sym typeface="Gotham"/>
              </a:rPr>
              <a:t>Hasil penelitian menunjukkan sistem prediksi penjualan waktu nyata yang terhubung dengan POS untuk penyerapan data dinamis.</a:t>
            </a:r>
          </a:p>
          <a:p>
            <a:pPr marL="496569" lvl="1" indent="-248284" algn="just">
              <a:lnSpc>
                <a:spcPts val="3219"/>
              </a:lnSpc>
              <a:spcBef>
                <a:spcPct val="0"/>
              </a:spcBef>
              <a:buFont typeface="Arial"/>
              <a:buChar char="•"/>
            </a:pPr>
            <a:r>
              <a:rPr lang="en-US" sz="2299">
                <a:solidFill>
                  <a:srgbClr val="000000"/>
                </a:solidFill>
                <a:latin typeface="Gotham"/>
                <a:ea typeface="Gotham"/>
                <a:cs typeface="Gotham"/>
                <a:sym typeface="Gotham"/>
              </a:rPr>
              <a:t>Hanya berfokus pada pendekatan hibrida LSTM-XGBoost berbasis web; penelitian ini menggunakan LSTM murni pada aplikasi mobile dan menguji augmentasi TimeGAN.</a:t>
            </a:r>
          </a:p>
          <a:p>
            <a:pPr algn="just">
              <a:lnSpc>
                <a:spcPts val="3219"/>
              </a:lnSpc>
              <a:spcBef>
                <a:spcPct val="0"/>
              </a:spcBef>
            </a:pPr>
            <a:endParaRPr lang="en-US" sz="2299">
              <a:solidFill>
                <a:srgbClr val="000000"/>
              </a:solidFill>
              <a:latin typeface="Gotham"/>
              <a:ea typeface="Gotham"/>
              <a:cs typeface="Gotham"/>
              <a:sym typeface="Gotha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5" name="Freeform 5"/>
          <p:cNvSpPr/>
          <p:nvPr/>
        </p:nvSpPr>
        <p:spPr>
          <a:xfrm>
            <a:off x="2765546" y="2233930"/>
            <a:ext cx="12756909" cy="7724661"/>
          </a:xfrm>
          <a:custGeom>
            <a:avLst/>
            <a:gdLst/>
            <a:ahLst/>
            <a:cxnLst/>
            <a:rect l="l" t="t" r="r" b="b"/>
            <a:pathLst>
              <a:path w="12756909" h="7724661">
                <a:moveTo>
                  <a:pt x="0" y="0"/>
                </a:moveTo>
                <a:lnTo>
                  <a:pt x="12756908" y="0"/>
                </a:lnTo>
                <a:lnTo>
                  <a:pt x="12756908" y="7724661"/>
                </a:lnTo>
                <a:lnTo>
                  <a:pt x="0" y="7724661"/>
                </a:lnTo>
                <a:lnTo>
                  <a:pt x="0" y="0"/>
                </a:lnTo>
                <a:close/>
              </a:path>
            </a:pathLst>
          </a:custGeom>
          <a:blipFill>
            <a:blip r:embed="rId5"/>
            <a:stretch>
              <a:fillRect/>
            </a:stretch>
          </a:blipFill>
        </p:spPr>
      </p:sp>
      <p:sp>
        <p:nvSpPr>
          <p:cNvPr id="6" name="TextBox 6"/>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08</a:t>
            </a:r>
          </a:p>
        </p:txBody>
      </p:sp>
      <p:sp>
        <p:nvSpPr>
          <p:cNvPr id="7" name="TextBox 7"/>
          <p:cNvSpPr txBox="1"/>
          <p:nvPr/>
        </p:nvSpPr>
        <p:spPr>
          <a:xfrm>
            <a:off x="1109643" y="1485900"/>
            <a:ext cx="14467283" cy="700405"/>
          </a:xfrm>
          <a:prstGeom prst="rect">
            <a:avLst/>
          </a:prstGeom>
        </p:spPr>
        <p:txBody>
          <a:bodyPr lIns="0" tIns="0" rIns="0" bIns="0" rtlCol="0" anchor="t">
            <a:spAutoFit/>
          </a:bodyPr>
          <a:lstStyle/>
          <a:p>
            <a:pPr marL="0" lvl="1" indent="0" algn="l">
              <a:lnSpc>
                <a:spcPts val="5000"/>
              </a:lnSpc>
            </a:pPr>
            <a:r>
              <a:rPr lang="en-US" sz="5000" b="1" spc="-100">
                <a:solidFill>
                  <a:srgbClr val="2E2C2B"/>
                </a:solidFill>
                <a:latin typeface="Hagrid Ultra-Bold"/>
                <a:ea typeface="Hagrid Ultra-Bold"/>
                <a:cs typeface="Hagrid Ultra-Bold"/>
                <a:sym typeface="Hagrid Ultra-Bold"/>
              </a:rPr>
              <a:t>ALUR PENELITIAN</a:t>
            </a:r>
          </a:p>
        </p:txBody>
      </p:sp>
      <p:sp>
        <p:nvSpPr>
          <p:cNvPr id="8" name="TextBox 8"/>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5" name="Freeform 5"/>
          <p:cNvSpPr/>
          <p:nvPr/>
        </p:nvSpPr>
        <p:spPr>
          <a:xfrm>
            <a:off x="556248" y="2453005"/>
            <a:ext cx="11286612" cy="7103511"/>
          </a:xfrm>
          <a:custGeom>
            <a:avLst/>
            <a:gdLst/>
            <a:ahLst/>
            <a:cxnLst/>
            <a:rect l="l" t="t" r="r" b="b"/>
            <a:pathLst>
              <a:path w="11286612" h="7103511">
                <a:moveTo>
                  <a:pt x="0" y="0"/>
                </a:moveTo>
                <a:lnTo>
                  <a:pt x="11286611" y="0"/>
                </a:lnTo>
                <a:lnTo>
                  <a:pt x="11286611" y="7103511"/>
                </a:lnTo>
                <a:lnTo>
                  <a:pt x="0" y="7103511"/>
                </a:lnTo>
                <a:lnTo>
                  <a:pt x="0" y="0"/>
                </a:lnTo>
                <a:close/>
              </a:path>
            </a:pathLst>
          </a:custGeom>
          <a:blipFill>
            <a:blip r:embed="rId5"/>
            <a:stretch>
              <a:fillRect/>
            </a:stretch>
          </a:blipFill>
        </p:spPr>
      </p:sp>
      <p:sp>
        <p:nvSpPr>
          <p:cNvPr id="6" name="TextBox 6"/>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09</a:t>
            </a:r>
          </a:p>
        </p:txBody>
      </p:sp>
      <p:sp>
        <p:nvSpPr>
          <p:cNvPr id="7" name="TextBox 7"/>
          <p:cNvSpPr txBox="1"/>
          <p:nvPr/>
        </p:nvSpPr>
        <p:spPr>
          <a:xfrm>
            <a:off x="556248" y="1362075"/>
            <a:ext cx="7388196" cy="700405"/>
          </a:xfrm>
          <a:prstGeom prst="rect">
            <a:avLst/>
          </a:prstGeom>
        </p:spPr>
        <p:txBody>
          <a:bodyPr lIns="0" tIns="0" rIns="0" bIns="0" rtlCol="0" anchor="t">
            <a:spAutoFit/>
          </a:bodyPr>
          <a:lstStyle/>
          <a:p>
            <a:pPr marL="0" lvl="1" indent="0" algn="l">
              <a:lnSpc>
                <a:spcPts val="5000"/>
              </a:lnSpc>
            </a:pPr>
            <a:r>
              <a:rPr lang="en-US" sz="5000" b="1" spc="-100">
                <a:solidFill>
                  <a:srgbClr val="2E2C2B"/>
                </a:solidFill>
                <a:latin typeface="Hagrid Ultra-Bold"/>
                <a:ea typeface="Hagrid Ultra-Bold"/>
                <a:cs typeface="Hagrid Ultra-Bold"/>
                <a:sym typeface="Hagrid Ultra-Bold"/>
              </a:rPr>
              <a:t>ARSITEKTUR SISTEM</a:t>
            </a:r>
          </a:p>
        </p:txBody>
      </p:sp>
      <p:sp>
        <p:nvSpPr>
          <p:cNvPr id="8" name="TextBox 8"/>
          <p:cNvSpPr txBox="1"/>
          <p:nvPr/>
        </p:nvSpPr>
        <p:spPr>
          <a:xfrm>
            <a:off x="12023180" y="1343934"/>
            <a:ext cx="5913615" cy="8324850"/>
          </a:xfrm>
          <a:prstGeom prst="rect">
            <a:avLst/>
          </a:prstGeom>
        </p:spPr>
        <p:txBody>
          <a:bodyPr lIns="0" tIns="0" rIns="0" bIns="0" rtlCol="0" anchor="t">
            <a:spAutoFit/>
          </a:bodyPr>
          <a:lstStyle/>
          <a:p>
            <a:pPr marL="518160" lvl="1" indent="-259080" algn="l">
              <a:lnSpc>
                <a:spcPts val="2879"/>
              </a:lnSpc>
              <a:spcBef>
                <a:spcPct val="0"/>
              </a:spcBef>
              <a:buFont typeface="Arial"/>
              <a:buChar char="•"/>
            </a:pPr>
            <a:r>
              <a:rPr lang="en-US" sz="2400">
                <a:solidFill>
                  <a:srgbClr val="2E2C2B"/>
                </a:solidFill>
                <a:latin typeface="Gotham"/>
                <a:ea typeface="Gotham"/>
                <a:cs typeface="Gotham"/>
                <a:sym typeface="Gotham"/>
              </a:rPr>
              <a:t>Aplikasi POS (Flutter, Android), arsitektur offli</a:t>
            </a:r>
            <a:r>
              <a:rPr lang="en-US" sz="2400" u="none" strike="noStrike">
                <a:solidFill>
                  <a:srgbClr val="2E2C2B"/>
                </a:solidFill>
                <a:latin typeface="Gotham"/>
                <a:ea typeface="Gotham"/>
                <a:cs typeface="Gotham"/>
                <a:sym typeface="Gotham"/>
              </a:rPr>
              <a:t>ne-first, kasir tetap dapat bertransaksi tanpa internet.</a:t>
            </a:r>
          </a:p>
          <a:p>
            <a:pPr algn="l">
              <a:lnSpc>
                <a:spcPts val="2879"/>
              </a:lnSpc>
              <a:spcBef>
                <a:spcPct val="0"/>
              </a:spcBef>
            </a:pPr>
            <a:endParaRPr lang="en-US" sz="2400" u="none" strike="noStrike">
              <a:solidFill>
                <a:srgbClr val="2E2C2B"/>
              </a:solidFill>
              <a:latin typeface="Gotham"/>
              <a:ea typeface="Gotham"/>
              <a:cs typeface="Gotham"/>
              <a:sym typeface="Gotham"/>
            </a:endParaRPr>
          </a:p>
          <a:p>
            <a:pPr marL="518160" lvl="1" indent="-259080" algn="l">
              <a:lnSpc>
                <a:spcPts val="2879"/>
              </a:lnSpc>
              <a:spcBef>
                <a:spcPct val="0"/>
              </a:spcBef>
              <a:buFont typeface="Arial"/>
              <a:buChar char="•"/>
            </a:pPr>
            <a:r>
              <a:rPr lang="en-US" sz="2400" u="none" strike="noStrike">
                <a:solidFill>
                  <a:srgbClr val="2E2C2B"/>
                </a:solidFill>
                <a:latin typeface="Gotham"/>
                <a:ea typeface="Gotham"/>
                <a:cs typeface="Gotham"/>
                <a:sym typeface="Gotham"/>
              </a:rPr>
              <a:t>Isar DB, penyimpanan lokal selama offline.</a:t>
            </a:r>
          </a:p>
          <a:p>
            <a:pPr algn="l">
              <a:lnSpc>
                <a:spcPts val="2879"/>
              </a:lnSpc>
              <a:spcBef>
                <a:spcPct val="0"/>
              </a:spcBef>
            </a:pPr>
            <a:endParaRPr lang="en-US" sz="2400" u="none" strike="noStrike">
              <a:solidFill>
                <a:srgbClr val="2E2C2B"/>
              </a:solidFill>
              <a:latin typeface="Gotham"/>
              <a:ea typeface="Gotham"/>
              <a:cs typeface="Gotham"/>
              <a:sym typeface="Gotham"/>
            </a:endParaRPr>
          </a:p>
          <a:p>
            <a:pPr marL="518160" lvl="1" indent="-259080" algn="l">
              <a:lnSpc>
                <a:spcPts val="2879"/>
              </a:lnSpc>
              <a:spcBef>
                <a:spcPct val="0"/>
              </a:spcBef>
              <a:buFont typeface="Arial"/>
              <a:buChar char="•"/>
            </a:pPr>
            <a:r>
              <a:rPr lang="en-US" sz="2400" u="none" strike="noStrike">
                <a:solidFill>
                  <a:srgbClr val="2E2C2B"/>
                </a:solidFill>
                <a:latin typeface="Gotham"/>
                <a:ea typeface="Gotham"/>
                <a:cs typeface="Gotham"/>
                <a:sym typeface="Gotham"/>
              </a:rPr>
              <a:t>Supabase PostgreSQL, basis data cloud, sinkronisasi otomatis saat koneksi aktif.</a:t>
            </a:r>
          </a:p>
          <a:p>
            <a:pPr algn="l">
              <a:lnSpc>
                <a:spcPts val="2879"/>
              </a:lnSpc>
              <a:spcBef>
                <a:spcPct val="0"/>
              </a:spcBef>
            </a:pPr>
            <a:endParaRPr lang="en-US" sz="2400" u="none" strike="noStrike">
              <a:solidFill>
                <a:srgbClr val="2E2C2B"/>
              </a:solidFill>
              <a:latin typeface="Gotham"/>
              <a:ea typeface="Gotham"/>
              <a:cs typeface="Gotham"/>
              <a:sym typeface="Gotham"/>
            </a:endParaRPr>
          </a:p>
          <a:p>
            <a:pPr marL="518160" lvl="1" indent="-259080" algn="l">
              <a:lnSpc>
                <a:spcPts val="2879"/>
              </a:lnSpc>
              <a:spcBef>
                <a:spcPct val="0"/>
              </a:spcBef>
              <a:buFont typeface="Arial"/>
              <a:buChar char="•"/>
            </a:pPr>
            <a:r>
              <a:rPr lang="en-US" sz="2400" u="none" strike="noStrike">
                <a:solidFill>
                  <a:srgbClr val="2E2C2B"/>
                </a:solidFill>
                <a:latin typeface="Gotham"/>
                <a:ea typeface="Gotham"/>
                <a:cs typeface="Gotham"/>
                <a:sym typeface="Gotham"/>
              </a:rPr>
              <a:t>Layanan prediksi terpisah, Python (TensorFlow + Flask), model dilatih luring lalu di-deploy sebagai API di Hugging Face.</a:t>
            </a:r>
          </a:p>
          <a:p>
            <a:pPr algn="l">
              <a:lnSpc>
                <a:spcPts val="2879"/>
              </a:lnSpc>
              <a:spcBef>
                <a:spcPct val="0"/>
              </a:spcBef>
            </a:pPr>
            <a:endParaRPr lang="en-US" sz="2400" u="none" strike="noStrike">
              <a:solidFill>
                <a:srgbClr val="2E2C2B"/>
              </a:solidFill>
              <a:latin typeface="Gotham"/>
              <a:ea typeface="Gotham"/>
              <a:cs typeface="Gotham"/>
              <a:sym typeface="Gotham"/>
            </a:endParaRPr>
          </a:p>
          <a:p>
            <a:pPr marL="518160" lvl="1" indent="-259080" algn="l">
              <a:lnSpc>
                <a:spcPts val="2879"/>
              </a:lnSpc>
              <a:spcBef>
                <a:spcPct val="0"/>
              </a:spcBef>
              <a:buFont typeface="Arial"/>
              <a:buChar char="•"/>
            </a:pPr>
            <a:r>
              <a:rPr lang="en-US" sz="2400" u="none" strike="noStrike">
                <a:solidFill>
                  <a:srgbClr val="2E2C2B"/>
                </a:solidFill>
                <a:latin typeface="Gotham"/>
                <a:ea typeface="Gotham"/>
                <a:cs typeface="Gotham"/>
                <a:sym typeface="Gotham"/>
              </a:rPr>
              <a:t>Halaman Smart Analytics, akses hasil prediksi langsung dari aplikasi.</a:t>
            </a:r>
          </a:p>
          <a:p>
            <a:pPr algn="l">
              <a:lnSpc>
                <a:spcPts val="2879"/>
              </a:lnSpc>
              <a:spcBef>
                <a:spcPct val="0"/>
              </a:spcBef>
            </a:pPr>
            <a:endParaRPr lang="en-US" sz="2400" u="none" strike="noStrike">
              <a:solidFill>
                <a:srgbClr val="2E2C2B"/>
              </a:solidFill>
              <a:latin typeface="Gotham"/>
              <a:ea typeface="Gotham"/>
              <a:cs typeface="Gotham"/>
              <a:sym typeface="Gotham"/>
            </a:endParaRPr>
          </a:p>
          <a:p>
            <a:pPr marL="518160" lvl="1" indent="-259080" algn="l">
              <a:lnSpc>
                <a:spcPts val="2879"/>
              </a:lnSpc>
              <a:spcBef>
                <a:spcPct val="0"/>
              </a:spcBef>
              <a:buFont typeface="Arial"/>
              <a:buChar char="•"/>
            </a:pPr>
            <a:r>
              <a:rPr lang="en-US" sz="2400" u="none" strike="noStrike">
                <a:solidFill>
                  <a:srgbClr val="2E2C2B"/>
                </a:solidFill>
                <a:latin typeface="Gotham"/>
                <a:ea typeface="Gotham"/>
                <a:cs typeface="Gotham"/>
                <a:sym typeface="Gotham"/>
              </a:rPr>
              <a:t>Model-agnostic, penggantian metode prediksi tidak memerlukan perubahan aplikasi.</a:t>
            </a:r>
          </a:p>
          <a:p>
            <a:pPr marL="0" lvl="0" indent="0" algn="l">
              <a:lnSpc>
                <a:spcPts val="2879"/>
              </a:lnSpc>
              <a:spcBef>
                <a:spcPct val="0"/>
              </a:spcBef>
            </a:pPr>
            <a:endParaRPr lang="en-US" sz="2400" u="none" strike="noStrike">
              <a:solidFill>
                <a:srgbClr val="2E2C2B"/>
              </a:solidFill>
              <a:latin typeface="Gotham"/>
              <a:ea typeface="Gotham"/>
              <a:cs typeface="Gotham"/>
              <a:sym typeface="Gotham"/>
            </a:endParaRPr>
          </a:p>
        </p:txBody>
      </p:sp>
      <p:sp>
        <p:nvSpPr>
          <p:cNvPr id="9" name="TextBox 9"/>
          <p:cNvSpPr txBox="1"/>
          <p:nvPr/>
        </p:nvSpPr>
        <p:spPr>
          <a:xfrm>
            <a:off x="2296441" y="4293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5" name="TextBox 5"/>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10</a:t>
            </a:r>
          </a:p>
        </p:txBody>
      </p:sp>
      <p:sp>
        <p:nvSpPr>
          <p:cNvPr id="6" name="TextBox 6"/>
          <p:cNvSpPr txBox="1"/>
          <p:nvPr/>
        </p:nvSpPr>
        <p:spPr>
          <a:xfrm>
            <a:off x="1109643" y="1681162"/>
            <a:ext cx="14467283" cy="700405"/>
          </a:xfrm>
          <a:prstGeom prst="rect">
            <a:avLst/>
          </a:prstGeom>
        </p:spPr>
        <p:txBody>
          <a:bodyPr lIns="0" tIns="0" rIns="0" bIns="0" rtlCol="0" anchor="t">
            <a:spAutoFit/>
          </a:bodyPr>
          <a:lstStyle/>
          <a:p>
            <a:pPr marL="0" lvl="1" indent="0" algn="l">
              <a:lnSpc>
                <a:spcPts val="5000"/>
              </a:lnSpc>
            </a:pPr>
            <a:r>
              <a:rPr lang="en-US" sz="5000" b="1" spc="-100">
                <a:solidFill>
                  <a:srgbClr val="2E2C2B"/>
                </a:solidFill>
                <a:latin typeface="Hagrid Ultra-Bold"/>
                <a:ea typeface="Hagrid Ultra-Bold"/>
                <a:cs typeface="Hagrid Ultra-Bold"/>
                <a:sym typeface="Hagrid Ultra-Bold"/>
              </a:rPr>
              <a:t>DATA DAN PENGUMPULAN DATA</a:t>
            </a:r>
          </a:p>
        </p:txBody>
      </p:sp>
      <p:sp>
        <p:nvSpPr>
          <p:cNvPr id="7" name="TextBox 7"/>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8" name="TextBox 8"/>
          <p:cNvSpPr txBox="1"/>
          <p:nvPr/>
        </p:nvSpPr>
        <p:spPr>
          <a:xfrm>
            <a:off x="1069172" y="2645728"/>
            <a:ext cx="1197290" cy="1076325"/>
          </a:xfrm>
          <a:prstGeom prst="rect">
            <a:avLst/>
          </a:prstGeom>
        </p:spPr>
        <p:txBody>
          <a:bodyPr lIns="0" tIns="0" rIns="0" bIns="0" rtlCol="0" anchor="t">
            <a:spAutoFit/>
          </a:bodyPr>
          <a:lstStyle/>
          <a:p>
            <a:pPr algn="l">
              <a:lnSpc>
                <a:spcPts val="8400"/>
              </a:lnSpc>
            </a:pPr>
            <a:r>
              <a:rPr lang="en-US" sz="6000" b="1">
                <a:solidFill>
                  <a:srgbClr val="BC1823"/>
                </a:solidFill>
                <a:latin typeface="Hagrid Ultra-Bold"/>
                <a:ea typeface="Hagrid Ultra-Bold"/>
                <a:cs typeface="Hagrid Ultra-Bold"/>
                <a:sym typeface="Hagrid Ultra-Bold"/>
              </a:rPr>
              <a:t>01.</a:t>
            </a:r>
          </a:p>
        </p:txBody>
      </p:sp>
      <p:sp>
        <p:nvSpPr>
          <p:cNvPr id="9" name="TextBox 9"/>
          <p:cNvSpPr txBox="1"/>
          <p:nvPr/>
        </p:nvSpPr>
        <p:spPr>
          <a:xfrm>
            <a:off x="1028700" y="4963344"/>
            <a:ext cx="1522974" cy="1076325"/>
          </a:xfrm>
          <a:prstGeom prst="rect">
            <a:avLst/>
          </a:prstGeom>
        </p:spPr>
        <p:txBody>
          <a:bodyPr lIns="0" tIns="0" rIns="0" bIns="0" rtlCol="0" anchor="t">
            <a:spAutoFit/>
          </a:bodyPr>
          <a:lstStyle/>
          <a:p>
            <a:pPr algn="l">
              <a:lnSpc>
                <a:spcPts val="8400"/>
              </a:lnSpc>
            </a:pPr>
            <a:r>
              <a:rPr lang="en-US" sz="6000" b="1">
                <a:solidFill>
                  <a:srgbClr val="BC1823"/>
                </a:solidFill>
                <a:latin typeface="Hagrid Ultra-Bold"/>
                <a:ea typeface="Hagrid Ultra-Bold"/>
                <a:cs typeface="Hagrid Ultra-Bold"/>
                <a:sym typeface="Hagrid Ultra-Bold"/>
              </a:rPr>
              <a:t>02.</a:t>
            </a:r>
          </a:p>
        </p:txBody>
      </p:sp>
      <p:sp>
        <p:nvSpPr>
          <p:cNvPr id="10" name="TextBox 10"/>
          <p:cNvSpPr txBox="1"/>
          <p:nvPr/>
        </p:nvSpPr>
        <p:spPr>
          <a:xfrm>
            <a:off x="1028700" y="7565149"/>
            <a:ext cx="1522974" cy="1076325"/>
          </a:xfrm>
          <a:prstGeom prst="rect">
            <a:avLst/>
          </a:prstGeom>
        </p:spPr>
        <p:txBody>
          <a:bodyPr lIns="0" tIns="0" rIns="0" bIns="0" rtlCol="0" anchor="t">
            <a:spAutoFit/>
          </a:bodyPr>
          <a:lstStyle/>
          <a:p>
            <a:pPr algn="l">
              <a:lnSpc>
                <a:spcPts val="8400"/>
              </a:lnSpc>
            </a:pPr>
            <a:r>
              <a:rPr lang="en-US" sz="6000" b="1">
                <a:solidFill>
                  <a:srgbClr val="BC1823"/>
                </a:solidFill>
                <a:latin typeface="Hagrid Ultra-Bold"/>
                <a:ea typeface="Hagrid Ultra-Bold"/>
                <a:cs typeface="Hagrid Ultra-Bold"/>
                <a:sym typeface="Hagrid Ultra-Bold"/>
              </a:rPr>
              <a:t>03.</a:t>
            </a:r>
          </a:p>
        </p:txBody>
      </p:sp>
      <p:sp>
        <p:nvSpPr>
          <p:cNvPr id="11" name="TextBox 11"/>
          <p:cNvSpPr txBox="1"/>
          <p:nvPr/>
        </p:nvSpPr>
        <p:spPr>
          <a:xfrm>
            <a:off x="2711073" y="3362749"/>
            <a:ext cx="14548227" cy="1352944"/>
          </a:xfrm>
          <a:prstGeom prst="rect">
            <a:avLst/>
          </a:prstGeom>
        </p:spPr>
        <p:txBody>
          <a:bodyPr lIns="0" tIns="0" rIns="0" bIns="0" rtlCol="0" anchor="t">
            <a:spAutoFit/>
          </a:bodyPr>
          <a:lstStyle/>
          <a:p>
            <a:pPr marL="0" lvl="0" indent="0" algn="just">
              <a:lnSpc>
                <a:spcPts val="3653"/>
              </a:lnSpc>
              <a:spcBef>
                <a:spcPct val="0"/>
              </a:spcBef>
            </a:pPr>
            <a:r>
              <a:rPr lang="en-US" sz="2609">
                <a:solidFill>
                  <a:srgbClr val="2E2C2B"/>
                </a:solidFill>
                <a:latin typeface="Gotham"/>
                <a:ea typeface="Gotham"/>
                <a:cs typeface="Gotham"/>
                <a:sym typeface="Gotham"/>
              </a:rPr>
              <a:t>Dump SQL pl</a:t>
            </a:r>
            <a:r>
              <a:rPr lang="en-US" sz="2609" u="none" strike="noStrike">
                <a:solidFill>
                  <a:srgbClr val="2E2C2B"/>
                </a:solidFill>
                <a:latin typeface="Gotham"/>
                <a:ea typeface="Gotham"/>
                <a:cs typeface="Gotham"/>
                <a:sym typeface="Gotham"/>
              </a:rPr>
              <a:t>atform EatsTEDI, Departemen Teknik Elektro Dan Informatika (DTEDI) UGM (eatstedi-20260621-010820.sql) — 32,15 MB, ±395.090 baris, rentang </a:t>
            </a:r>
            <a:r>
              <a:rPr lang="en-US" sz="2609" b="1" u="none" strike="noStrike">
                <a:solidFill>
                  <a:srgbClr val="2E2C2B"/>
                </a:solidFill>
                <a:latin typeface="Gotham Bold"/>
                <a:ea typeface="Gotham Bold"/>
                <a:cs typeface="Gotham Bold"/>
                <a:sym typeface="Gotham Bold"/>
              </a:rPr>
              <a:t>24 Agustus 2024–20 Juni 2026</a:t>
            </a:r>
            <a:r>
              <a:rPr lang="en-US" sz="2609" u="none" strike="noStrike">
                <a:solidFill>
                  <a:srgbClr val="2E2C2B"/>
                </a:solidFill>
                <a:latin typeface="Gotham"/>
                <a:ea typeface="Gotham"/>
                <a:cs typeface="Gotham"/>
                <a:sym typeface="Gotham"/>
              </a:rPr>
              <a:t> (</a:t>
            </a:r>
            <a:r>
              <a:rPr lang="en-US" sz="2609" b="1" u="none" strike="noStrike">
                <a:solidFill>
                  <a:srgbClr val="2E2C2B"/>
                </a:solidFill>
                <a:latin typeface="Gotham Bold"/>
                <a:ea typeface="Gotham Bold"/>
                <a:cs typeface="Gotham Bold"/>
                <a:sym typeface="Gotham Bold"/>
              </a:rPr>
              <a:t>666 </a:t>
            </a:r>
            <a:r>
              <a:rPr lang="en-US" sz="2609" u="none" strike="noStrike">
                <a:solidFill>
                  <a:srgbClr val="2E2C2B"/>
                </a:solidFill>
                <a:latin typeface="Gotham"/>
                <a:ea typeface="Gotham"/>
                <a:cs typeface="Gotham"/>
                <a:sym typeface="Gotham"/>
              </a:rPr>
              <a:t>hari kalender).</a:t>
            </a:r>
          </a:p>
        </p:txBody>
      </p:sp>
      <p:sp>
        <p:nvSpPr>
          <p:cNvPr id="12" name="TextBox 12"/>
          <p:cNvSpPr txBox="1"/>
          <p:nvPr/>
        </p:nvSpPr>
        <p:spPr>
          <a:xfrm>
            <a:off x="2711073" y="5836285"/>
            <a:ext cx="14548227" cy="14812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S</a:t>
            </a:r>
            <a:r>
              <a:rPr lang="en-US" sz="2809" u="none" strike="noStrike">
                <a:solidFill>
                  <a:srgbClr val="2E2C2B"/>
                </a:solidFill>
                <a:latin typeface="Gotham"/>
                <a:ea typeface="Gotham"/>
                <a:cs typeface="Gotham"/>
                <a:sym typeface="Gotham"/>
              </a:rPr>
              <a:t>etelah filter status lunas </a:t>
            </a:r>
            <a:r>
              <a:rPr lang="en-US" sz="2809" i="1" u="none" strike="noStrike">
                <a:solidFill>
                  <a:srgbClr val="2E2C2B"/>
                </a:solidFill>
                <a:latin typeface="Gotham Italics"/>
                <a:ea typeface="Gotham Italics"/>
                <a:cs typeface="Gotham Italics"/>
                <a:sym typeface="Gotham Italics"/>
              </a:rPr>
              <a:t>(is_paid = 1)</a:t>
            </a:r>
            <a:r>
              <a:rPr lang="en-US" sz="2809" u="none" strike="noStrike">
                <a:solidFill>
                  <a:srgbClr val="2E2C2B"/>
                </a:solidFill>
                <a:latin typeface="Gotham"/>
                <a:ea typeface="Gotham"/>
                <a:cs typeface="Gotham"/>
                <a:sym typeface="Gotham"/>
              </a:rPr>
              <a:t> &amp; agregasi harian: rentang efektif </a:t>
            </a:r>
            <a:r>
              <a:rPr lang="en-US" sz="2809" b="1" u="none" strike="noStrike">
                <a:solidFill>
                  <a:srgbClr val="2E2C2B"/>
                </a:solidFill>
                <a:latin typeface="Gotham Bold"/>
                <a:ea typeface="Gotham Bold"/>
                <a:cs typeface="Gotham Bold"/>
                <a:sym typeface="Gotham Bold"/>
              </a:rPr>
              <a:t>26 Agustus 2024–20 Juni 2026</a:t>
            </a:r>
            <a:r>
              <a:rPr lang="en-US" sz="2809" u="none" strike="noStrike">
                <a:solidFill>
                  <a:srgbClr val="2E2C2B"/>
                </a:solidFill>
                <a:latin typeface="Gotham"/>
                <a:ea typeface="Gotham"/>
                <a:cs typeface="Gotham"/>
                <a:sym typeface="Gotham"/>
              </a:rPr>
              <a:t>, </a:t>
            </a:r>
            <a:r>
              <a:rPr lang="en-US" sz="2809" b="1" u="none" strike="noStrike">
                <a:solidFill>
                  <a:srgbClr val="2E2C2B"/>
                </a:solidFill>
                <a:latin typeface="Gotham Bold"/>
                <a:ea typeface="Gotham Bold"/>
                <a:cs typeface="Gotham Bold"/>
                <a:sym typeface="Gotham Bold"/>
              </a:rPr>
              <a:t>313 hari</a:t>
            </a:r>
            <a:r>
              <a:rPr lang="en-US" sz="2809" u="none" strike="noStrike">
                <a:solidFill>
                  <a:srgbClr val="2E2C2B"/>
                </a:solidFill>
                <a:latin typeface="Gotham"/>
                <a:ea typeface="Gotham"/>
                <a:cs typeface="Gotham"/>
                <a:sym typeface="Gotham"/>
              </a:rPr>
              <a:t> dengan transaksi tercatat dari </a:t>
            </a:r>
            <a:r>
              <a:rPr lang="en-US" sz="2809" b="1" u="none" strike="noStrike">
                <a:solidFill>
                  <a:srgbClr val="2E2C2B"/>
                </a:solidFill>
                <a:latin typeface="Gotham Bold"/>
                <a:ea typeface="Gotham Bold"/>
                <a:cs typeface="Gotham Bold"/>
                <a:sym typeface="Gotham Bold"/>
              </a:rPr>
              <a:t>475 hari</a:t>
            </a:r>
            <a:r>
              <a:rPr lang="en-US" sz="2809" u="none" strike="noStrike">
                <a:solidFill>
                  <a:srgbClr val="2E2C2B"/>
                </a:solidFill>
                <a:latin typeface="Gotham"/>
                <a:ea typeface="Gotham"/>
                <a:cs typeface="Gotham"/>
                <a:sym typeface="Gotham"/>
              </a:rPr>
              <a:t> </a:t>
            </a:r>
            <a:r>
              <a:rPr lang="en-US" sz="2809" b="1" u="none" strike="noStrike">
                <a:solidFill>
                  <a:srgbClr val="2E2C2B"/>
                </a:solidFill>
                <a:latin typeface="Gotham Bold"/>
                <a:ea typeface="Gotham Bold"/>
                <a:cs typeface="Gotham Bold"/>
                <a:sym typeface="Gotham Bold"/>
              </a:rPr>
              <a:t>kerja kalender</a:t>
            </a:r>
            <a:r>
              <a:rPr lang="en-US" sz="2809" u="none" strike="noStrike">
                <a:solidFill>
                  <a:srgbClr val="2E2C2B"/>
                </a:solidFill>
                <a:latin typeface="Gotham"/>
                <a:ea typeface="Gotham"/>
                <a:cs typeface="Gotham"/>
                <a:sym typeface="Gotham"/>
              </a:rPr>
              <a:t>. Pemodelan univariat (revenue harian).</a:t>
            </a:r>
          </a:p>
        </p:txBody>
      </p:sp>
      <p:sp>
        <p:nvSpPr>
          <p:cNvPr id="13" name="TextBox 13"/>
          <p:cNvSpPr txBox="1"/>
          <p:nvPr/>
        </p:nvSpPr>
        <p:spPr>
          <a:xfrm>
            <a:off x="2711073" y="8438091"/>
            <a:ext cx="14548227" cy="19765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M</a:t>
            </a:r>
            <a:r>
              <a:rPr lang="en-US" sz="2809" u="none" strike="noStrike">
                <a:solidFill>
                  <a:srgbClr val="2E2C2B"/>
                </a:solidFill>
                <a:latin typeface="Gotham"/>
                <a:ea typeface="Gotham"/>
                <a:cs typeface="Gotham"/>
                <a:sym typeface="Gotham"/>
              </a:rPr>
              <a:t>encakup empat semester berturut-turut (dua tahun akademik) — cukup kaya pola musiman (perkuliahan, UTS, UAS, libur antarsemester), namun cukup terbatas volumenya untuk menguji secara jujur nilai tambah LSTM &amp; TimeGAN.</a:t>
            </a:r>
          </a:p>
          <a:p>
            <a:pPr marL="0" lvl="0" indent="0" algn="just">
              <a:lnSpc>
                <a:spcPts val="3933"/>
              </a:lnSpc>
              <a:spcBef>
                <a:spcPct val="0"/>
              </a:spcBef>
            </a:pPr>
            <a:endParaRPr lang="en-US" sz="2809" u="none" strike="noStrike">
              <a:solidFill>
                <a:srgbClr val="2E2C2B"/>
              </a:solidFill>
              <a:latin typeface="Gotham"/>
              <a:ea typeface="Gotham"/>
              <a:cs typeface="Gotham"/>
              <a:sym typeface="Gotham"/>
            </a:endParaRPr>
          </a:p>
        </p:txBody>
      </p:sp>
      <p:sp>
        <p:nvSpPr>
          <p:cNvPr id="14" name="TextBox 14"/>
          <p:cNvSpPr txBox="1"/>
          <p:nvPr/>
        </p:nvSpPr>
        <p:spPr>
          <a:xfrm>
            <a:off x="2711073" y="2702878"/>
            <a:ext cx="14548227" cy="490614"/>
          </a:xfrm>
          <a:prstGeom prst="rect">
            <a:avLst/>
          </a:prstGeom>
        </p:spPr>
        <p:txBody>
          <a:bodyPr lIns="0" tIns="0" rIns="0" bIns="0" rtlCol="0" anchor="t">
            <a:spAutoFit/>
          </a:bodyPr>
          <a:lstStyle/>
          <a:p>
            <a:pPr marL="0" lvl="0" indent="0" algn="just">
              <a:lnSpc>
                <a:spcPts val="3933"/>
              </a:lnSpc>
              <a:spcBef>
                <a:spcPct val="0"/>
              </a:spcBef>
            </a:pPr>
            <a:r>
              <a:rPr lang="en-US" sz="2809" b="1">
                <a:solidFill>
                  <a:srgbClr val="2E2C2B"/>
                </a:solidFill>
                <a:latin typeface="Gotham Bold"/>
                <a:ea typeface="Gotham Bold"/>
                <a:cs typeface="Gotham Bold"/>
                <a:sym typeface="Gotham Bold"/>
              </a:rPr>
              <a:t>Sumber Data</a:t>
            </a:r>
          </a:p>
        </p:txBody>
      </p:sp>
      <p:sp>
        <p:nvSpPr>
          <p:cNvPr id="15" name="TextBox 15"/>
          <p:cNvSpPr txBox="1"/>
          <p:nvPr/>
        </p:nvSpPr>
        <p:spPr>
          <a:xfrm>
            <a:off x="2711073" y="5195463"/>
            <a:ext cx="14548227" cy="490614"/>
          </a:xfrm>
          <a:prstGeom prst="rect">
            <a:avLst/>
          </a:prstGeom>
        </p:spPr>
        <p:txBody>
          <a:bodyPr lIns="0" tIns="0" rIns="0" bIns="0" rtlCol="0" anchor="t">
            <a:spAutoFit/>
          </a:bodyPr>
          <a:lstStyle/>
          <a:p>
            <a:pPr marL="0" lvl="0" indent="0" algn="just">
              <a:lnSpc>
                <a:spcPts val="3933"/>
              </a:lnSpc>
              <a:spcBef>
                <a:spcPct val="0"/>
              </a:spcBef>
            </a:pPr>
            <a:r>
              <a:rPr lang="en-US" sz="2809" b="1">
                <a:solidFill>
                  <a:srgbClr val="2E2C2B"/>
                </a:solidFill>
                <a:latin typeface="Gotham Bold"/>
                <a:ea typeface="Gotham Bold"/>
                <a:cs typeface="Gotham Bold"/>
                <a:sym typeface="Gotham Bold"/>
              </a:rPr>
              <a:t>Dataset Final</a:t>
            </a:r>
          </a:p>
        </p:txBody>
      </p:sp>
      <p:sp>
        <p:nvSpPr>
          <p:cNvPr id="16" name="TextBox 16"/>
          <p:cNvSpPr txBox="1"/>
          <p:nvPr/>
        </p:nvSpPr>
        <p:spPr>
          <a:xfrm>
            <a:off x="2711073" y="7797269"/>
            <a:ext cx="14548227" cy="490614"/>
          </a:xfrm>
          <a:prstGeom prst="rect">
            <a:avLst/>
          </a:prstGeom>
        </p:spPr>
        <p:txBody>
          <a:bodyPr lIns="0" tIns="0" rIns="0" bIns="0" rtlCol="0" anchor="t">
            <a:spAutoFit/>
          </a:bodyPr>
          <a:lstStyle/>
          <a:p>
            <a:pPr marL="0" lvl="0" indent="0" algn="just">
              <a:lnSpc>
                <a:spcPts val="3933"/>
              </a:lnSpc>
              <a:spcBef>
                <a:spcPct val="0"/>
              </a:spcBef>
            </a:pPr>
            <a:r>
              <a:rPr lang="en-US" sz="2809" b="1">
                <a:solidFill>
                  <a:srgbClr val="2E2C2B"/>
                </a:solidFill>
                <a:latin typeface="Gotham Bold"/>
                <a:ea typeface="Gotham Bold"/>
                <a:cs typeface="Gotham Bold"/>
                <a:sym typeface="Gotham Bold"/>
              </a:rPr>
              <a:t>Mengapa EatsTEDI?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5" name="TextBox 5"/>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11</a:t>
            </a:r>
          </a:p>
        </p:txBody>
      </p:sp>
      <p:sp>
        <p:nvSpPr>
          <p:cNvPr id="6" name="TextBox 6"/>
          <p:cNvSpPr txBox="1"/>
          <p:nvPr/>
        </p:nvSpPr>
        <p:spPr>
          <a:xfrm>
            <a:off x="1069172" y="1423988"/>
            <a:ext cx="14467283" cy="708025"/>
          </a:xfrm>
          <a:prstGeom prst="rect">
            <a:avLst/>
          </a:prstGeom>
        </p:spPr>
        <p:txBody>
          <a:bodyPr lIns="0" tIns="0" rIns="0" bIns="0" rtlCol="0" anchor="t">
            <a:spAutoFit/>
          </a:bodyPr>
          <a:lstStyle/>
          <a:p>
            <a:pPr algn="l">
              <a:lnSpc>
                <a:spcPts val="5000"/>
              </a:lnSpc>
            </a:pPr>
            <a:r>
              <a:rPr lang="en-US" sz="5000" b="1" spc="-100">
                <a:solidFill>
                  <a:srgbClr val="2E2C2B"/>
                </a:solidFill>
                <a:latin typeface="Hagrid Ultra-Bold"/>
                <a:ea typeface="Hagrid Ultra-Bold"/>
                <a:cs typeface="Hagrid Ultra-Bold"/>
                <a:sym typeface="Hagrid Ultra-Bold"/>
              </a:rPr>
              <a:t>TEKNIK PENGUMPULAN DATA</a:t>
            </a:r>
          </a:p>
        </p:txBody>
      </p:sp>
      <p:sp>
        <p:nvSpPr>
          <p:cNvPr id="7" name="TextBox 7"/>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8" name="TextBox 8"/>
          <p:cNvSpPr txBox="1"/>
          <p:nvPr/>
        </p:nvSpPr>
        <p:spPr>
          <a:xfrm>
            <a:off x="1069172" y="2418095"/>
            <a:ext cx="1197290"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01.</a:t>
            </a:r>
          </a:p>
        </p:txBody>
      </p:sp>
      <p:sp>
        <p:nvSpPr>
          <p:cNvPr id="9" name="TextBox 9"/>
          <p:cNvSpPr txBox="1"/>
          <p:nvPr/>
        </p:nvSpPr>
        <p:spPr>
          <a:xfrm>
            <a:off x="1028700" y="4127909"/>
            <a:ext cx="1522974"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02.</a:t>
            </a:r>
          </a:p>
        </p:txBody>
      </p:sp>
      <p:sp>
        <p:nvSpPr>
          <p:cNvPr id="10" name="TextBox 10"/>
          <p:cNvSpPr txBox="1"/>
          <p:nvPr/>
        </p:nvSpPr>
        <p:spPr>
          <a:xfrm>
            <a:off x="1028700" y="6147363"/>
            <a:ext cx="1522974"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03.</a:t>
            </a:r>
          </a:p>
        </p:txBody>
      </p:sp>
      <p:sp>
        <p:nvSpPr>
          <p:cNvPr id="11" name="TextBox 11"/>
          <p:cNvSpPr txBox="1"/>
          <p:nvPr/>
        </p:nvSpPr>
        <p:spPr>
          <a:xfrm>
            <a:off x="2711073" y="2951495"/>
            <a:ext cx="14548227" cy="9859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Mengk</a:t>
            </a:r>
            <a:r>
              <a:rPr lang="en-US" sz="2809" u="none" strike="noStrike">
                <a:solidFill>
                  <a:srgbClr val="2E2C2B"/>
                </a:solidFill>
                <a:latin typeface="Gotham"/>
                <a:ea typeface="Gotham"/>
                <a:cs typeface="Gotham"/>
                <a:sym typeface="Gotham"/>
              </a:rPr>
              <a:t>aji penelitian terdahulu tentang LSTM, augmentasi TimeGAN, dan baseline sebagai kontrol metodologis.</a:t>
            </a:r>
          </a:p>
        </p:txBody>
      </p:sp>
      <p:sp>
        <p:nvSpPr>
          <p:cNvPr id="12" name="TextBox 12"/>
          <p:cNvSpPr txBox="1"/>
          <p:nvPr/>
        </p:nvSpPr>
        <p:spPr>
          <a:xfrm>
            <a:off x="2711073" y="4883968"/>
            <a:ext cx="14548227" cy="9859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Terhadap pengelola divisi kewirausahaan mahasiswa platform EatsTEDI DTEDI UGM: alur kasir, pencatatan menu, pengelolaan stok.</a:t>
            </a:r>
          </a:p>
        </p:txBody>
      </p:sp>
      <p:sp>
        <p:nvSpPr>
          <p:cNvPr id="13" name="TextBox 13"/>
          <p:cNvSpPr txBox="1"/>
          <p:nvPr/>
        </p:nvSpPr>
        <p:spPr>
          <a:xfrm>
            <a:off x="2711073" y="6840959"/>
            <a:ext cx="14548227" cy="9859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D</a:t>
            </a:r>
            <a:r>
              <a:rPr lang="en-US" sz="2809" u="none" strike="noStrike">
                <a:solidFill>
                  <a:srgbClr val="2E2C2B"/>
                </a:solidFill>
                <a:latin typeface="Gotham"/>
                <a:ea typeface="Gotham"/>
                <a:cs typeface="Gotham"/>
                <a:sym typeface="Gotham"/>
              </a:rPr>
              <a:t>ump SQL berisi tabel invoices (utama) beserta product_sold, products, dan categories.</a:t>
            </a:r>
          </a:p>
        </p:txBody>
      </p:sp>
      <p:sp>
        <p:nvSpPr>
          <p:cNvPr id="14" name="TextBox 14"/>
          <p:cNvSpPr txBox="1"/>
          <p:nvPr/>
        </p:nvSpPr>
        <p:spPr>
          <a:xfrm>
            <a:off x="2711073" y="2453443"/>
            <a:ext cx="14548227" cy="490614"/>
          </a:xfrm>
          <a:prstGeom prst="rect">
            <a:avLst/>
          </a:prstGeom>
        </p:spPr>
        <p:txBody>
          <a:bodyPr lIns="0" tIns="0" rIns="0" bIns="0" rtlCol="0" anchor="t">
            <a:spAutoFit/>
          </a:bodyPr>
          <a:lstStyle/>
          <a:p>
            <a:pPr marL="0" lvl="0" indent="0" algn="just">
              <a:lnSpc>
                <a:spcPts val="3933"/>
              </a:lnSpc>
              <a:spcBef>
                <a:spcPct val="0"/>
              </a:spcBef>
            </a:pPr>
            <a:r>
              <a:rPr lang="en-US" sz="2809" b="1">
                <a:solidFill>
                  <a:srgbClr val="2E2C2B"/>
                </a:solidFill>
                <a:latin typeface="Gotham Bold"/>
                <a:ea typeface="Gotham Bold"/>
                <a:cs typeface="Gotham Bold"/>
                <a:sym typeface="Gotham Bold"/>
              </a:rPr>
              <a:t>Studi Literatur</a:t>
            </a:r>
          </a:p>
        </p:txBody>
      </p:sp>
      <p:sp>
        <p:nvSpPr>
          <p:cNvPr id="15" name="TextBox 15"/>
          <p:cNvSpPr txBox="1"/>
          <p:nvPr/>
        </p:nvSpPr>
        <p:spPr>
          <a:xfrm>
            <a:off x="2711073" y="4288579"/>
            <a:ext cx="14548227" cy="490614"/>
          </a:xfrm>
          <a:prstGeom prst="rect">
            <a:avLst/>
          </a:prstGeom>
        </p:spPr>
        <p:txBody>
          <a:bodyPr lIns="0" tIns="0" rIns="0" bIns="0" rtlCol="0" anchor="t">
            <a:spAutoFit/>
          </a:bodyPr>
          <a:lstStyle/>
          <a:p>
            <a:pPr marL="0" lvl="0" indent="0" algn="just">
              <a:lnSpc>
                <a:spcPts val="3933"/>
              </a:lnSpc>
              <a:spcBef>
                <a:spcPct val="0"/>
              </a:spcBef>
            </a:pPr>
            <a:r>
              <a:rPr lang="en-US" sz="2809" b="1">
                <a:solidFill>
                  <a:srgbClr val="2E2C2B"/>
                </a:solidFill>
                <a:latin typeface="Gotham Bold"/>
                <a:ea typeface="Gotham Bold"/>
                <a:cs typeface="Gotham Bold"/>
                <a:sym typeface="Gotham Bold"/>
              </a:rPr>
              <a:t>Observasi &amp; Wawancara</a:t>
            </a:r>
          </a:p>
        </p:txBody>
      </p:sp>
      <p:sp>
        <p:nvSpPr>
          <p:cNvPr id="16" name="TextBox 16"/>
          <p:cNvSpPr txBox="1"/>
          <p:nvPr/>
        </p:nvSpPr>
        <p:spPr>
          <a:xfrm>
            <a:off x="2711073" y="6245569"/>
            <a:ext cx="14548227" cy="490614"/>
          </a:xfrm>
          <a:prstGeom prst="rect">
            <a:avLst/>
          </a:prstGeom>
        </p:spPr>
        <p:txBody>
          <a:bodyPr lIns="0" tIns="0" rIns="0" bIns="0" rtlCol="0" anchor="t">
            <a:spAutoFit/>
          </a:bodyPr>
          <a:lstStyle/>
          <a:p>
            <a:pPr marL="0" lvl="0" indent="0" algn="just">
              <a:lnSpc>
                <a:spcPts val="3933"/>
              </a:lnSpc>
              <a:spcBef>
                <a:spcPct val="0"/>
              </a:spcBef>
            </a:pPr>
            <a:r>
              <a:rPr lang="en-US" sz="2809" b="1">
                <a:solidFill>
                  <a:srgbClr val="2E2C2B"/>
                </a:solidFill>
                <a:latin typeface="Gotham Bold"/>
                <a:ea typeface="Gotham Bold"/>
                <a:cs typeface="Gotham Bold"/>
                <a:sym typeface="Gotham Bold"/>
              </a:rPr>
              <a:t>Akuisisi Data</a:t>
            </a:r>
          </a:p>
        </p:txBody>
      </p:sp>
      <p:sp>
        <p:nvSpPr>
          <p:cNvPr id="17" name="TextBox 17"/>
          <p:cNvSpPr txBox="1"/>
          <p:nvPr/>
        </p:nvSpPr>
        <p:spPr>
          <a:xfrm>
            <a:off x="1028700" y="8132774"/>
            <a:ext cx="1522974" cy="1076325"/>
          </a:xfrm>
          <a:prstGeom prst="rect">
            <a:avLst/>
          </a:prstGeom>
        </p:spPr>
        <p:txBody>
          <a:bodyPr lIns="0" tIns="0" rIns="0" bIns="0" rtlCol="0" anchor="t">
            <a:spAutoFit/>
          </a:bodyPr>
          <a:lstStyle/>
          <a:p>
            <a:pPr algn="r">
              <a:lnSpc>
                <a:spcPts val="8400"/>
              </a:lnSpc>
            </a:pPr>
            <a:r>
              <a:rPr lang="en-US" sz="6000" b="1">
                <a:solidFill>
                  <a:srgbClr val="BC1823"/>
                </a:solidFill>
                <a:latin typeface="Hagrid Ultra-Bold"/>
                <a:ea typeface="Hagrid Ultra-Bold"/>
                <a:cs typeface="Hagrid Ultra-Bold"/>
                <a:sym typeface="Hagrid Ultra-Bold"/>
              </a:rPr>
              <a:t>04.</a:t>
            </a:r>
          </a:p>
        </p:txBody>
      </p:sp>
      <p:sp>
        <p:nvSpPr>
          <p:cNvPr id="18" name="TextBox 18"/>
          <p:cNvSpPr txBox="1"/>
          <p:nvPr/>
        </p:nvSpPr>
        <p:spPr>
          <a:xfrm>
            <a:off x="2711073" y="8242235"/>
            <a:ext cx="14548227" cy="490614"/>
          </a:xfrm>
          <a:prstGeom prst="rect">
            <a:avLst/>
          </a:prstGeom>
        </p:spPr>
        <p:txBody>
          <a:bodyPr lIns="0" tIns="0" rIns="0" bIns="0" rtlCol="0" anchor="t">
            <a:spAutoFit/>
          </a:bodyPr>
          <a:lstStyle/>
          <a:p>
            <a:pPr marL="0" lvl="0" indent="0" algn="just">
              <a:lnSpc>
                <a:spcPts val="3933"/>
              </a:lnSpc>
              <a:spcBef>
                <a:spcPct val="0"/>
              </a:spcBef>
            </a:pPr>
            <a:r>
              <a:rPr lang="en-US" sz="2809" b="1">
                <a:solidFill>
                  <a:srgbClr val="2E2C2B"/>
                </a:solidFill>
                <a:latin typeface="Gotham Bold"/>
                <a:ea typeface="Gotham Bold"/>
                <a:cs typeface="Gotham Bold"/>
                <a:sym typeface="Gotham Bold"/>
              </a:rPr>
              <a:t>Praproses Data</a:t>
            </a:r>
          </a:p>
        </p:txBody>
      </p:sp>
      <p:sp>
        <p:nvSpPr>
          <p:cNvPr id="19" name="TextBox 19"/>
          <p:cNvSpPr txBox="1"/>
          <p:nvPr/>
        </p:nvSpPr>
        <p:spPr>
          <a:xfrm>
            <a:off x="2711073" y="8742374"/>
            <a:ext cx="14548227" cy="985914"/>
          </a:xfrm>
          <a:prstGeom prst="rect">
            <a:avLst/>
          </a:prstGeom>
        </p:spPr>
        <p:txBody>
          <a:bodyPr lIns="0" tIns="0" rIns="0" bIns="0" rtlCol="0" anchor="t">
            <a:spAutoFit/>
          </a:bodyPr>
          <a:lstStyle/>
          <a:p>
            <a:pPr marL="0" lvl="0" indent="0" algn="just">
              <a:lnSpc>
                <a:spcPts val="3933"/>
              </a:lnSpc>
              <a:spcBef>
                <a:spcPct val="0"/>
              </a:spcBef>
            </a:pPr>
            <a:r>
              <a:rPr lang="en-US" sz="2809">
                <a:solidFill>
                  <a:srgbClr val="2E2C2B"/>
                </a:solidFill>
                <a:latin typeface="Gotham"/>
                <a:ea typeface="Gotham"/>
                <a:cs typeface="Gotham"/>
                <a:sym typeface="Gotham"/>
              </a:rPr>
              <a:t>P</a:t>
            </a:r>
            <a:r>
              <a:rPr lang="en-US" sz="2809" u="none" strike="noStrike">
                <a:solidFill>
                  <a:srgbClr val="2E2C2B"/>
                </a:solidFill>
                <a:latin typeface="Gotham"/>
                <a:ea typeface="Gotham"/>
                <a:cs typeface="Gotham"/>
                <a:sym typeface="Gotham"/>
              </a:rPr>
              <a:t>enyaringan status lunas, agregasi harian, normalisasi Min-Max Scaling, pembentukan sampel sliding window.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graphicFrame>
        <p:nvGraphicFramePr>
          <p:cNvPr id="5" name="Object 5"/>
          <p:cNvGraphicFramePr/>
          <p:nvPr/>
        </p:nvGraphicFramePr>
        <p:xfrm>
          <a:off x="1028700" y="3532822"/>
          <a:ext cx="15087600" cy="5657850"/>
        </p:xfrm>
        <a:graphic>
          <a:graphicData uri="http://schemas.openxmlformats.org/presentationml/2006/ole">
            <mc:AlternateContent xmlns:mc="http://schemas.openxmlformats.org/markup-compatibility/2006">
              <mc:Choice xmlns:v="urn:schemas-microsoft-com:vml" Requires="v">
                <p:oleObj name="Worksheet" r:id="rId5" imgW="18097500" imgH="8674100" progId="Excel.Sheet.12">
                  <p:embed/>
                </p:oleObj>
              </mc:Choice>
              <mc:Fallback>
                <p:oleObj name="Worksheet" r:id="rId5" imgW="18097500" imgH="8674100" progId="Excel.Sheet.12">
                  <p:embed/>
                  <p:pic>
                    <p:nvPicPr>
                      <p:cNvPr id="0" name=""/>
                      <p:cNvPicPr/>
                      <p:nvPr/>
                    </p:nvPicPr>
                    <p:blipFill>
                      <a:blip r:embed="rId6"/>
                      <a:stretch>
                        <a:fillRect/>
                      </a:stretch>
                    </p:blipFill>
                    <p:spPr>
                      <a:xfrm>
                        <a:off x="1028700" y="3532822"/>
                        <a:ext cx="15087600" cy="5657850"/>
                      </a:xfrm>
                      <a:prstGeom prst="rect">
                        <a:avLst/>
                      </a:prstGeom>
                    </p:spPr>
                  </p:pic>
                </p:oleObj>
              </mc:Fallback>
            </mc:AlternateContent>
          </a:graphicData>
        </a:graphic>
      </p:graphicFrame>
      <p:sp>
        <p:nvSpPr>
          <p:cNvPr id="6" name="TextBox 6"/>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12</a:t>
            </a:r>
          </a:p>
        </p:txBody>
      </p:sp>
      <p:sp>
        <p:nvSpPr>
          <p:cNvPr id="7" name="TextBox 7"/>
          <p:cNvSpPr txBox="1"/>
          <p:nvPr/>
        </p:nvSpPr>
        <p:spPr>
          <a:xfrm>
            <a:off x="1109643" y="1681162"/>
            <a:ext cx="14467283" cy="1298575"/>
          </a:xfrm>
          <a:prstGeom prst="rect">
            <a:avLst/>
          </a:prstGeom>
        </p:spPr>
        <p:txBody>
          <a:bodyPr lIns="0" tIns="0" rIns="0" bIns="0" rtlCol="0" anchor="t">
            <a:spAutoFit/>
          </a:bodyPr>
          <a:lstStyle/>
          <a:p>
            <a:pPr algn="l">
              <a:lnSpc>
                <a:spcPts val="5000"/>
              </a:lnSpc>
            </a:pPr>
            <a:r>
              <a:rPr lang="en-US" sz="5000" b="1" spc="-100">
                <a:solidFill>
                  <a:srgbClr val="2E2C2B"/>
                </a:solidFill>
                <a:latin typeface="Hagrid Ultra-Bold"/>
                <a:ea typeface="Hagrid Ultra-Bold"/>
                <a:cs typeface="Hagrid Ultra-Bold"/>
                <a:sym typeface="Hagrid Ultra-Bold"/>
              </a:rPr>
              <a:t>PREVIEW SEKILAS DATASET</a:t>
            </a:r>
          </a:p>
          <a:p>
            <a:pPr algn="l">
              <a:lnSpc>
                <a:spcPts val="5000"/>
              </a:lnSpc>
            </a:pPr>
            <a:endParaRPr lang="en-US" sz="5000" b="1" spc="-100">
              <a:solidFill>
                <a:srgbClr val="2E2C2B"/>
              </a:solidFill>
              <a:latin typeface="Hagrid Ultra-Bold"/>
              <a:ea typeface="Hagrid Ultra-Bold"/>
              <a:cs typeface="Hagrid Ultra-Bold"/>
              <a:sym typeface="Hagrid Ultra-Bold"/>
            </a:endParaRPr>
          </a:p>
        </p:txBody>
      </p:sp>
      <p:sp>
        <p:nvSpPr>
          <p:cNvPr id="8" name="TextBox 8"/>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9" name="TextBox 9"/>
          <p:cNvSpPr txBox="1"/>
          <p:nvPr/>
        </p:nvSpPr>
        <p:spPr>
          <a:xfrm>
            <a:off x="1109643" y="2579053"/>
            <a:ext cx="16149657" cy="763270"/>
          </a:xfrm>
          <a:prstGeom prst="rect">
            <a:avLst/>
          </a:prstGeom>
        </p:spPr>
        <p:txBody>
          <a:bodyPr lIns="0" tIns="0" rIns="0" bIns="0" rtlCol="0" anchor="t">
            <a:spAutoFit/>
          </a:bodyPr>
          <a:lstStyle/>
          <a:p>
            <a:pPr marL="0" lvl="0" indent="0" algn="just">
              <a:lnSpc>
                <a:spcPts val="3080"/>
              </a:lnSpc>
              <a:spcBef>
                <a:spcPct val="0"/>
              </a:spcBef>
            </a:pPr>
            <a:r>
              <a:rPr lang="en-US" sz="2200">
                <a:solidFill>
                  <a:srgbClr val="2E2C2B"/>
                </a:solidFill>
                <a:latin typeface="Gotham"/>
                <a:ea typeface="Gotham"/>
                <a:cs typeface="Gotham"/>
                <a:sym typeface="Gotham"/>
              </a:rPr>
              <a:t>ModelLSTM/Data/Ekstrak/daily_sales.csv — hasil agregasi harian dari dump SQL EatsTEDI, dataset final untuk pelatihan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3"/>
            <a:stretch>
              <a:fillRect/>
            </a:stretch>
          </a:blipFill>
        </p:spPr>
      </p:sp>
      <p:graphicFrame>
        <p:nvGraphicFramePr>
          <p:cNvPr id="4" name="Object 4"/>
          <p:cNvGraphicFramePr/>
          <p:nvPr/>
        </p:nvGraphicFramePr>
        <p:xfrm>
          <a:off x="541520" y="2995085"/>
          <a:ext cx="9429750" cy="3771900"/>
        </p:xfrm>
        <a:graphic>
          <a:graphicData uri="http://schemas.openxmlformats.org/presentationml/2006/ole">
            <mc:AlternateContent xmlns:mc="http://schemas.openxmlformats.org/markup-compatibility/2006">
              <mc:Choice xmlns:v="urn:schemas-microsoft-com:vml" Requires="v">
                <p:oleObj name="Worksheet" r:id="rId4" imgW="11315700" imgH="5651500" progId="Excel.Sheet.12">
                  <p:embed/>
                </p:oleObj>
              </mc:Choice>
              <mc:Fallback>
                <p:oleObj name="Worksheet" r:id="rId4" imgW="11315700" imgH="5651500" progId="Excel.Sheet.12">
                  <p:embed/>
                  <p:pic>
                    <p:nvPicPr>
                      <p:cNvPr id="0" name=""/>
                      <p:cNvPicPr/>
                      <p:nvPr/>
                    </p:nvPicPr>
                    <p:blipFill>
                      <a:blip r:embed="rId5"/>
                      <a:stretch>
                        <a:fillRect/>
                      </a:stretch>
                    </p:blipFill>
                    <p:spPr>
                      <a:xfrm>
                        <a:off x="541520" y="2995085"/>
                        <a:ext cx="9429750" cy="3771900"/>
                      </a:xfrm>
                      <a:prstGeom prst="rect">
                        <a:avLst/>
                      </a:prstGeom>
                    </p:spPr>
                  </p:pic>
                </p:oleObj>
              </mc:Fallback>
            </mc:AlternateContent>
          </a:graphicData>
        </a:graphic>
      </p:graphicFrame>
      <p:sp>
        <p:nvSpPr>
          <p:cNvPr id="5" name="Freeform 5"/>
          <p:cNvSpPr/>
          <p:nvPr/>
        </p:nvSpPr>
        <p:spPr>
          <a:xfrm>
            <a:off x="541520" y="6957485"/>
            <a:ext cx="10697111" cy="3001348"/>
          </a:xfrm>
          <a:custGeom>
            <a:avLst/>
            <a:gdLst/>
            <a:ahLst/>
            <a:cxnLst/>
            <a:rect l="l" t="t" r="r" b="b"/>
            <a:pathLst>
              <a:path w="10697111" h="3001348">
                <a:moveTo>
                  <a:pt x="0" y="0"/>
                </a:moveTo>
                <a:lnTo>
                  <a:pt x="10697111" y="0"/>
                </a:lnTo>
                <a:lnTo>
                  <a:pt x="10697111" y="3001347"/>
                </a:lnTo>
                <a:lnTo>
                  <a:pt x="0" y="3001347"/>
                </a:lnTo>
                <a:lnTo>
                  <a:pt x="0" y="0"/>
                </a:lnTo>
                <a:close/>
              </a:path>
            </a:pathLst>
          </a:custGeom>
          <a:blipFill>
            <a:blip r:embed="rId6"/>
            <a:stretch>
              <a:fillRect/>
            </a:stretch>
          </a:blipFill>
        </p:spPr>
      </p:sp>
      <p:sp>
        <p:nvSpPr>
          <p:cNvPr id="6" name="Freeform 6"/>
          <p:cNvSpPr/>
          <p:nvPr/>
        </p:nvSpPr>
        <p:spPr>
          <a:xfrm>
            <a:off x="11454539" y="2995085"/>
            <a:ext cx="6388359" cy="3962400"/>
          </a:xfrm>
          <a:custGeom>
            <a:avLst/>
            <a:gdLst/>
            <a:ahLst/>
            <a:cxnLst/>
            <a:rect l="l" t="t" r="r" b="b"/>
            <a:pathLst>
              <a:path w="6388359" h="3962400">
                <a:moveTo>
                  <a:pt x="0" y="0"/>
                </a:moveTo>
                <a:lnTo>
                  <a:pt x="6388359" y="0"/>
                </a:lnTo>
                <a:lnTo>
                  <a:pt x="6388359" y="3962400"/>
                </a:lnTo>
                <a:lnTo>
                  <a:pt x="0" y="3962400"/>
                </a:lnTo>
                <a:lnTo>
                  <a:pt x="0" y="0"/>
                </a:lnTo>
                <a:close/>
              </a:path>
            </a:pathLst>
          </a:custGeom>
          <a:blipFill>
            <a:blip r:embed="rId7"/>
            <a:stretch>
              <a:fillRect/>
            </a:stretch>
          </a:blipFill>
        </p:spPr>
      </p:sp>
      <p:sp>
        <p:nvSpPr>
          <p:cNvPr id="7" name="TextBox 7"/>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12</a:t>
            </a:r>
          </a:p>
        </p:txBody>
      </p:sp>
      <p:sp>
        <p:nvSpPr>
          <p:cNvPr id="8" name="TextBox 8"/>
          <p:cNvSpPr txBox="1"/>
          <p:nvPr/>
        </p:nvSpPr>
        <p:spPr>
          <a:xfrm>
            <a:off x="1109643" y="1457115"/>
            <a:ext cx="14467283" cy="669925"/>
          </a:xfrm>
          <a:prstGeom prst="rect">
            <a:avLst/>
          </a:prstGeom>
        </p:spPr>
        <p:txBody>
          <a:bodyPr lIns="0" tIns="0" rIns="0" bIns="0" rtlCol="0" anchor="t">
            <a:spAutoFit/>
          </a:bodyPr>
          <a:lstStyle/>
          <a:p>
            <a:pPr algn="l">
              <a:lnSpc>
                <a:spcPts val="5000"/>
              </a:lnSpc>
            </a:pPr>
            <a:r>
              <a:rPr lang="en-US" sz="5000" b="1" spc="-100">
                <a:solidFill>
                  <a:srgbClr val="2E2C2B"/>
                </a:solidFill>
                <a:latin typeface="Hagrid Ultra-Bold"/>
                <a:ea typeface="Hagrid Ultra-Bold"/>
                <a:cs typeface="Hagrid Ultra-Bold"/>
                <a:sym typeface="Hagrid Ultra-Bold"/>
              </a:rPr>
              <a:t>HASIL DAN PEMBAHASAN </a:t>
            </a:r>
          </a:p>
        </p:txBody>
      </p:sp>
      <p:sp>
        <p:nvSpPr>
          <p:cNvPr id="9" name="TextBox 9"/>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10" name="TextBox 10"/>
          <p:cNvSpPr txBox="1"/>
          <p:nvPr/>
        </p:nvSpPr>
        <p:spPr>
          <a:xfrm>
            <a:off x="1109643" y="2279440"/>
            <a:ext cx="16149657" cy="372745"/>
          </a:xfrm>
          <a:prstGeom prst="rect">
            <a:avLst/>
          </a:prstGeom>
        </p:spPr>
        <p:txBody>
          <a:bodyPr lIns="0" tIns="0" rIns="0" bIns="0" rtlCol="0" anchor="t">
            <a:spAutoFit/>
          </a:bodyPr>
          <a:lstStyle/>
          <a:p>
            <a:pPr marL="0" lvl="0" indent="0" algn="just">
              <a:lnSpc>
                <a:spcPts val="3080"/>
              </a:lnSpc>
              <a:spcBef>
                <a:spcPct val="0"/>
              </a:spcBef>
            </a:pPr>
            <a:r>
              <a:rPr lang="en-US" sz="2200">
                <a:solidFill>
                  <a:srgbClr val="2E2C2B"/>
                </a:solidFill>
                <a:latin typeface="Gotham"/>
                <a:ea typeface="Gotham"/>
                <a:cs typeface="Gotham"/>
                <a:sym typeface="Gotham"/>
              </a:rPr>
              <a:t>Perbandingan LSTM terhadap baseline statistik (one-step-ahead, rata-rata 10 seed)</a:t>
            </a:r>
          </a:p>
        </p:txBody>
      </p:sp>
      <p:sp>
        <p:nvSpPr>
          <p:cNvPr id="11" name="TextBox 11"/>
          <p:cNvSpPr txBox="1"/>
          <p:nvPr/>
        </p:nvSpPr>
        <p:spPr>
          <a:xfrm>
            <a:off x="11454539" y="7262285"/>
            <a:ext cx="6388359" cy="2956560"/>
          </a:xfrm>
          <a:prstGeom prst="rect">
            <a:avLst/>
          </a:prstGeom>
        </p:spPr>
        <p:txBody>
          <a:bodyPr lIns="0" tIns="0" rIns="0" bIns="0" rtlCol="0" anchor="t">
            <a:spAutoFit/>
          </a:bodyPr>
          <a:lstStyle/>
          <a:p>
            <a:pPr algn="just">
              <a:lnSpc>
                <a:spcPts val="2940"/>
              </a:lnSpc>
            </a:pPr>
            <a:r>
              <a:rPr lang="en-US" sz="2100" b="1">
                <a:solidFill>
                  <a:srgbClr val="2E2C2B"/>
                </a:solidFill>
                <a:latin typeface="Gotham Bold"/>
                <a:ea typeface="Gotham Bold"/>
                <a:cs typeface="Gotham Bold"/>
                <a:sym typeface="Gotham Bold"/>
              </a:rPr>
              <a:t>Naive mencatat galat terkecil</a:t>
            </a:r>
          </a:p>
          <a:p>
            <a:pPr algn="just">
              <a:lnSpc>
                <a:spcPts val="2940"/>
              </a:lnSpc>
            </a:pPr>
            <a:r>
              <a:rPr lang="en-US" sz="2100">
                <a:solidFill>
                  <a:srgbClr val="2E2C2B"/>
                </a:solidFill>
                <a:latin typeface="Gotham"/>
                <a:ea typeface="Gotham"/>
                <a:cs typeface="Gotham"/>
                <a:sym typeface="Gotham"/>
              </a:rPr>
              <a:t>pendapatan kantin didominasi persistensi jangka pendek. Multi-seed: MAE Rp667.718 ± Rp145.024, MASE 1,840 ± 0,400;</a:t>
            </a:r>
          </a:p>
          <a:p>
            <a:pPr algn="just">
              <a:lnSpc>
                <a:spcPts val="2940"/>
              </a:lnSpc>
            </a:pPr>
            <a:r>
              <a:rPr lang="en-US" sz="2100">
                <a:solidFill>
                  <a:srgbClr val="2E2C2B"/>
                </a:solidFill>
                <a:latin typeface="Gotham"/>
                <a:ea typeface="Gotham"/>
                <a:cs typeface="Gotham"/>
                <a:sym typeface="Gotham"/>
              </a:rPr>
              <a:t>hanya 1 dari 10 percobaan (seed ke-7, MAE Rp495.527) mengungguli Naive &amp; SARIMA — model belum stabil pada ukuran data ini.</a:t>
            </a:r>
          </a:p>
          <a:p>
            <a:pPr marL="0" lvl="0" indent="0" algn="just">
              <a:lnSpc>
                <a:spcPts val="2940"/>
              </a:lnSpc>
              <a:spcBef>
                <a:spcPct val="0"/>
              </a:spcBef>
            </a:pPr>
            <a:endParaRPr lang="en-US" sz="2100">
              <a:solidFill>
                <a:srgbClr val="2E2C2B"/>
              </a:solidFill>
              <a:latin typeface="Gotham"/>
              <a:ea typeface="Gotham"/>
              <a:cs typeface="Gotham"/>
              <a:sym typeface="Gotha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5" name="Freeform 5"/>
          <p:cNvSpPr/>
          <p:nvPr/>
        </p:nvSpPr>
        <p:spPr>
          <a:xfrm>
            <a:off x="5132984" y="2505393"/>
            <a:ext cx="3408244" cy="7573875"/>
          </a:xfrm>
          <a:custGeom>
            <a:avLst/>
            <a:gdLst/>
            <a:ahLst/>
            <a:cxnLst/>
            <a:rect l="l" t="t" r="r" b="b"/>
            <a:pathLst>
              <a:path w="3408244" h="7573875">
                <a:moveTo>
                  <a:pt x="0" y="0"/>
                </a:moveTo>
                <a:lnTo>
                  <a:pt x="3408244" y="0"/>
                </a:lnTo>
                <a:lnTo>
                  <a:pt x="3408244" y="7573875"/>
                </a:lnTo>
                <a:lnTo>
                  <a:pt x="0" y="7573875"/>
                </a:lnTo>
                <a:lnTo>
                  <a:pt x="0" y="0"/>
                </a:lnTo>
                <a:close/>
              </a:path>
            </a:pathLst>
          </a:custGeom>
          <a:blipFill>
            <a:blip r:embed="rId5"/>
            <a:stretch>
              <a:fillRect/>
            </a:stretch>
          </a:blipFill>
        </p:spPr>
      </p:sp>
      <p:sp>
        <p:nvSpPr>
          <p:cNvPr id="6" name="Freeform 6"/>
          <p:cNvSpPr/>
          <p:nvPr/>
        </p:nvSpPr>
        <p:spPr>
          <a:xfrm>
            <a:off x="1460254" y="2505393"/>
            <a:ext cx="3408244" cy="7573875"/>
          </a:xfrm>
          <a:custGeom>
            <a:avLst/>
            <a:gdLst/>
            <a:ahLst/>
            <a:cxnLst/>
            <a:rect l="l" t="t" r="r" b="b"/>
            <a:pathLst>
              <a:path w="3408244" h="7573875">
                <a:moveTo>
                  <a:pt x="0" y="0"/>
                </a:moveTo>
                <a:lnTo>
                  <a:pt x="3408244" y="0"/>
                </a:lnTo>
                <a:lnTo>
                  <a:pt x="3408244" y="7573875"/>
                </a:lnTo>
                <a:lnTo>
                  <a:pt x="0" y="7573875"/>
                </a:lnTo>
                <a:lnTo>
                  <a:pt x="0" y="0"/>
                </a:lnTo>
                <a:close/>
              </a:path>
            </a:pathLst>
          </a:custGeom>
          <a:blipFill>
            <a:blip r:embed="rId6"/>
            <a:stretch>
              <a:fillRect/>
            </a:stretch>
          </a:blipFill>
        </p:spPr>
      </p:sp>
      <p:sp>
        <p:nvSpPr>
          <p:cNvPr id="7" name="Freeform 7"/>
          <p:cNvSpPr/>
          <p:nvPr/>
        </p:nvSpPr>
        <p:spPr>
          <a:xfrm>
            <a:off x="8807928" y="2505393"/>
            <a:ext cx="3408244" cy="7573875"/>
          </a:xfrm>
          <a:custGeom>
            <a:avLst/>
            <a:gdLst/>
            <a:ahLst/>
            <a:cxnLst/>
            <a:rect l="l" t="t" r="r" b="b"/>
            <a:pathLst>
              <a:path w="3408244" h="7573875">
                <a:moveTo>
                  <a:pt x="0" y="0"/>
                </a:moveTo>
                <a:lnTo>
                  <a:pt x="3408244" y="0"/>
                </a:lnTo>
                <a:lnTo>
                  <a:pt x="3408244" y="7573875"/>
                </a:lnTo>
                <a:lnTo>
                  <a:pt x="0" y="7573875"/>
                </a:lnTo>
                <a:lnTo>
                  <a:pt x="0" y="0"/>
                </a:lnTo>
                <a:close/>
              </a:path>
            </a:pathLst>
          </a:custGeom>
          <a:blipFill>
            <a:blip r:embed="rId7"/>
            <a:stretch>
              <a:fillRect/>
            </a:stretch>
          </a:blipFill>
        </p:spPr>
      </p:sp>
      <p:sp>
        <p:nvSpPr>
          <p:cNvPr id="8" name="Freeform 8"/>
          <p:cNvSpPr/>
          <p:nvPr/>
        </p:nvSpPr>
        <p:spPr>
          <a:xfrm>
            <a:off x="12482872" y="2505393"/>
            <a:ext cx="3408244" cy="7573875"/>
          </a:xfrm>
          <a:custGeom>
            <a:avLst/>
            <a:gdLst/>
            <a:ahLst/>
            <a:cxnLst/>
            <a:rect l="l" t="t" r="r" b="b"/>
            <a:pathLst>
              <a:path w="3408244" h="7573875">
                <a:moveTo>
                  <a:pt x="0" y="0"/>
                </a:moveTo>
                <a:lnTo>
                  <a:pt x="3408244" y="0"/>
                </a:lnTo>
                <a:lnTo>
                  <a:pt x="3408244" y="7573875"/>
                </a:lnTo>
                <a:lnTo>
                  <a:pt x="0" y="7573875"/>
                </a:lnTo>
                <a:lnTo>
                  <a:pt x="0" y="0"/>
                </a:lnTo>
                <a:close/>
              </a:path>
            </a:pathLst>
          </a:custGeom>
          <a:blipFill>
            <a:blip r:embed="rId8"/>
            <a:stretch>
              <a:fillRect/>
            </a:stretch>
          </a:blipFill>
        </p:spPr>
      </p:sp>
      <p:sp>
        <p:nvSpPr>
          <p:cNvPr id="9" name="TextBox 9"/>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13</a:t>
            </a:r>
          </a:p>
        </p:txBody>
      </p:sp>
      <p:sp>
        <p:nvSpPr>
          <p:cNvPr id="10" name="TextBox 10"/>
          <p:cNvSpPr txBox="1"/>
          <p:nvPr/>
        </p:nvSpPr>
        <p:spPr>
          <a:xfrm>
            <a:off x="1109643" y="1681162"/>
            <a:ext cx="14467283" cy="700405"/>
          </a:xfrm>
          <a:prstGeom prst="rect">
            <a:avLst/>
          </a:prstGeom>
        </p:spPr>
        <p:txBody>
          <a:bodyPr lIns="0" tIns="0" rIns="0" bIns="0" rtlCol="0" anchor="t">
            <a:spAutoFit/>
          </a:bodyPr>
          <a:lstStyle/>
          <a:p>
            <a:pPr marL="0" lvl="1" indent="0" algn="l">
              <a:lnSpc>
                <a:spcPts val="5000"/>
              </a:lnSpc>
            </a:pPr>
            <a:r>
              <a:rPr lang="en-US" sz="5000" b="1" spc="-100">
                <a:solidFill>
                  <a:srgbClr val="2E2C2B"/>
                </a:solidFill>
                <a:latin typeface="Hagrid Ultra-Bold"/>
                <a:ea typeface="Hagrid Ultra-Bold"/>
                <a:cs typeface="Hagrid Ultra-Bold"/>
                <a:sym typeface="Hagrid Ultra-Bold"/>
              </a:rPr>
              <a:t>HASIL PENGUJIAN APLIKASI</a:t>
            </a:r>
          </a:p>
        </p:txBody>
      </p:sp>
      <p:sp>
        <p:nvSpPr>
          <p:cNvPr id="11" name="TextBox 11"/>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AutoShape 2"/>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3" name="Freeform 3"/>
          <p:cNvSpPr/>
          <p:nvPr/>
        </p:nvSpPr>
        <p:spPr>
          <a:xfrm flipV="1">
            <a:off x="17259300" y="9258300"/>
            <a:ext cx="820968" cy="820968"/>
          </a:xfrm>
          <a:custGeom>
            <a:avLst/>
            <a:gdLst/>
            <a:ahLst/>
            <a:cxnLst/>
            <a:rect l="l" t="t" r="r" b="b"/>
            <a:pathLst>
              <a:path w="820968" h="820968">
                <a:moveTo>
                  <a:pt x="0" y="820968"/>
                </a:moveTo>
                <a:lnTo>
                  <a:pt x="820968" y="820968"/>
                </a:lnTo>
                <a:lnTo>
                  <a:pt x="820968" y="0"/>
                </a:lnTo>
                <a:lnTo>
                  <a:pt x="0" y="0"/>
                </a:lnTo>
                <a:lnTo>
                  <a:pt x="0" y="820968"/>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5" name="TextBox 5"/>
          <p:cNvSpPr txBox="1"/>
          <p:nvPr/>
        </p:nvSpPr>
        <p:spPr>
          <a:xfrm>
            <a:off x="16332192" y="25115"/>
            <a:ext cx="1144270" cy="792481"/>
          </a:xfrm>
          <a:prstGeom prst="rect">
            <a:avLst/>
          </a:prstGeom>
        </p:spPr>
        <p:txBody>
          <a:bodyPr lIns="0" tIns="0" rIns="0" bIns="0" rtlCol="0" anchor="t">
            <a:spAutoFit/>
          </a:bodyPr>
          <a:lstStyle/>
          <a:p>
            <a:pPr algn="r">
              <a:lnSpc>
                <a:spcPts val="6299"/>
              </a:lnSpc>
            </a:pPr>
            <a:r>
              <a:rPr lang="en-US" sz="4499" b="1">
                <a:solidFill>
                  <a:srgbClr val="D0A175"/>
                </a:solidFill>
                <a:latin typeface="Hagrid Ultra-Bold"/>
                <a:ea typeface="Hagrid Ultra-Bold"/>
                <a:cs typeface="Hagrid Ultra-Bold"/>
                <a:sym typeface="Hagrid Ultra-Bold"/>
              </a:rPr>
              <a:t>13</a:t>
            </a:r>
          </a:p>
        </p:txBody>
      </p:sp>
      <p:sp>
        <p:nvSpPr>
          <p:cNvPr id="6" name="TextBox 6"/>
          <p:cNvSpPr txBox="1"/>
          <p:nvPr/>
        </p:nvSpPr>
        <p:spPr>
          <a:xfrm>
            <a:off x="1109643" y="1463993"/>
            <a:ext cx="14467283" cy="669925"/>
          </a:xfrm>
          <a:prstGeom prst="rect">
            <a:avLst/>
          </a:prstGeom>
        </p:spPr>
        <p:txBody>
          <a:bodyPr lIns="0" tIns="0" rIns="0" bIns="0" rtlCol="0" anchor="t">
            <a:spAutoFit/>
          </a:bodyPr>
          <a:lstStyle/>
          <a:p>
            <a:pPr marL="0" lvl="1" indent="0" algn="l">
              <a:lnSpc>
                <a:spcPts val="5000"/>
              </a:lnSpc>
            </a:pPr>
            <a:r>
              <a:rPr lang="en-US" sz="5000" b="1" spc="-100">
                <a:solidFill>
                  <a:srgbClr val="2E2C2B"/>
                </a:solidFill>
                <a:latin typeface="Hagrid Ultra-Bold"/>
                <a:ea typeface="Hagrid Ultra-Bold"/>
                <a:cs typeface="Hagrid Ultra-Bold"/>
                <a:sym typeface="Hagrid Ultra-Bold"/>
              </a:rPr>
              <a:t>SIMPULAN &amp; SARAN</a:t>
            </a:r>
          </a:p>
        </p:txBody>
      </p:sp>
      <p:sp>
        <p:nvSpPr>
          <p:cNvPr id="7" name="TextBox 7"/>
          <p:cNvSpPr txBox="1"/>
          <p:nvPr/>
        </p:nvSpPr>
        <p:spPr>
          <a:xfrm>
            <a:off x="1109643" y="3937000"/>
            <a:ext cx="2820750" cy="469901"/>
          </a:xfrm>
          <a:prstGeom prst="rect">
            <a:avLst/>
          </a:prstGeom>
        </p:spPr>
        <p:txBody>
          <a:bodyPr lIns="0" tIns="0" rIns="0" bIns="0" rtlCol="0" anchor="t">
            <a:spAutoFit/>
          </a:bodyPr>
          <a:lstStyle/>
          <a:p>
            <a:pPr marL="0" lvl="1" indent="0" algn="l">
              <a:lnSpc>
                <a:spcPts val="3500"/>
              </a:lnSpc>
            </a:pPr>
            <a:r>
              <a:rPr lang="en-US" sz="3500" b="1" spc="-70">
                <a:solidFill>
                  <a:srgbClr val="2E2C2B"/>
                </a:solidFill>
                <a:latin typeface="Hagrid Ultra-Bold"/>
                <a:ea typeface="Hagrid Ultra-Bold"/>
                <a:cs typeface="Hagrid Ultra-Bold"/>
                <a:sym typeface="Hagrid Ultra-Bold"/>
              </a:rPr>
              <a:t>SIMPULAN</a:t>
            </a:r>
          </a:p>
        </p:txBody>
      </p:sp>
      <p:sp>
        <p:nvSpPr>
          <p:cNvPr id="8" name="TextBox 8"/>
          <p:cNvSpPr txBox="1"/>
          <p:nvPr/>
        </p:nvSpPr>
        <p:spPr>
          <a:xfrm>
            <a:off x="10544553" y="3937000"/>
            <a:ext cx="2820750" cy="469901"/>
          </a:xfrm>
          <a:prstGeom prst="rect">
            <a:avLst/>
          </a:prstGeom>
        </p:spPr>
        <p:txBody>
          <a:bodyPr lIns="0" tIns="0" rIns="0" bIns="0" rtlCol="0" anchor="t">
            <a:spAutoFit/>
          </a:bodyPr>
          <a:lstStyle/>
          <a:p>
            <a:pPr marL="0" lvl="1" indent="0" algn="l">
              <a:lnSpc>
                <a:spcPts val="3500"/>
              </a:lnSpc>
            </a:pPr>
            <a:r>
              <a:rPr lang="en-US" sz="3500" b="1" spc="-70">
                <a:solidFill>
                  <a:srgbClr val="2E2C2B"/>
                </a:solidFill>
                <a:latin typeface="Hagrid Ultra-Bold"/>
                <a:ea typeface="Hagrid Ultra-Bold"/>
                <a:cs typeface="Hagrid Ultra-Bold"/>
                <a:sym typeface="Hagrid Ultra-Bold"/>
              </a:rPr>
              <a:t>SARAN</a:t>
            </a:r>
          </a:p>
        </p:txBody>
      </p:sp>
      <p:sp>
        <p:nvSpPr>
          <p:cNvPr id="9" name="TextBox 9"/>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
        <p:nvSpPr>
          <p:cNvPr id="10" name="TextBox 10"/>
          <p:cNvSpPr txBox="1"/>
          <p:nvPr/>
        </p:nvSpPr>
        <p:spPr>
          <a:xfrm>
            <a:off x="1109643" y="2285366"/>
            <a:ext cx="16215349" cy="1099184"/>
          </a:xfrm>
          <a:prstGeom prst="rect">
            <a:avLst/>
          </a:prstGeom>
        </p:spPr>
        <p:txBody>
          <a:bodyPr lIns="0" tIns="0" rIns="0" bIns="0" rtlCol="0" anchor="t">
            <a:spAutoFit/>
          </a:bodyPr>
          <a:lstStyle/>
          <a:p>
            <a:pPr algn="just">
              <a:lnSpc>
                <a:spcPts val="2940"/>
              </a:lnSpc>
              <a:spcBef>
                <a:spcPct val="0"/>
              </a:spcBef>
            </a:pPr>
            <a:r>
              <a:rPr lang="en-US" sz="2100">
                <a:solidFill>
                  <a:srgbClr val="000000"/>
                </a:solidFill>
                <a:latin typeface="Gotham"/>
                <a:ea typeface="Gotham"/>
                <a:cs typeface="Gotham"/>
                <a:sym typeface="Gotham"/>
              </a:rPr>
              <a:t>Skenario 3 (TimeGAN, multi-langkah): MAE turun 50,8% (Rp1.750.355 → Rp860.695). Skenario 4 (horizon h=1–7): MASE LSTM stabil 2,124–2,505, namun Seasonal-Naive tetap unggul (2,012–2,140). Pengujian sistem: 12/12 black box, 3/3 white box, 0 kehilangan/duplikasi data sinkronisasi.</a:t>
            </a:r>
          </a:p>
        </p:txBody>
      </p:sp>
      <p:sp>
        <p:nvSpPr>
          <p:cNvPr id="11" name="TextBox 11"/>
          <p:cNvSpPr txBox="1"/>
          <p:nvPr/>
        </p:nvSpPr>
        <p:spPr>
          <a:xfrm>
            <a:off x="1109643" y="4574858"/>
            <a:ext cx="8870322" cy="5840094"/>
          </a:xfrm>
          <a:prstGeom prst="rect">
            <a:avLst/>
          </a:prstGeom>
        </p:spPr>
        <p:txBody>
          <a:bodyPr lIns="0" tIns="0" rIns="0" bIns="0" rtlCol="0" anchor="t">
            <a:spAutoFit/>
          </a:bodyPr>
          <a:lstStyle/>
          <a:p>
            <a:pPr marL="474984" lvl="1" indent="-237492" algn="just">
              <a:lnSpc>
                <a:spcPts val="3080"/>
              </a:lnSpc>
              <a:buAutoNum type="arabicPeriod"/>
            </a:pPr>
            <a:r>
              <a:rPr lang="en-US" sz="2200">
                <a:solidFill>
                  <a:srgbClr val="000000"/>
                </a:solidFill>
                <a:latin typeface="Gotham"/>
                <a:ea typeface="Gotham"/>
                <a:cs typeface="Gotham"/>
                <a:sym typeface="Gotham"/>
              </a:rPr>
              <a:t>Aplikasi POS mobile dengan fitur prediksi berhasil dibangun (Flutter, Isar DB, Supabase, Flask di Hugging Face), terintegrasi lewat Smart Analytics dengan arsitektur offline-first; seluruh pengujian berhasil.</a:t>
            </a:r>
          </a:p>
          <a:p>
            <a:pPr marL="474984" lvl="1" indent="-237492" algn="just">
              <a:lnSpc>
                <a:spcPts val="3080"/>
              </a:lnSpc>
              <a:buAutoNum type="arabicPeriod"/>
            </a:pPr>
            <a:r>
              <a:rPr lang="en-US" sz="2200">
                <a:solidFill>
                  <a:srgbClr val="000000"/>
                </a:solidFill>
                <a:latin typeface="Gotham"/>
                <a:ea typeface="Gotham"/>
                <a:cs typeface="Gotham"/>
                <a:sym typeface="Gotham"/>
              </a:rPr>
              <a:t>LSTM hybrid residual diterapkan pada 313 hari aktif; augmentasi TimeGAN memperbaiki MAE multi-langkah 50,8% — keterbatasan performa bersumber dari kelangkaan data, bukan arsitektur.</a:t>
            </a:r>
          </a:p>
          <a:p>
            <a:pPr marL="474984" lvl="1" indent="-237492" algn="just">
              <a:lnSpc>
                <a:spcPts val="3080"/>
              </a:lnSpc>
              <a:buAutoNum type="arabicPeriod"/>
            </a:pPr>
            <a:r>
              <a:rPr lang="en-US" sz="2200">
                <a:solidFill>
                  <a:srgbClr val="000000"/>
                </a:solidFill>
                <a:latin typeface="Gotham"/>
                <a:ea typeface="Gotham"/>
                <a:cs typeface="Gotham"/>
                <a:sym typeface="Gotham"/>
              </a:rPr>
              <a:t>LSTM belum mengungguli baseline (Naive &amp; Seasonal-Naive) pada volume data ini; metode statistik sederhana lebih layak. LSTM relevan ditinjau ulang bila data mencakup 3–5 tahun operasional — tanpa mengubah aplikasi karena layanan bersifat model-agnostic.</a:t>
            </a:r>
          </a:p>
          <a:p>
            <a:pPr algn="just">
              <a:lnSpc>
                <a:spcPts val="3080"/>
              </a:lnSpc>
              <a:spcBef>
                <a:spcPct val="0"/>
              </a:spcBef>
            </a:pPr>
            <a:endParaRPr lang="en-US" sz="2200">
              <a:solidFill>
                <a:srgbClr val="000000"/>
              </a:solidFill>
              <a:latin typeface="Gotham"/>
              <a:ea typeface="Gotham"/>
              <a:cs typeface="Gotham"/>
              <a:sym typeface="Gotham"/>
            </a:endParaRPr>
          </a:p>
          <a:p>
            <a:pPr algn="just">
              <a:lnSpc>
                <a:spcPts val="3080"/>
              </a:lnSpc>
              <a:spcBef>
                <a:spcPct val="0"/>
              </a:spcBef>
            </a:pPr>
            <a:endParaRPr lang="en-US" sz="2200">
              <a:solidFill>
                <a:srgbClr val="000000"/>
              </a:solidFill>
              <a:latin typeface="Gotham"/>
              <a:ea typeface="Gotham"/>
              <a:cs typeface="Gotham"/>
              <a:sym typeface="Gotham"/>
            </a:endParaRPr>
          </a:p>
        </p:txBody>
      </p:sp>
      <p:sp>
        <p:nvSpPr>
          <p:cNvPr id="12" name="TextBox 12"/>
          <p:cNvSpPr txBox="1"/>
          <p:nvPr/>
        </p:nvSpPr>
        <p:spPr>
          <a:xfrm>
            <a:off x="10330800" y="4431983"/>
            <a:ext cx="7145661" cy="4014468"/>
          </a:xfrm>
          <a:prstGeom prst="rect">
            <a:avLst/>
          </a:prstGeom>
        </p:spPr>
        <p:txBody>
          <a:bodyPr lIns="0" tIns="0" rIns="0" bIns="0" rtlCol="0" anchor="t">
            <a:spAutoFit/>
          </a:bodyPr>
          <a:lstStyle/>
          <a:p>
            <a:pPr marL="496574" lvl="1" indent="-248287" algn="just">
              <a:lnSpc>
                <a:spcPts val="4600"/>
              </a:lnSpc>
              <a:buAutoNum type="arabicPeriod"/>
            </a:pPr>
            <a:r>
              <a:rPr lang="en-US" sz="2300">
                <a:solidFill>
                  <a:srgbClr val="000000"/>
                </a:solidFill>
                <a:latin typeface="Gotham"/>
                <a:ea typeface="Gotham"/>
                <a:cs typeface="Gotham"/>
                <a:sym typeface="Gotham"/>
              </a:rPr>
              <a:t> Perpanjang data ke 3–5 tahun operasional.</a:t>
            </a:r>
          </a:p>
          <a:p>
            <a:pPr marL="496574" lvl="1" indent="-248287" algn="just">
              <a:lnSpc>
                <a:spcPts val="4600"/>
              </a:lnSpc>
              <a:buAutoNum type="arabicPeriod"/>
            </a:pPr>
            <a:r>
              <a:rPr lang="en-US" sz="2300">
                <a:solidFill>
                  <a:srgbClr val="000000"/>
                </a:solidFill>
                <a:latin typeface="Gotham"/>
                <a:ea typeface="Gotham"/>
                <a:cs typeface="Gotham"/>
                <a:sym typeface="Gotham"/>
              </a:rPr>
              <a:t>Tambahkan fitur gap_days pada model.</a:t>
            </a:r>
          </a:p>
          <a:p>
            <a:pPr marL="496574" lvl="1" indent="-248287" algn="just">
              <a:lnSpc>
                <a:spcPts val="4600"/>
              </a:lnSpc>
              <a:buAutoNum type="arabicPeriod"/>
            </a:pPr>
            <a:r>
              <a:rPr lang="en-US" sz="2300">
                <a:solidFill>
                  <a:srgbClr val="000000"/>
                </a:solidFill>
                <a:latin typeface="Gotham"/>
                <a:ea typeface="Gotham"/>
                <a:cs typeface="Gotham"/>
                <a:sym typeface="Gotham"/>
              </a:rPr>
              <a:t>Atasi cold start dengan transfer learning / model global.</a:t>
            </a:r>
          </a:p>
          <a:p>
            <a:pPr marL="496574" lvl="1" indent="-248287" algn="just">
              <a:lnSpc>
                <a:spcPts val="4600"/>
              </a:lnSpc>
              <a:buAutoNum type="arabicPeriod"/>
            </a:pPr>
            <a:r>
              <a:rPr lang="en-US" sz="2300">
                <a:solidFill>
                  <a:srgbClr val="000000"/>
                </a:solidFill>
                <a:latin typeface="Gotham"/>
                <a:ea typeface="Gotham"/>
                <a:cs typeface="Gotham"/>
                <a:sym typeface="Gotham"/>
              </a:rPr>
              <a:t>Kembangkan model hybrid (ARIMA-LSTM / LSTM-GRU).</a:t>
            </a:r>
          </a:p>
          <a:p>
            <a:pPr algn="just">
              <a:lnSpc>
                <a:spcPts val="4600"/>
              </a:lnSpc>
            </a:pPr>
            <a:endParaRPr lang="en-US" sz="2300">
              <a:solidFill>
                <a:srgbClr val="000000"/>
              </a:solidFill>
              <a:latin typeface="Gotham"/>
              <a:ea typeface="Gotham"/>
              <a:cs typeface="Gotham"/>
              <a:sym typeface="Gotha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1F1"/>
        </a:solidFill>
        <a:effectLst/>
      </p:bgPr>
    </p:bg>
    <p:spTree>
      <p:nvGrpSpPr>
        <p:cNvPr id="1" name=""/>
        <p:cNvGrpSpPr/>
        <p:nvPr/>
      </p:nvGrpSpPr>
      <p:grpSpPr>
        <a:xfrm>
          <a:off x="0" y="0"/>
          <a:ext cx="0" cy="0"/>
          <a:chOff x="0" y="0"/>
          <a:chExt cx="0" cy="0"/>
        </a:xfrm>
      </p:grpSpPr>
      <p:sp>
        <p:nvSpPr>
          <p:cNvPr id="2" name="TextBox 2"/>
          <p:cNvSpPr txBox="1"/>
          <p:nvPr/>
        </p:nvSpPr>
        <p:spPr>
          <a:xfrm>
            <a:off x="378185" y="4058453"/>
            <a:ext cx="17531629" cy="2348317"/>
          </a:xfrm>
          <a:prstGeom prst="rect">
            <a:avLst/>
          </a:prstGeom>
        </p:spPr>
        <p:txBody>
          <a:bodyPr lIns="0" tIns="0" rIns="0" bIns="0" rtlCol="0" anchor="t">
            <a:spAutoFit/>
          </a:bodyPr>
          <a:lstStyle/>
          <a:p>
            <a:pPr marL="0" lvl="1" indent="0" algn="r">
              <a:lnSpc>
                <a:spcPts val="16785"/>
              </a:lnSpc>
            </a:pPr>
            <a:r>
              <a:rPr lang="en-US" sz="16785" b="1" spc="-335">
                <a:solidFill>
                  <a:srgbClr val="2E2C2B"/>
                </a:solidFill>
                <a:latin typeface="Hagrid Ultra-Bold"/>
                <a:ea typeface="Hagrid Ultra-Bold"/>
                <a:cs typeface="Hagrid Ultra-Bold"/>
                <a:sym typeface="Hagrid Ultra-Bold"/>
              </a:rPr>
              <a:t>TERIMA Kasih!</a:t>
            </a:r>
          </a:p>
        </p:txBody>
      </p:sp>
      <p:sp>
        <p:nvSpPr>
          <p:cNvPr id="3" name="AutoShape 3"/>
          <p:cNvSpPr/>
          <p:nvPr/>
        </p:nvSpPr>
        <p:spPr>
          <a:xfrm flipV="1">
            <a:off x="1028700" y="2191553"/>
            <a:ext cx="15220375" cy="0"/>
          </a:xfrm>
          <a:prstGeom prst="line">
            <a:avLst/>
          </a:prstGeom>
          <a:ln w="19050" cap="flat">
            <a:solidFill>
              <a:srgbClr val="2E2C2B"/>
            </a:solidFill>
            <a:prstDash val="solid"/>
            <a:headEnd type="none" w="sm" len="sm"/>
            <a:tailEnd type="none" w="sm" len="sm"/>
          </a:ln>
        </p:spPr>
      </p:sp>
      <p:sp>
        <p:nvSpPr>
          <p:cNvPr id="4" name="AutoShape 4"/>
          <p:cNvSpPr/>
          <p:nvPr/>
        </p:nvSpPr>
        <p:spPr>
          <a:xfrm>
            <a:off x="16115030" y="8369187"/>
            <a:ext cx="0" cy="2386551"/>
          </a:xfrm>
          <a:prstGeom prst="line">
            <a:avLst/>
          </a:prstGeom>
          <a:ln w="19050" cap="flat">
            <a:solidFill>
              <a:srgbClr val="2E2C2B"/>
            </a:solidFill>
            <a:prstDash val="solid"/>
            <a:headEnd type="none" w="sm" len="sm"/>
            <a:tailEnd type="none" w="sm" len="sm"/>
          </a:ln>
        </p:spPr>
      </p:sp>
      <p:sp>
        <p:nvSpPr>
          <p:cNvPr id="5" name="AutoShape 5"/>
          <p:cNvSpPr/>
          <p:nvPr/>
        </p:nvSpPr>
        <p:spPr>
          <a:xfrm>
            <a:off x="1028700" y="8378712"/>
            <a:ext cx="17778562" cy="0"/>
          </a:xfrm>
          <a:prstGeom prst="line">
            <a:avLst/>
          </a:prstGeom>
          <a:ln w="19050" cap="flat">
            <a:solidFill>
              <a:srgbClr val="2E2C2B"/>
            </a:solidFill>
            <a:prstDash val="solid"/>
            <a:headEnd type="none" w="sm" len="sm"/>
            <a:tailEnd type="none" w="sm" len="sm"/>
          </a:ln>
        </p:spPr>
      </p:sp>
      <p:sp>
        <p:nvSpPr>
          <p:cNvPr id="6" name="Freeform 6"/>
          <p:cNvSpPr/>
          <p:nvPr/>
        </p:nvSpPr>
        <p:spPr>
          <a:xfrm flipV="1">
            <a:off x="16432276" y="54253"/>
            <a:ext cx="827024" cy="827024"/>
          </a:xfrm>
          <a:custGeom>
            <a:avLst/>
            <a:gdLst/>
            <a:ahLst/>
            <a:cxnLst/>
            <a:rect l="l" t="t" r="r" b="b"/>
            <a:pathLst>
              <a:path w="827024" h="827024">
                <a:moveTo>
                  <a:pt x="0" y="827024"/>
                </a:moveTo>
                <a:lnTo>
                  <a:pt x="827024" y="827024"/>
                </a:lnTo>
                <a:lnTo>
                  <a:pt x="827024" y="0"/>
                </a:lnTo>
                <a:lnTo>
                  <a:pt x="0" y="0"/>
                </a:lnTo>
                <a:lnTo>
                  <a:pt x="0" y="827024"/>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AutoShape 7"/>
          <p:cNvSpPr/>
          <p:nvPr/>
        </p:nvSpPr>
        <p:spPr>
          <a:xfrm>
            <a:off x="1028700" y="1019175"/>
            <a:ext cx="16230600" cy="0"/>
          </a:xfrm>
          <a:prstGeom prst="line">
            <a:avLst/>
          </a:prstGeom>
          <a:ln w="19050" cap="flat">
            <a:solidFill>
              <a:srgbClr val="2E2C2B"/>
            </a:solidFill>
            <a:prstDash val="solid"/>
            <a:headEnd type="none" w="sm" len="sm"/>
            <a:tailEnd type="none" w="sm" len="sm"/>
          </a:ln>
        </p:spPr>
      </p:sp>
      <p:sp>
        <p:nvSpPr>
          <p:cNvPr id="8" name="Freeform 8"/>
          <p:cNvSpPr/>
          <p:nvPr/>
        </p:nvSpPr>
        <p:spPr>
          <a:xfrm>
            <a:off x="1028700" y="44062"/>
            <a:ext cx="863108" cy="837215"/>
          </a:xfrm>
          <a:custGeom>
            <a:avLst/>
            <a:gdLst/>
            <a:ahLst/>
            <a:cxnLst/>
            <a:rect l="l" t="t" r="r" b="b"/>
            <a:pathLst>
              <a:path w="863108" h="837215">
                <a:moveTo>
                  <a:pt x="0" y="0"/>
                </a:moveTo>
                <a:lnTo>
                  <a:pt x="863108" y="0"/>
                </a:lnTo>
                <a:lnTo>
                  <a:pt x="863108" y="837215"/>
                </a:lnTo>
                <a:lnTo>
                  <a:pt x="0" y="837215"/>
                </a:lnTo>
                <a:lnTo>
                  <a:pt x="0" y="0"/>
                </a:lnTo>
                <a:close/>
              </a:path>
            </a:pathLst>
          </a:custGeom>
          <a:blipFill>
            <a:blip r:embed="rId4"/>
            <a:stretch>
              <a:fillRect/>
            </a:stretch>
          </a:blipFill>
        </p:spPr>
      </p:sp>
      <p:sp>
        <p:nvSpPr>
          <p:cNvPr id="9" name="TextBox 9"/>
          <p:cNvSpPr txBox="1"/>
          <p:nvPr/>
        </p:nvSpPr>
        <p:spPr>
          <a:xfrm>
            <a:off x="2144041" y="276932"/>
            <a:ext cx="7234755" cy="361950"/>
          </a:xfrm>
          <a:prstGeom prst="rect">
            <a:avLst/>
          </a:prstGeom>
        </p:spPr>
        <p:txBody>
          <a:bodyPr lIns="0" tIns="0" rIns="0" bIns="0" rtlCol="0" anchor="t">
            <a:spAutoFit/>
          </a:bodyPr>
          <a:lstStyle/>
          <a:p>
            <a:pPr marL="0" lvl="0" indent="0" algn="l">
              <a:lnSpc>
                <a:spcPts val="2847"/>
              </a:lnSpc>
              <a:spcBef>
                <a:spcPct val="0"/>
              </a:spcBef>
            </a:pPr>
            <a:r>
              <a:rPr lang="en-US" sz="2372">
                <a:solidFill>
                  <a:srgbClr val="2E2C2B"/>
                </a:solidFill>
                <a:latin typeface="Gotham"/>
                <a:ea typeface="Gotham"/>
                <a:cs typeface="Gotham"/>
                <a:sym typeface="Gotham"/>
              </a:rPr>
              <a:t>POLITEK</a:t>
            </a:r>
            <a:r>
              <a:rPr lang="en-US" sz="2372" u="none" strike="noStrike">
                <a:solidFill>
                  <a:srgbClr val="2E2C2B"/>
                </a:solidFill>
                <a:latin typeface="Gotham"/>
                <a:ea typeface="Gotham"/>
                <a:cs typeface="Gotham"/>
                <a:sym typeface="Gotham"/>
              </a:rPr>
              <a:t>NIK NEGERI LHOKSEUMAWE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3376</Words>
  <Application>Microsoft Office PowerPoint</Application>
  <PresentationFormat>Custom</PresentationFormat>
  <Paragraphs>250</Paragraphs>
  <Slides>15</Slides>
  <Notes>15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4" baseType="lpstr">
      <vt:lpstr>Gotham Bold</vt:lpstr>
      <vt:lpstr>Arial</vt:lpstr>
      <vt:lpstr>Hagrid</vt:lpstr>
      <vt:lpstr>Gotham Italics</vt:lpstr>
      <vt:lpstr>Hagrid Ultra-Bold</vt:lpstr>
      <vt:lpstr>Gotham</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SIDANG - Kholis</dc:title>
  <cp:lastModifiedBy>Muhammad Kholis</cp:lastModifiedBy>
  <cp:revision>26</cp:revision>
  <dcterms:created xsi:type="dcterms:W3CDTF">2006-08-16T00:00:00Z</dcterms:created>
  <dcterms:modified xsi:type="dcterms:W3CDTF">2026-07-31T03:17:55Z</dcterms:modified>
  <dc:identifier>DAHQ3szo2Pg</dc:identifier>
</cp:coreProperties>
</file>